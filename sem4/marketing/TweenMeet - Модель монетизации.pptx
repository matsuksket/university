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Inter SemiBold"/>
      <p:regular r:id="rId22"/>
      <p:bold r:id="rId23"/>
      <p:italic r:id="rId24"/>
      <p:boldItalic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D68C68-D057-4D54-8DC0-DB909EE99507}">
  <a:tblStyle styleId="{7BD68C68-D057-4D54-8DC0-DB909EE9950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InterSemiBold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InterSemiBold-italic.fntdata"/><Relationship Id="rId23" Type="http://schemas.openxmlformats.org/officeDocument/2006/relationships/font" Target="fonts/In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font" Target="fonts/InterSemiBold-boldItalic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5.xml"/><Relationship Id="rId33" Type="http://schemas.openxmlformats.org/officeDocument/2006/relationships/font" Target="fonts/Inter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11" Type="http://schemas.openxmlformats.org/officeDocument/2006/relationships/image" Target="../media/image28.png"/><Relationship Id="rId10" Type="http://schemas.openxmlformats.org/officeDocument/2006/relationships/image" Target="../media/image4.png"/><Relationship Id="rId12" Type="http://schemas.openxmlformats.org/officeDocument/2006/relationships/image" Target="../media/image11.png"/><Relationship Id="rId9" Type="http://schemas.openxmlformats.org/officeDocument/2006/relationships/image" Target="../media/image29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11" Type="http://schemas.openxmlformats.org/officeDocument/2006/relationships/image" Target="../media/image25.png"/><Relationship Id="rId10" Type="http://schemas.openxmlformats.org/officeDocument/2006/relationships/image" Target="../media/image17.png"/><Relationship Id="rId12" Type="http://schemas.openxmlformats.org/officeDocument/2006/relationships/image" Target="../media/image21.png"/><Relationship Id="rId9" Type="http://schemas.openxmlformats.org/officeDocument/2006/relationships/image" Target="../media/image29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46.png"/><Relationship Id="rId11" Type="http://schemas.openxmlformats.org/officeDocument/2006/relationships/image" Target="../media/image38.png"/><Relationship Id="rId10" Type="http://schemas.openxmlformats.org/officeDocument/2006/relationships/image" Target="../media/image49.png"/><Relationship Id="rId21" Type="http://schemas.openxmlformats.org/officeDocument/2006/relationships/image" Target="../media/image47.png"/><Relationship Id="rId13" Type="http://schemas.openxmlformats.org/officeDocument/2006/relationships/image" Target="../media/image36.png"/><Relationship Id="rId12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9" Type="http://schemas.openxmlformats.org/officeDocument/2006/relationships/image" Target="../media/image32.png"/><Relationship Id="rId15" Type="http://schemas.openxmlformats.org/officeDocument/2006/relationships/image" Target="../media/image40.png"/><Relationship Id="rId14" Type="http://schemas.openxmlformats.org/officeDocument/2006/relationships/image" Target="../media/image39.png"/><Relationship Id="rId17" Type="http://schemas.openxmlformats.org/officeDocument/2006/relationships/image" Target="../media/image44.png"/><Relationship Id="rId16" Type="http://schemas.openxmlformats.org/officeDocument/2006/relationships/image" Target="../media/image43.png"/><Relationship Id="rId5" Type="http://schemas.openxmlformats.org/officeDocument/2006/relationships/image" Target="../media/image37.png"/><Relationship Id="rId19" Type="http://schemas.openxmlformats.org/officeDocument/2006/relationships/image" Target="../media/image48.png"/><Relationship Id="rId6" Type="http://schemas.openxmlformats.org/officeDocument/2006/relationships/image" Target="../media/image30.png"/><Relationship Id="rId18" Type="http://schemas.openxmlformats.org/officeDocument/2006/relationships/image" Target="../media/image41.png"/><Relationship Id="rId7" Type="http://schemas.openxmlformats.org/officeDocument/2006/relationships/image" Target="../media/image33.png"/><Relationship Id="rId8" Type="http://schemas.openxmlformats.org/officeDocument/2006/relationships/image" Target="../media/image3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45.png"/><Relationship Id="rId5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796629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TweenMeet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595437" y="3741390"/>
            <a:ext cx="90011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Стратегия позиционирования и монетизации ИИ-ассистента для онлайн-встреч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952500" y="1676400"/>
            <a:ext cx="4857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Полная замена на созвоне: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TweenMeet — это ИИ-ассистент, который подключается к онлайн-встречам (Zoom, Meet) вместо вас.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952500" y="2771775"/>
            <a:ext cx="4857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Устранение рутины: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Больше не нужно тратить часы на скучные лекции или фоновые корпоративные статусы.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52500" y="3867150"/>
            <a:ext cx="4857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Точное саммари: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Бот внимательно "слушает" спикеров и формирует структурированную текстовую выжимку с главными тезисами.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4962525"/>
            <a:ext cx="4857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Экономия жизни: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Идеальное решение для высвобождения самого ценного ресурса — вашего личного времени.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21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 продукте TweenMeet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7362"/>
            <a:ext cx="3492549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757362"/>
            <a:ext cx="3492549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757362"/>
            <a:ext cx="3492549" cy="421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14788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962025" y="2995612"/>
            <a:ext cx="134016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Студенты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62025" y="3443287"/>
            <a:ext cx="2711499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Вынуждены посещать "водные" лекции. Бот экономит время и позволяет быстрее готовиться к сессии по готовым качественным конспектам.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14788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4740324" y="2995612"/>
            <a:ext cx="167020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Сотрудники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4740324" y="3443287"/>
            <a:ext cx="2711499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Решение проблемы масштабного Zoom-выгорания. Ассистент посещает регулярные звонки вместо менеджеров и IT-специалистов.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14788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518624" y="2995612"/>
            <a:ext cx="1830228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Фрилансеры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8518624" y="3443287"/>
            <a:ext cx="2711499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Удаленные профи, ведущие по 3-5 проектов одновременно. ИИ выступает в роли личного секретаря для фиксации задач от заказчиков.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33475" y="2300287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92724" y="230028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32924" y="2300287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Ключевые целевые сегменты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4" name="Google Shape;124;p16"/>
          <p:cNvGraphicFramePr/>
          <p:nvPr/>
        </p:nvGraphicFramePr>
        <p:xfrm>
          <a:off x="571500" y="1447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{7BD68C68-D057-4D54-8DC0-DB909EE99507}</a:tableStyleId>
              </a:tblPr>
              <a:tblGrid>
                <a:gridCol w="2997250"/>
                <a:gridCol w="2644825"/>
                <a:gridCol w="2353725"/>
                <a:gridCol w="3053200"/>
              </a:tblGrid>
              <a:tr h="97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F766E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Критерий оценки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D9488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TweenMeet (Наш продукт)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F766E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Otter.ai / Fireflies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F766E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Встроенный ИИ (Zoom/Teams)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A"/>
                    </a:solidFill>
                  </a:tcPr>
                </a:tc>
              </a:tr>
              <a:tr h="97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Полная автономность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500" u="none" cap="none" strike="noStrike">
                          <a:solidFill>
                            <a:srgbClr val="64748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(Присутствие без юзера)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Да </a:t>
                      </a:r>
                      <a:endParaRPr/>
                    </a:p>
                  </a:txBody>
                  <a:tcPr marT="25400" marB="25400" marR="63500" marL="36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Да</a:t>
                      </a:r>
                      <a:endParaRPr/>
                    </a:p>
                  </a:txBody>
                  <a:tcPr marT="25400" marB="25400" marR="63500" marL="36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Нет (работает от лица юзера)</a:t>
                      </a:r>
                      <a:endParaRPr/>
                    </a:p>
                  </a:txBody>
                  <a:tcPr marT="25400" marB="25400" marR="63500" marL="3333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Мультиязычное распознавание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Высокая точность</a:t>
                      </a:r>
                      <a:endParaRPr/>
                    </a:p>
                  </a:txBody>
                  <a:tcPr marT="25400" marB="25400" marR="63500" marL="36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Только EN / Ошибки</a:t>
                      </a:r>
                      <a:endParaRPr/>
                    </a:p>
                  </a:txBody>
                  <a:tcPr marT="25400" marB="25400" marR="63500" marL="3333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Зависит от платформы</a:t>
                      </a:r>
                      <a:endParaRPr/>
                    </a:p>
                  </a:txBody>
                  <a:tcPr marT="25400" marB="25400" marR="63500" marL="36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Фокус продукта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Краткая выжимка</a:t>
                      </a:r>
                      <a:endParaRPr/>
                    </a:p>
                  </a:txBody>
                  <a:tcPr marT="25400" marB="25400" marR="63500" marL="36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Длинный транскрипт</a:t>
                      </a:r>
                      <a:endParaRPr/>
                    </a:p>
                  </a:txBody>
                  <a:tcPr marT="25400" marB="25400" marR="63500" marL="36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Внутренняя экосистема</a:t>
                      </a:r>
                      <a:endParaRPr/>
                    </a:p>
                  </a:txBody>
                  <a:tcPr marT="25400" marB="25400" marR="63500" marL="36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7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Ценовая стратегия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Гибкая подписка</a:t>
                      </a:r>
                      <a:endParaRPr/>
                    </a:p>
                  </a:txBody>
                  <a:tcPr marT="25400" marB="25400" marR="63500" marL="36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Дорого (в валюте)</a:t>
                      </a:r>
                      <a:endParaRPr/>
                    </a:p>
                  </a:txBody>
                  <a:tcPr marT="25400" marB="25400" marR="63500" marL="3333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Входит в B2B пакет</a:t>
                      </a:r>
                      <a:endParaRPr/>
                    </a:p>
                  </a:txBody>
                  <a:tcPr marT="25400" marB="25400" marR="63500" marL="3619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" name="Google Shape;125;p16"/>
          <p:cNvSpPr/>
          <p:nvPr/>
        </p:nvSpPr>
        <p:spPr>
          <a:xfrm>
            <a:off x="571500" y="2328862"/>
            <a:ext cx="29972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71500" y="1452562"/>
            <a:ext cx="2997249" cy="9525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568749" y="2328862"/>
            <a:ext cx="26448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3568749" y="1452562"/>
            <a:ext cx="2644824" cy="9525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6213574" y="2328862"/>
            <a:ext cx="23537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213574" y="1452562"/>
            <a:ext cx="2353716" cy="9525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8567291" y="2328862"/>
            <a:ext cx="3053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8567291" y="1452562"/>
            <a:ext cx="3053208" cy="9525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571500" y="3328987"/>
            <a:ext cx="29972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568749" y="3328987"/>
            <a:ext cx="26448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6213574" y="3328987"/>
            <a:ext cx="23537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8567291" y="3328987"/>
            <a:ext cx="3053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571500" y="4329112"/>
            <a:ext cx="29972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3568749" y="4329112"/>
            <a:ext cx="26448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6213574" y="4329112"/>
            <a:ext cx="23537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8567291" y="4329112"/>
            <a:ext cx="3053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1500" y="5329237"/>
            <a:ext cx="29972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3568749" y="5329237"/>
            <a:ext cx="26448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213574" y="5329237"/>
            <a:ext cx="23537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8567291" y="5329237"/>
            <a:ext cx="305320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841" y="37433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299" y="37433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6841" y="57435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299" y="47434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6841" y="47434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3124" y="560070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3124" y="360045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299" y="27432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76841" y="260032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299" y="57435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3124" y="46005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3124" y="27432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299" y="27432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3124" y="274320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76841" y="2600325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299" y="37433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3124" y="360045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6841" y="374332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299" y="47434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3124" y="46005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6841" y="4743450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78299" y="5743575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3124" y="5600700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76841" y="5743575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6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Сравнительный анализ конкурентов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8850"/>
            <a:ext cx="523875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228850"/>
            <a:ext cx="5238750" cy="32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/>
          <p:nvPr/>
        </p:nvSpPr>
        <p:spPr>
          <a:xfrm>
            <a:off x="1057275" y="2714625"/>
            <a:ext cx="44805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D948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Ось X: Вектор Доступности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057275" y="3162300"/>
            <a:ext cx="4267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Мы ориентируемся на массовый сегмент по всему миру. TweenMeet предлагает доступное решение с гибкой системой оплаты в противовес дорогим B2B-аналогам (Fireflies, Otter), ориентированным сугубо на корпоративный сектор.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867525" y="2857500"/>
            <a:ext cx="448056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D948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Ось Y: Вектор Автономности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6867525" y="3305175"/>
            <a:ext cx="42672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 отличие от классических ИИ-ассистентов, встроенных в Zoom/Teams, TweenMeet делает ставку на полную замену человека. Наша цель — чтобы вы вообще не открывали приложение для видеосвязи.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Карта позиционирования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/>
          <p:nvPr/>
        </p:nvSpPr>
        <p:spPr>
          <a:xfrm>
            <a:off x="571500" y="4781550"/>
            <a:ext cx="11049000" cy="9525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762000" y="4972050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Комплексная оценка на базе 3 факторов: качество мультиязычного распознавания, гибкость ценовой модели для физических лиц и наличие функции 100% автономного присутствия бота на встрече.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71500" y="4781550"/>
            <a:ext cx="38100" cy="9525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Индекс соответствия массовому рынку (Market Fit)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04962"/>
            <a:ext cx="3492549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1604962"/>
            <a:ext cx="3492549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1604962"/>
            <a:ext cx="3492549" cy="452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199548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 txBox="1"/>
          <p:nvPr/>
        </p:nvSpPr>
        <p:spPr>
          <a:xfrm>
            <a:off x="962025" y="2843212"/>
            <a:ext cx="1400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Freemium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962025" y="3290887"/>
            <a:ext cx="2711499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Базовый функционал бесплатно (до 3 встреч в месяц). Главная задача — быстрый захват студенческой аудитории и генерация вирального эффекта.</a:t>
            </a:r>
            <a:endParaRPr/>
          </a:p>
        </p:txBody>
      </p:sp>
      <p:pic>
        <p:nvPicPr>
          <p:cNvPr descr="image.png" id="203" name="Google Shape;20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199548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4740324" y="2843212"/>
            <a:ext cx="284707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Pro-Подписка (SaaS)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4740324" y="3595687"/>
            <a:ext cx="2711499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Ежемесячная оплата за расширенные часы, интеграцию выжимок в Telegram/Notion и возможность настраивать кастомные промпты для саммари.</a:t>
            </a:r>
            <a:endParaRPr/>
          </a:p>
        </p:txBody>
      </p:sp>
      <p:pic>
        <p:nvPicPr>
          <p:cNvPr descr="image.png" id="206" name="Google Shape;206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199548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8518624" y="2843212"/>
            <a:ext cx="201025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B2B Enterprise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8518624" y="3290887"/>
            <a:ext cx="2711499" cy="2000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Пакетные корпоративные лицензии. Развертывание в закрытом контуре компании (On-Premise) для обеспечения строгой защиты коммерческой тайны.</a:t>
            </a:r>
            <a:endParaRPr/>
          </a:p>
        </p:txBody>
      </p:sp>
      <p:pic>
        <p:nvPicPr>
          <p:cNvPr descr="image.png" id="209" name="Google Shape;209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114425" y="214788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73674" y="2147887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51974" y="2147887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Модель монетизации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571500" y="2347912"/>
            <a:ext cx="523875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0D9488"/>
                </a:solidFill>
                <a:latin typeface="Montserrat"/>
                <a:ea typeface="Montserrat"/>
                <a:cs typeface="Montserrat"/>
                <a:sym typeface="Montserrat"/>
              </a:rPr>
              <a:t>B2C B2B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769500" y="5605162"/>
            <a:ext cx="523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Модель проник</a:t>
            </a:r>
            <a:r>
              <a:rPr lang="en-US" sz="1800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н</a:t>
            </a:r>
            <a:r>
              <a:rPr b="0" i="0" lang="en-US" sz="1800" u="none" cap="none" strike="noStrike">
                <a:solidFill>
                  <a:srgbClr val="47556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овения (Bottom-Up)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6381750" y="2500312"/>
            <a:ext cx="55006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Product-Led Growth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6381750" y="2947987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Специально доступный порог входа на B2C-старте позволяет быстро сформировать у пользователя привычку "делегировать рутину".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381750" y="3948112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Когда TweenMeet станет неотъемлемой частью рабочего процесса сотрудников, продукт легко масштабируется за счет перехода к корпоративным контрактам (B2B Enterprise).</a:t>
            </a:r>
            <a:endParaRPr/>
          </a:p>
        </p:txBody>
      </p:sp>
      <p:pic>
        <p:nvPicPr>
          <p:cNvPr descr="image.png" id="223" name="Google Shape;22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12" y="2805111"/>
            <a:ext cx="6667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Долгосрочная стратегия роста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571500" y="571500"/>
            <a:ext cx="52006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Ожидаемое место на рынке</a:t>
            </a:r>
            <a:endParaRPr/>
          </a:p>
        </p:txBody>
      </p:sp>
      <p:pic>
        <p:nvPicPr>
          <p:cNvPr descr="image.png" id="231" name="Google Shape;23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571500" y="2176462"/>
            <a:ext cx="52006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0D948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Сдвиг продуктовой парадигмы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571500" y="2624137"/>
            <a:ext cx="4953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TweenMeet займет уникальную нишу "умного заместителя". Мы смещаем фокус глобального рынка с традиционных инструментов повышения личной продуктивности на полноценное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делегирование рутины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искусственному интеллекту.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571500" y="4709137"/>
            <a:ext cx="4953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Мы ожидаем захват заметной доли глобального рынка productivity-инструментов в течение первого года за счет мощного вирального эффекта (бота на встрече видят все участники).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85900"/>
            <a:ext cx="2133600" cy="3360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0350" y="1485900"/>
            <a:ext cx="2133600" cy="1632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29200" y="1485900"/>
            <a:ext cx="2133600" cy="3360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58050" y="1485900"/>
            <a:ext cx="2133600" cy="1632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486900" y="1485900"/>
            <a:ext cx="2133600" cy="336083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800350" y="3213943"/>
            <a:ext cx="2133600" cy="1632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58050" y="3213943"/>
            <a:ext cx="2133600" cy="16327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4941986"/>
            <a:ext cx="5476875" cy="1306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143625" y="4941986"/>
            <a:ext cx="5476875" cy="130641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885825" y="1783853"/>
            <a:ext cx="177022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766E"/>
                </a:solidFill>
                <a:latin typeface="Montserrat"/>
                <a:ea typeface="Montserrat"/>
                <a:cs typeface="Montserrat"/>
                <a:sym typeface="Montserrat"/>
              </a:rPr>
              <a:t>ПРОБЛЕМА</a:t>
            </a:r>
            <a:endParaRPr/>
          </a:p>
        </p:txBody>
      </p:sp>
      <p:sp>
        <p:nvSpPr>
          <p:cNvPr id="250" name="Google Shape;250;p22"/>
          <p:cNvSpPr/>
          <p:nvPr/>
        </p:nvSpPr>
        <p:spPr>
          <a:xfrm>
            <a:off x="704850" y="1993403"/>
            <a:ext cx="1866900" cy="1905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3086100" y="1783853"/>
            <a:ext cx="180022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766E"/>
                </a:solidFill>
                <a:latin typeface="Montserrat"/>
                <a:ea typeface="Montserrat"/>
                <a:cs typeface="Montserrat"/>
                <a:sym typeface="Montserrat"/>
              </a:rPr>
              <a:t>РЕШЕНИЕ</a:t>
            </a: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2933700" y="1993403"/>
            <a:ext cx="1866900" cy="1905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5343525" y="1783853"/>
            <a:ext cx="1770221" cy="32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766E"/>
                </a:solidFill>
                <a:latin typeface="Montserrat"/>
                <a:ea typeface="Montserrat"/>
                <a:cs typeface="Montserrat"/>
                <a:sym typeface="Montserrat"/>
              </a:rPr>
              <a:t>УНИКАЛЬНАЯ ЦЕННОСТЬ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5162550" y="2145803"/>
            <a:ext cx="1866900" cy="1905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 txBox="1"/>
          <p:nvPr/>
        </p:nvSpPr>
        <p:spPr>
          <a:xfrm>
            <a:off x="5162550" y="2241053"/>
            <a:ext cx="18669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Твое присутствие больше не обязательно.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5162550" y="2595264"/>
            <a:ext cx="1866900" cy="445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Мы возвращаем часы жизни, работая как ваш надежный цифровой секретарь.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7572375" y="1783853"/>
            <a:ext cx="177022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766E"/>
                </a:solidFill>
                <a:latin typeface="Montserrat"/>
                <a:ea typeface="Montserrat"/>
                <a:cs typeface="Montserrat"/>
                <a:sym typeface="Montserrat"/>
              </a:rPr>
              <a:t>ПРЕИМУЩЕСТВО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7391400" y="1993403"/>
            <a:ext cx="1866900" cy="1905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9829800" y="1783853"/>
            <a:ext cx="1740217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766E"/>
                </a:solidFill>
                <a:latin typeface="Montserrat"/>
                <a:ea typeface="Montserrat"/>
                <a:cs typeface="Montserrat"/>
                <a:sym typeface="Montserrat"/>
              </a:rPr>
              <a:t>СЕГМЕНТЫ</a:t>
            </a: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9620250" y="1993403"/>
            <a:ext cx="1866900" cy="1905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 txBox="1"/>
          <p:nvPr/>
        </p:nvSpPr>
        <p:spPr>
          <a:xfrm>
            <a:off x="3114675" y="3511897"/>
            <a:ext cx="177022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766E"/>
                </a:solidFill>
                <a:latin typeface="Montserrat"/>
                <a:ea typeface="Montserrat"/>
                <a:cs typeface="Montserrat"/>
                <a:sym typeface="Montserrat"/>
              </a:rPr>
              <a:t>МЕТРИКИ</a:t>
            </a: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2933700" y="3721447"/>
            <a:ext cx="1866900" cy="1905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7572375" y="3511897"/>
            <a:ext cx="1770221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766E"/>
                </a:solidFill>
                <a:latin typeface="Montserrat"/>
                <a:ea typeface="Montserrat"/>
                <a:cs typeface="Montserrat"/>
                <a:sym typeface="Montserrat"/>
              </a:rPr>
              <a:t>КАНАЛЫ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7391400" y="3721447"/>
            <a:ext cx="1866900" cy="1905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 txBox="1"/>
          <p:nvPr/>
        </p:nvSpPr>
        <p:spPr>
          <a:xfrm>
            <a:off x="885825" y="5239940"/>
            <a:ext cx="52806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766E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 РАСХОДОВ</a:t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704850" y="5449490"/>
            <a:ext cx="5210175" cy="1905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6457950" y="5239940"/>
            <a:ext cx="52806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F766E"/>
                </a:solidFill>
                <a:latin typeface="Montserrat"/>
                <a:ea typeface="Montserrat"/>
                <a:cs typeface="Montserrat"/>
                <a:sym typeface="Montserrat"/>
              </a:rPr>
              <a:t>ПОТОКИ ДОХОДОВ</a:t>
            </a:r>
            <a:endParaRPr/>
          </a:p>
        </p:txBody>
      </p:sp>
      <p:sp>
        <p:nvSpPr>
          <p:cNvPr id="268" name="Google Shape;268;p22"/>
          <p:cNvSpPr/>
          <p:nvPr/>
        </p:nvSpPr>
        <p:spPr>
          <a:xfrm>
            <a:off x="6276975" y="5449490"/>
            <a:ext cx="5210175" cy="1905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9" name="Google Shape;269;p2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04850" y="1798141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2"/>
          <p:cNvSpPr txBox="1"/>
          <p:nvPr/>
        </p:nvSpPr>
        <p:spPr>
          <a:xfrm>
            <a:off x="790575" y="2086748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857250" y="2088653"/>
            <a:ext cx="17145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Zoom-fatigue от частых созвонов.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790575" y="2440959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3" name="Google Shape;273;p22"/>
          <p:cNvSpPr txBox="1"/>
          <p:nvPr/>
        </p:nvSpPr>
        <p:spPr>
          <a:xfrm>
            <a:off x="857250" y="2442864"/>
            <a:ext cx="17145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Потеря времени на "водные" лекции.</a:t>
            </a:r>
            <a:endParaRPr/>
          </a:p>
        </p:txBody>
      </p:sp>
      <p:sp>
        <p:nvSpPr>
          <p:cNvPr id="274" name="Google Shape;274;p22"/>
          <p:cNvSpPr txBox="1"/>
          <p:nvPr/>
        </p:nvSpPr>
        <p:spPr>
          <a:xfrm>
            <a:off x="790575" y="279517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857250" y="2797075"/>
            <a:ext cx="17145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Упущение деталей из-за расфокуса.</a:t>
            </a:r>
            <a:endParaRPr/>
          </a:p>
        </p:txBody>
      </p:sp>
      <p:pic>
        <p:nvPicPr>
          <p:cNvPr descr="image.png" id="276" name="Google Shape;276;p22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933700" y="1798141"/>
            <a:ext cx="9525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2"/>
          <p:cNvSpPr txBox="1"/>
          <p:nvPr/>
        </p:nvSpPr>
        <p:spPr>
          <a:xfrm>
            <a:off x="3019425" y="2086748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8" name="Google Shape;278;p22"/>
          <p:cNvSpPr txBox="1"/>
          <p:nvPr/>
        </p:nvSpPr>
        <p:spPr>
          <a:xfrm>
            <a:off x="3086100" y="2088653"/>
            <a:ext cx="17145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Бот-ассистент на онлайн-встречах.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3019425" y="2440959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3086100" y="2442864"/>
            <a:ext cx="1714500" cy="29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Распознавание речи языков мира.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3019425" y="2795170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3086100" y="2797075"/>
            <a:ext cx="17145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Структурированное саммари.</a:t>
            </a:r>
            <a:endParaRPr/>
          </a:p>
        </p:txBody>
      </p:sp>
      <p:pic>
        <p:nvPicPr>
          <p:cNvPr descr="image.png" id="283" name="Google Shape;283;p22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162550" y="1874341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2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7391400" y="1798141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2"/>
          <p:cNvSpPr txBox="1"/>
          <p:nvPr/>
        </p:nvSpPr>
        <p:spPr>
          <a:xfrm>
            <a:off x="7477125" y="2086748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7543800" y="2088653"/>
            <a:ext cx="17145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Работает без установки ПО.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7477125" y="2292429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7543800" y="2294334"/>
            <a:ext cx="17145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Полная автономность.</a:t>
            </a:r>
            <a:endParaRPr/>
          </a:p>
        </p:txBody>
      </p:sp>
      <p:pic>
        <p:nvPicPr>
          <p:cNvPr descr="image.png" id="289" name="Google Shape;289;p22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9620250" y="1798141"/>
            <a:ext cx="15240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2"/>
          <p:cNvSpPr txBox="1"/>
          <p:nvPr/>
        </p:nvSpPr>
        <p:spPr>
          <a:xfrm>
            <a:off x="9705975" y="2086748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9772650" y="2088653"/>
            <a:ext cx="17145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Студенты вузов.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9705975" y="2292429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9772650" y="2294334"/>
            <a:ext cx="17145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Менеджеры (IT, PR).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9705975" y="2498109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9772650" y="2500014"/>
            <a:ext cx="17145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Фрилансеры.</a:t>
            </a:r>
            <a:endParaRPr/>
          </a:p>
        </p:txBody>
      </p:sp>
      <p:pic>
        <p:nvPicPr>
          <p:cNvPr descr="image.png" id="296" name="Google Shape;296;p22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2933700" y="3526184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2"/>
          <p:cNvSpPr txBox="1"/>
          <p:nvPr/>
        </p:nvSpPr>
        <p:spPr>
          <a:xfrm>
            <a:off x="3019425" y="3814792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3086100" y="3816697"/>
            <a:ext cx="17145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DAU/MAU ботов.</a:t>
            </a:r>
            <a:endParaRPr/>
          </a:p>
        </p:txBody>
      </p:sp>
      <p:sp>
        <p:nvSpPr>
          <p:cNvPr id="299" name="Google Shape;299;p22"/>
          <p:cNvSpPr txBox="1"/>
          <p:nvPr/>
        </p:nvSpPr>
        <p:spPr>
          <a:xfrm>
            <a:off x="3019425" y="4020472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0" name="Google Shape;300;p22"/>
          <p:cNvSpPr txBox="1"/>
          <p:nvPr/>
        </p:nvSpPr>
        <p:spPr>
          <a:xfrm>
            <a:off x="3086100" y="4022377"/>
            <a:ext cx="17145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Конверсия в Pro.</a:t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3019425" y="4226153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2" name="Google Shape;302;p22"/>
          <p:cNvSpPr txBox="1"/>
          <p:nvPr/>
        </p:nvSpPr>
        <p:spPr>
          <a:xfrm>
            <a:off x="3086100" y="4228058"/>
            <a:ext cx="17145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Retention rate.</a:t>
            </a:r>
            <a:endParaRPr/>
          </a:p>
        </p:txBody>
      </p:sp>
      <p:pic>
        <p:nvPicPr>
          <p:cNvPr descr="image.png" id="303" name="Google Shape;303;p22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7391400" y="3526184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2"/>
          <p:cNvSpPr txBox="1"/>
          <p:nvPr/>
        </p:nvSpPr>
        <p:spPr>
          <a:xfrm>
            <a:off x="7477125" y="3814792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5" name="Google Shape;305;p22"/>
          <p:cNvSpPr txBox="1"/>
          <p:nvPr/>
        </p:nvSpPr>
        <p:spPr>
          <a:xfrm>
            <a:off x="7543800" y="3816697"/>
            <a:ext cx="17145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Встроенная виральность.</a:t>
            </a:r>
            <a:endParaRPr/>
          </a:p>
        </p:txBody>
      </p:sp>
      <p:sp>
        <p:nvSpPr>
          <p:cNvPr id="306" name="Google Shape;306;p22"/>
          <p:cNvSpPr txBox="1"/>
          <p:nvPr/>
        </p:nvSpPr>
        <p:spPr>
          <a:xfrm>
            <a:off x="7477125" y="4020472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7" name="Google Shape;307;p22"/>
          <p:cNvSpPr txBox="1"/>
          <p:nvPr/>
        </p:nvSpPr>
        <p:spPr>
          <a:xfrm>
            <a:off x="7543800" y="4022377"/>
            <a:ext cx="17145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TikTok / Reels.</a:t>
            </a:r>
            <a:endParaRPr/>
          </a:p>
        </p:txBody>
      </p:sp>
      <p:sp>
        <p:nvSpPr>
          <p:cNvPr id="308" name="Google Shape;308;p22"/>
          <p:cNvSpPr txBox="1"/>
          <p:nvPr/>
        </p:nvSpPr>
        <p:spPr>
          <a:xfrm>
            <a:off x="7477125" y="4226153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9" name="Google Shape;309;p22"/>
          <p:cNvSpPr txBox="1"/>
          <p:nvPr/>
        </p:nvSpPr>
        <p:spPr>
          <a:xfrm>
            <a:off x="7543800" y="4228058"/>
            <a:ext cx="1714500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Студ-комьюнити.</a:t>
            </a:r>
            <a:endParaRPr/>
          </a:p>
        </p:txBody>
      </p:sp>
      <p:pic>
        <p:nvPicPr>
          <p:cNvPr descr="image.png" id="310" name="Google Shape;310;p22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704850" y="5254228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2"/>
          <p:cNvSpPr txBox="1"/>
          <p:nvPr/>
        </p:nvSpPr>
        <p:spPr>
          <a:xfrm>
            <a:off x="790575" y="5542835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2" name="Google Shape;312;p22"/>
          <p:cNvSpPr txBox="1"/>
          <p:nvPr/>
        </p:nvSpPr>
        <p:spPr>
          <a:xfrm>
            <a:off x="857250" y="5544740"/>
            <a:ext cx="5057775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Оплата API нейросетей (LLM, Speech).</a:t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790575" y="5748516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4" name="Google Shape;314;p22"/>
          <p:cNvSpPr txBox="1"/>
          <p:nvPr/>
        </p:nvSpPr>
        <p:spPr>
          <a:xfrm>
            <a:off x="857250" y="5750421"/>
            <a:ext cx="5057775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Серверная инфраструктура и хостинг.</a:t>
            </a:r>
            <a:endParaRPr/>
          </a:p>
        </p:txBody>
      </p:sp>
      <p:sp>
        <p:nvSpPr>
          <p:cNvPr id="315" name="Google Shape;315;p22"/>
          <p:cNvSpPr txBox="1"/>
          <p:nvPr/>
        </p:nvSpPr>
        <p:spPr>
          <a:xfrm>
            <a:off x="790575" y="5954196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857250" y="5956101"/>
            <a:ext cx="5057775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ФОТ команды и затраты на маркетинг (CAC).</a:t>
            </a:r>
            <a:endParaRPr/>
          </a:p>
        </p:txBody>
      </p:sp>
      <p:pic>
        <p:nvPicPr>
          <p:cNvPr descr="image.png" id="317" name="Google Shape;317;p22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276975" y="5254228"/>
            <a:ext cx="123825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2"/>
          <p:cNvSpPr txBox="1"/>
          <p:nvPr/>
        </p:nvSpPr>
        <p:spPr>
          <a:xfrm>
            <a:off x="6362700" y="5542835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6429375" y="5544740"/>
            <a:ext cx="5057775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Freemium:</a:t>
            </a: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Базовый бесплатный доступ.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6362700" y="5748516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6429375" y="5750421"/>
            <a:ext cx="5057775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 (SaaS):</a:t>
            </a: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Оплата за расширенные лимиты.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6362700" y="5954196"/>
            <a:ext cx="6667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6429375" y="5956101"/>
            <a:ext cx="5057775" cy="148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B2B Enterprise:</a:t>
            </a:r>
            <a:r>
              <a:rPr b="0" i="0" lang="en-US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Корпоративные лицензии.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Lean Canvas: TweenMeet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3"/>
          <p:cNvSpPr/>
          <p:nvPr/>
        </p:nvSpPr>
        <p:spPr>
          <a:xfrm>
            <a:off x="1014412" y="3100387"/>
            <a:ext cx="101631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3"/>
          <p:cNvSpPr/>
          <p:nvPr/>
        </p:nvSpPr>
        <p:spPr>
          <a:xfrm>
            <a:off x="1014412" y="3862387"/>
            <a:ext cx="10163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1014412" y="3862387"/>
            <a:ext cx="1016317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3" name="Google Shape;33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4412" y="3243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3"/>
          <p:cNvSpPr txBox="1"/>
          <p:nvPr/>
        </p:nvSpPr>
        <p:spPr>
          <a:xfrm>
            <a:off x="2109787" y="3250406"/>
            <a:ext cx="90678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https://png.pngtree.com/png-vector/20250903/ourmid/pngtree-d-ai-chatbot-icon-cute-robot-head-with-glossy-blue-design-png-image_17355891.webp</a:t>
            </a:r>
            <a:endParaRPr/>
          </a:p>
        </p:txBody>
      </p:sp>
      <p:sp>
        <p:nvSpPr>
          <p:cNvPr id="335" name="Google Shape;335;p23"/>
          <p:cNvSpPr txBox="1"/>
          <p:nvPr/>
        </p:nvSpPr>
        <p:spPr>
          <a:xfrm>
            <a:off x="2109787" y="3483768"/>
            <a:ext cx="906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pic>
        <p:nvPicPr>
          <p:cNvPr descr="image.png" id="336" name="Google Shape;3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4412" y="4014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3"/>
          <p:cNvSpPr txBox="1"/>
          <p:nvPr/>
        </p:nvSpPr>
        <p:spPr>
          <a:xfrm>
            <a:off x="2109787" y="4021931"/>
            <a:ext cx="9067800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https://png.pngtree.com/thumb_back/fw800/background/20260226/pngtree-abstract-geometric-shapes-in-teal-and-white-image_21469446.webp</a:t>
            </a:r>
            <a:endParaRPr/>
          </a:p>
        </p:txBody>
      </p:sp>
      <p:sp>
        <p:nvSpPr>
          <p:cNvPr id="338" name="Google Shape;338;p23"/>
          <p:cNvSpPr txBox="1"/>
          <p:nvPr/>
        </p:nvSpPr>
        <p:spPr>
          <a:xfrm>
            <a:off x="2109787" y="4255293"/>
            <a:ext cx="906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pngtree.com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0F766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