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6858000" cx="12192000"/>
  <p:notesSz cx="6858000" cy="9144000"/>
  <p:embeddedFontLst>
    <p:embeddedFont>
      <p:font typeface="Inter SemiBold"/>
      <p:regular r:id="rId20"/>
      <p:bold r:id="rId21"/>
      <p:italic r:id="rId22"/>
      <p:boldItalic r:id="rId23"/>
    </p:embeddedFont>
    <p:embeddedFont>
      <p:font typeface="Outfit ExtraBold"/>
      <p:bold r:id="rId24"/>
    </p:embeddedFont>
    <p:embeddedFont>
      <p:font typeface="Inter"/>
      <p:regular r:id="rId25"/>
      <p:bold r:id="rId26"/>
      <p:italic r:id="rId27"/>
      <p:boldItalic r:id="rId28"/>
    </p:embeddedFont>
    <p:embeddedFont>
      <p:font typeface="Outfit"/>
      <p:regular r:id="rId29"/>
      <p:bold r:id="rId30"/>
    </p:embeddedFont>
    <p:embeddedFont>
      <p:font typeface="Outfit SemiBold"/>
      <p:regular r:id="rId31"/>
      <p:bold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41AC1F9-D3CE-4902-BC1C-A023A05603F0}">
  <a:tblStyle styleId="{F41AC1F9-D3CE-4902-BC1C-A023A05603F0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SemiBold-regular.fntdata"/><Relationship Id="rId22" Type="http://schemas.openxmlformats.org/officeDocument/2006/relationships/font" Target="fonts/InterSemiBold-italic.fntdata"/><Relationship Id="rId21" Type="http://schemas.openxmlformats.org/officeDocument/2006/relationships/font" Target="fonts/InterSemiBold-bold.fntdata"/><Relationship Id="rId24" Type="http://schemas.openxmlformats.org/officeDocument/2006/relationships/font" Target="fonts/OutfitExtraBold-bold.fntdata"/><Relationship Id="rId23" Type="http://schemas.openxmlformats.org/officeDocument/2006/relationships/font" Target="fonts/InterSemiBold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Inter-bold.fntdata"/><Relationship Id="rId25" Type="http://schemas.openxmlformats.org/officeDocument/2006/relationships/font" Target="fonts/Inter-regular.fntdata"/><Relationship Id="rId28" Type="http://schemas.openxmlformats.org/officeDocument/2006/relationships/font" Target="fonts/Inter-boldItalic.fntdata"/><Relationship Id="rId27" Type="http://schemas.openxmlformats.org/officeDocument/2006/relationships/font" Target="fonts/Inter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Outfit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OutfitSemiBold-regular.fntdata"/><Relationship Id="rId30" Type="http://schemas.openxmlformats.org/officeDocument/2006/relationships/font" Target="fonts/Outfit-bold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32" Type="http://schemas.openxmlformats.org/officeDocument/2006/relationships/font" Target="fonts/OutfitSemiBold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2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10.png"/><Relationship Id="rId11" Type="http://schemas.openxmlformats.org/officeDocument/2006/relationships/image" Target="../media/image11.png"/><Relationship Id="rId10" Type="http://schemas.openxmlformats.org/officeDocument/2006/relationships/image" Target="../media/image34.png"/><Relationship Id="rId12" Type="http://schemas.openxmlformats.org/officeDocument/2006/relationships/image" Target="../media/image7.png"/><Relationship Id="rId9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9.png"/><Relationship Id="rId7" Type="http://schemas.openxmlformats.org/officeDocument/2006/relationships/image" Target="../media/image29.png"/><Relationship Id="rId8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8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12.png"/><Relationship Id="rId5" Type="http://schemas.openxmlformats.org/officeDocument/2006/relationships/image" Target="../media/image18.png"/><Relationship Id="rId6" Type="http://schemas.openxmlformats.org/officeDocument/2006/relationships/image" Target="../media/image22.png"/><Relationship Id="rId7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32.png"/><Relationship Id="rId9" Type="http://schemas.openxmlformats.org/officeDocument/2006/relationships/image" Target="../media/image31.png"/><Relationship Id="rId5" Type="http://schemas.openxmlformats.org/officeDocument/2006/relationships/image" Target="../media/image16.png"/><Relationship Id="rId6" Type="http://schemas.openxmlformats.org/officeDocument/2006/relationships/image" Target="../media/image30.png"/><Relationship Id="rId7" Type="http://schemas.openxmlformats.org/officeDocument/2006/relationships/image" Target="../media/image21.png"/><Relationship Id="rId8" Type="http://schemas.openxmlformats.org/officeDocument/2006/relationships/image" Target="../media/image2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24.png"/><Relationship Id="rId5" Type="http://schemas.openxmlformats.org/officeDocument/2006/relationships/image" Target="../media/image2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26.png"/><Relationship Id="rId5" Type="http://schemas.openxmlformats.org/officeDocument/2006/relationships/image" Target="../media/image2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Relationship Id="rId4" Type="http://schemas.openxmlformats.org/officeDocument/2006/relationships/image" Target="../media/image3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Relationship Id="rId4" Type="http://schemas.openxmlformats.org/officeDocument/2006/relationships/image" Target="../media/image2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19750" y="3801516"/>
            <a:ext cx="952500" cy="5715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3525678" y="1429791"/>
            <a:ext cx="5140642" cy="1323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0" u="none" cap="none" strike="noStrike">
                <a:solidFill>
                  <a:srgbClr val="BE185D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TwinMeet.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1878132" y="2944266"/>
            <a:ext cx="8435585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1E293B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Модель монетизации и позиционирование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2047875" y="4239666"/>
            <a:ext cx="8096250" cy="1188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Полная стратегия вывода на B2C-рынок интеллектуального ассистента, который незаметно посещает и конспектирует онлайн-встречи за вас.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785937"/>
            <a:ext cx="50958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904875" y="1784985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1000125" y="1785937"/>
            <a:ext cx="485775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Эпидемия онлайн-звонков: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В среднем человек тратит до 30% рабочего времени на бесполезные синхронизации.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904875" y="2750730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1000125" y="2751683"/>
            <a:ext cx="48577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Meeting Fatigue: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Сильная усталость и снижение концентрации из-за избытка видеоконференций.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904875" y="3442186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1000125" y="3443138"/>
            <a:ext cx="485775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Жесткая корпоративная политика: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Большинство компаний блокируют стандартных B2B ИИ-ботов (Otter, Fireflies) из-за опасений за безопасность.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904875" y="4407931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1000125" y="4408884"/>
            <a:ext cx="485775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Необходимость скрытности: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Пользователям нужен инструмент, который работает локально и не афиширует свое присутствие.</a:t>
            </a:r>
            <a:endParaRPr/>
          </a:p>
        </p:txBody>
      </p:sp>
      <p:pic>
        <p:nvPicPr>
          <p:cNvPr descr="image.png" id="103" name="Google Shape;103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1795462"/>
            <a:ext cx="50768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4"/>
          <p:cNvSpPr txBox="1"/>
          <p:nvPr/>
        </p:nvSpPr>
        <p:spPr>
          <a:xfrm>
            <a:off x="762000" y="571500"/>
            <a:ext cx="112014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Проблема: Выгорание и B2B Блокировки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9" name="Google Shape;10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444972"/>
            <a:ext cx="3302049" cy="44917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45049" y="1444972"/>
            <a:ext cx="3302049" cy="44917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1444972"/>
            <a:ext cx="3302049" cy="44917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984325" y="1930747"/>
            <a:ext cx="85725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1574095" y="3073747"/>
            <a:ext cx="1677709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1E293B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Фрилансеры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1152525" y="3530947"/>
            <a:ext cx="2520999" cy="19200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Ежедневные созвоны с клиентами. Острая потребность в автоматической фиксации задач без покупки тяжелых корпоративных B2B-решений.</a:t>
            </a:r>
            <a:endParaRPr/>
          </a:p>
        </p:txBody>
      </p:sp>
      <p:pic>
        <p:nvPicPr>
          <p:cNvPr descr="image.png" id="116" name="Google Shape;116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667375" y="1930747"/>
            <a:ext cx="85725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5458104" y="3073747"/>
            <a:ext cx="127594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1E293B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Студенты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4835574" y="3530947"/>
            <a:ext cx="2520999" cy="19200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Накладывающиеся расписания онлайн-лекций. Потребность в "присутствии" на нескольких занятиях и получении структурированных конспектов.</a:t>
            </a:r>
            <a:endParaRPr/>
          </a:p>
        </p:txBody>
      </p:sp>
      <p:pic>
        <p:nvPicPr>
          <p:cNvPr descr="image.png" id="119" name="Google Shape;119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350424" y="1930747"/>
            <a:ext cx="85725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8681256" y="3073747"/>
            <a:ext cx="2195586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1E293B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ИТ-специалисты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8518624" y="3530947"/>
            <a:ext cx="2520999" cy="16457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Стремление избежать лишних встреч с помощью "невидимого" присутствия, обходя строгие корпоративные запреты на ботов.</a:t>
            </a:r>
            <a:endParaRPr/>
          </a:p>
        </p:txBody>
      </p:sp>
      <p:pic>
        <p:nvPicPr>
          <p:cNvPr descr="image.png" id="122" name="Google Shape;122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198637" y="2187922"/>
            <a:ext cx="42862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881687" y="2187922"/>
            <a:ext cx="42862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1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9564737" y="2187922"/>
            <a:ext cx="42862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5"/>
          <p:cNvSpPr txBox="1"/>
          <p:nvPr/>
        </p:nvSpPr>
        <p:spPr>
          <a:xfrm>
            <a:off x="762000" y="571500"/>
            <a:ext cx="112014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Этап 1: Определение целевых B2C сегментов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0" name="Google Shape;13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646932"/>
            <a:ext cx="5095875" cy="40878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646932"/>
            <a:ext cx="5095875" cy="4087862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>
            <a:off x="1044654" y="2132707"/>
            <a:ext cx="4530566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71475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DB2777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Сценарий: Студент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1152525" y="2589907"/>
            <a:ext cx="4314825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Проблема: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Совпадение важных лекций по времени или необходимость совмещать учебу с работой. Нет времени пересматривать многочасовые записи.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1152525" y="3877567"/>
            <a:ext cx="4314825" cy="13714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Решение TwinMeet: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Ассистент подключается к нужной ссылке, пока студент на работе. В конце выдает краткую выжимку с формулами и ключевыми определениями для подготовки к сессии.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6616779" y="2269777"/>
            <a:ext cx="4530566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4290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DB2777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Сценарий: Фрилансер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6724650" y="2726977"/>
            <a:ext cx="4314825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Проблема: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Работа с 5-7 разными клиентами, каждый из которых использует свой мессенджер (Zoom, Meet, Teams). Трудно вести ручные протоколы (follow-up).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6724650" y="4014638"/>
            <a:ext cx="4314825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Решение TwinMeet: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Единое расширение, которое работает во всех браузерных звонках. Незаметно собирает требования заказчика и сразу формирует список задач (To-Do list).</a:t>
            </a:r>
            <a:endParaRPr/>
          </a:p>
        </p:txBody>
      </p:sp>
      <p:pic>
        <p:nvPicPr>
          <p:cNvPr descr="image.png" id="139" name="Google Shape;139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959173" y="2170807"/>
            <a:ext cx="2762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354341" y="2307877"/>
            <a:ext cx="2476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6"/>
          <p:cNvSpPr txBox="1"/>
          <p:nvPr/>
        </p:nvSpPr>
        <p:spPr>
          <a:xfrm>
            <a:off x="762000" y="571500"/>
            <a:ext cx="112014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Ключевые сценарии использования (Use Cases)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6" name="Google Shape;14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7"/>
          <p:cNvSpPr/>
          <p:nvPr/>
        </p:nvSpPr>
        <p:spPr>
          <a:xfrm>
            <a:off x="762000" y="1298376"/>
            <a:ext cx="10668000" cy="4785121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48" name="Google Shape;148;p17"/>
          <p:cNvGraphicFramePr/>
          <p:nvPr/>
        </p:nvGraphicFramePr>
        <p:xfrm>
          <a:off x="762000" y="129837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{F41AC1F9-D3CE-4902-BC1C-A023A05603F0}</a:tableStyleId>
              </a:tblPr>
              <a:tblGrid>
                <a:gridCol w="2129725"/>
                <a:gridCol w="2662225"/>
                <a:gridCol w="2129725"/>
                <a:gridCol w="1597225"/>
                <a:gridCol w="2130025"/>
              </a:tblGrid>
              <a:tr h="957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9D174D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Критерий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2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831843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TwinMeet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CF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9D174D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Otter.ai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2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9D174D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Fireflies.ai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2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9D174D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Read.ai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2F8"/>
                    </a:solidFill>
                  </a:tcPr>
                </a:tc>
              </a:tr>
              <a:tr h="957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F172A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Обход блокировок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2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DB2777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Выше среднего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CF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Низкий 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2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Низкий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2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Средний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2F8"/>
                    </a:solidFill>
                  </a:tcPr>
                </a:tc>
              </a:tr>
              <a:tr h="957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F172A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Фокус продукта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2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Персональный (B2C)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CF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Смешанный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2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Командный (B2B)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2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Аналитика (B2B)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2F8"/>
                    </a:solidFill>
                  </a:tcPr>
                </a:tc>
              </a:tr>
              <a:tr h="957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F172A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Интеграция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2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Расширение браузера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CF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Календарь (API)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2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Календарь (API)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2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Календарь (API)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2F8"/>
                    </a:solidFill>
                  </a:tcPr>
                </a:tc>
              </a:tr>
              <a:tr h="957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F172A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Формат данных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2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Кратко + Задачи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CF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Длинный текст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2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Графики / Задачи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2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Оценка эмоций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2F8"/>
                    </a:solidFill>
                  </a:tcPr>
                </a:tc>
              </a:tr>
            </a:tbl>
          </a:graphicData>
        </a:graphic>
      </p:graphicFrame>
      <p:sp>
        <p:nvSpPr>
          <p:cNvPr id="149" name="Google Shape;149;p17"/>
          <p:cNvSpPr/>
          <p:nvPr/>
        </p:nvSpPr>
        <p:spPr>
          <a:xfrm>
            <a:off x="771525" y="2003226"/>
            <a:ext cx="2129730" cy="19050"/>
          </a:xfrm>
          <a:prstGeom prst="rect">
            <a:avLst/>
          </a:prstGeom>
          <a:solidFill>
            <a:srgbClr val="FBCF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7"/>
          <p:cNvSpPr/>
          <p:nvPr/>
        </p:nvSpPr>
        <p:spPr>
          <a:xfrm>
            <a:off x="2901255" y="2003226"/>
            <a:ext cx="2662237" cy="19050"/>
          </a:xfrm>
          <a:prstGeom prst="rect">
            <a:avLst/>
          </a:prstGeom>
          <a:solidFill>
            <a:srgbClr val="FBCF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7"/>
          <p:cNvSpPr/>
          <p:nvPr/>
        </p:nvSpPr>
        <p:spPr>
          <a:xfrm>
            <a:off x="5563492" y="2003226"/>
            <a:ext cx="2129730" cy="19050"/>
          </a:xfrm>
          <a:prstGeom prst="rect">
            <a:avLst/>
          </a:prstGeom>
          <a:solidFill>
            <a:srgbClr val="FBCF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7"/>
          <p:cNvSpPr/>
          <p:nvPr/>
        </p:nvSpPr>
        <p:spPr>
          <a:xfrm>
            <a:off x="7693223" y="2003226"/>
            <a:ext cx="1597223" cy="19050"/>
          </a:xfrm>
          <a:prstGeom prst="rect">
            <a:avLst/>
          </a:prstGeom>
          <a:solidFill>
            <a:srgbClr val="FBCF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7"/>
          <p:cNvSpPr/>
          <p:nvPr/>
        </p:nvSpPr>
        <p:spPr>
          <a:xfrm>
            <a:off x="9290446" y="2003226"/>
            <a:ext cx="2130028" cy="19050"/>
          </a:xfrm>
          <a:prstGeom prst="rect">
            <a:avLst/>
          </a:prstGeom>
          <a:solidFill>
            <a:srgbClr val="FBCF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7"/>
          <p:cNvSpPr/>
          <p:nvPr/>
        </p:nvSpPr>
        <p:spPr>
          <a:xfrm>
            <a:off x="771525" y="3028057"/>
            <a:ext cx="212973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7"/>
          <p:cNvSpPr/>
          <p:nvPr/>
        </p:nvSpPr>
        <p:spPr>
          <a:xfrm>
            <a:off x="2901255" y="3028057"/>
            <a:ext cx="2662237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7"/>
          <p:cNvSpPr/>
          <p:nvPr/>
        </p:nvSpPr>
        <p:spPr>
          <a:xfrm>
            <a:off x="5563492" y="3028057"/>
            <a:ext cx="212973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7"/>
          <p:cNvSpPr/>
          <p:nvPr/>
        </p:nvSpPr>
        <p:spPr>
          <a:xfrm>
            <a:off x="7693223" y="3028057"/>
            <a:ext cx="1597223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7"/>
          <p:cNvSpPr/>
          <p:nvPr/>
        </p:nvSpPr>
        <p:spPr>
          <a:xfrm>
            <a:off x="9290446" y="3028057"/>
            <a:ext cx="2130028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7"/>
          <p:cNvSpPr/>
          <p:nvPr/>
        </p:nvSpPr>
        <p:spPr>
          <a:xfrm>
            <a:off x="771525" y="4043362"/>
            <a:ext cx="212973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7"/>
          <p:cNvSpPr/>
          <p:nvPr/>
        </p:nvSpPr>
        <p:spPr>
          <a:xfrm>
            <a:off x="2901255" y="4043362"/>
            <a:ext cx="2662237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7"/>
          <p:cNvSpPr/>
          <p:nvPr/>
        </p:nvSpPr>
        <p:spPr>
          <a:xfrm>
            <a:off x="5563492" y="4043362"/>
            <a:ext cx="212973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7"/>
          <p:cNvSpPr/>
          <p:nvPr/>
        </p:nvSpPr>
        <p:spPr>
          <a:xfrm>
            <a:off x="7693223" y="4043362"/>
            <a:ext cx="1597223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7"/>
          <p:cNvSpPr/>
          <p:nvPr/>
        </p:nvSpPr>
        <p:spPr>
          <a:xfrm>
            <a:off x="9290446" y="4043362"/>
            <a:ext cx="2130028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7"/>
          <p:cNvSpPr/>
          <p:nvPr/>
        </p:nvSpPr>
        <p:spPr>
          <a:xfrm>
            <a:off x="771525" y="5058667"/>
            <a:ext cx="212973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7"/>
          <p:cNvSpPr/>
          <p:nvPr/>
        </p:nvSpPr>
        <p:spPr>
          <a:xfrm>
            <a:off x="2901255" y="5058667"/>
            <a:ext cx="2662237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7"/>
          <p:cNvSpPr/>
          <p:nvPr/>
        </p:nvSpPr>
        <p:spPr>
          <a:xfrm>
            <a:off x="5563492" y="5058667"/>
            <a:ext cx="212973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7"/>
          <p:cNvSpPr/>
          <p:nvPr/>
        </p:nvSpPr>
        <p:spPr>
          <a:xfrm>
            <a:off x="7693223" y="5058667"/>
            <a:ext cx="1597223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7"/>
          <p:cNvSpPr/>
          <p:nvPr/>
        </p:nvSpPr>
        <p:spPr>
          <a:xfrm>
            <a:off x="9290446" y="5058667"/>
            <a:ext cx="2130028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7"/>
          <p:cNvSpPr txBox="1"/>
          <p:nvPr/>
        </p:nvSpPr>
        <p:spPr>
          <a:xfrm>
            <a:off x="762000" y="571500"/>
            <a:ext cx="112014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Этап 2: Карта сравнения конкурентов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4" name="Google Shape;17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8"/>
          <p:cNvSpPr txBox="1"/>
          <p:nvPr/>
        </p:nvSpPr>
        <p:spPr>
          <a:xfrm>
            <a:off x="1333500" y="1256704"/>
            <a:ext cx="8953500" cy="9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Режим "Инкогнито" (Скрытность)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Главный критерий для B2C. Пользователи боятся, что их руководство или преподаватели узнают об использовании ИИ. Продукт должен работать без добавления "ботов" в список участников.</a:t>
            </a:r>
            <a:endParaRPr/>
          </a:p>
        </p:txBody>
      </p:sp>
      <p:sp>
        <p:nvSpPr>
          <p:cNvPr id="176" name="Google Shape;176;p18"/>
          <p:cNvSpPr txBox="1"/>
          <p:nvPr/>
        </p:nvSpPr>
        <p:spPr>
          <a:xfrm>
            <a:off x="1333500" y="2473821"/>
            <a:ext cx="8953500" cy="9313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Платформенная независимость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Решение не должно зависеть от API конкретной платформы (Zoom, Teams). Браузерное расширение позволяет перехватывать аудиопоток напрямую, обеспечивая универсальность.</a:t>
            </a:r>
            <a:endParaRPr/>
          </a:p>
        </p:txBody>
      </p:sp>
      <p:sp>
        <p:nvSpPr>
          <p:cNvPr id="177" name="Google Shape;177;p18"/>
          <p:cNvSpPr txBox="1"/>
          <p:nvPr/>
        </p:nvSpPr>
        <p:spPr>
          <a:xfrm>
            <a:off x="1333500" y="3690937"/>
            <a:ext cx="8953500" cy="9313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Краткость вместо полноты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Конкуренты предлагают огромные простыни транскриптов. Нашему пользователю нужна "сухая выжимка": о чем договорились, сроки, формулы, задачи.</a:t>
            </a:r>
            <a:endParaRPr/>
          </a:p>
        </p:txBody>
      </p:sp>
      <p:sp>
        <p:nvSpPr>
          <p:cNvPr id="178" name="Google Shape;178;p18"/>
          <p:cNvSpPr txBox="1"/>
          <p:nvPr/>
        </p:nvSpPr>
        <p:spPr>
          <a:xfrm>
            <a:off x="1333500" y="4908053"/>
            <a:ext cx="8953500" cy="9313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Доступность для физических лиц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Корпоративные лицензии конкурентов стоят от $18 до $30 в месяц. Наш продукт должен вписываться в бюджет студенческой подписки (до $10/мес).</a:t>
            </a:r>
            <a:endParaRPr/>
          </a:p>
        </p:txBody>
      </p:sp>
      <p:pic>
        <p:nvPicPr>
          <p:cNvPr descr="image.png" id="179" name="Google Shape;17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251942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0" name="Google Shape;180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2469058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1" name="Google Shape;181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3686175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2" name="Google Shape;182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2000" y="4903291"/>
            <a:ext cx="17145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8"/>
          <p:cNvSpPr txBox="1"/>
          <p:nvPr/>
        </p:nvSpPr>
        <p:spPr>
          <a:xfrm>
            <a:off x="762000" y="49500"/>
            <a:ext cx="112014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Ключевые критерии позиционирования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8" name="Google Shape;18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9" name="Google Shape;189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776412"/>
            <a:ext cx="3302049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0" name="Google Shape;190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45049" y="1776412"/>
            <a:ext cx="3302049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1" name="Google Shape;191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1776412"/>
            <a:ext cx="3302049" cy="238125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19"/>
          <p:cNvSpPr txBox="1"/>
          <p:nvPr/>
        </p:nvSpPr>
        <p:spPr>
          <a:xfrm>
            <a:off x="679448" y="4395787"/>
            <a:ext cx="3467152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F172A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Никаких следов в логах</a:t>
            </a:r>
            <a:endParaRPr/>
          </a:p>
        </p:txBody>
      </p:sp>
      <p:sp>
        <p:nvSpPr>
          <p:cNvPr id="193" name="Google Shape;193;p19"/>
          <p:cNvSpPr txBox="1"/>
          <p:nvPr/>
        </p:nvSpPr>
        <p:spPr>
          <a:xfrm>
            <a:off x="762000" y="4757737"/>
            <a:ext cx="3302049" cy="13714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TwinMeet не присоединяется к звонку как отдельный пользователь. Администраторы сети не видят сторонних ИИ-ботов в списке присутствующих.</a:t>
            </a:r>
            <a:endParaRPr/>
          </a:p>
        </p:txBody>
      </p:sp>
      <p:sp>
        <p:nvSpPr>
          <p:cNvPr id="194" name="Google Shape;194;p19"/>
          <p:cNvSpPr txBox="1"/>
          <p:nvPr/>
        </p:nvSpPr>
        <p:spPr>
          <a:xfrm>
            <a:off x="4362498" y="4395787"/>
            <a:ext cx="3467152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F172A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Локальный перехват аудио</a:t>
            </a:r>
            <a:endParaRPr/>
          </a:p>
        </p:txBody>
      </p:sp>
      <p:sp>
        <p:nvSpPr>
          <p:cNvPr id="195" name="Google Shape;195;p19"/>
          <p:cNvSpPr txBox="1"/>
          <p:nvPr/>
        </p:nvSpPr>
        <p:spPr>
          <a:xfrm>
            <a:off x="4445049" y="4757737"/>
            <a:ext cx="3302100" cy="12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Браузерное расширение работает с системным аудиопотоком, не требуя разрешений на запись от организатора встречи.</a:t>
            </a:r>
            <a:endParaRPr/>
          </a:p>
        </p:txBody>
      </p:sp>
      <p:sp>
        <p:nvSpPr>
          <p:cNvPr id="196" name="Google Shape;196;p19"/>
          <p:cNvSpPr txBox="1"/>
          <p:nvPr/>
        </p:nvSpPr>
        <p:spPr>
          <a:xfrm>
            <a:off x="8045547" y="4395787"/>
            <a:ext cx="3467152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F172A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Безопасное саммари</a:t>
            </a:r>
            <a:endParaRPr/>
          </a:p>
        </p:txBody>
      </p:sp>
      <p:sp>
        <p:nvSpPr>
          <p:cNvPr id="197" name="Google Shape;197;p19"/>
          <p:cNvSpPr txBox="1"/>
          <p:nvPr/>
        </p:nvSpPr>
        <p:spPr>
          <a:xfrm>
            <a:off x="8128099" y="4757737"/>
            <a:ext cx="3302049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Все данные шифруются и передаются пользователю в приватный Telegram-бот или Notion без сохранения в публичных облаках.</a:t>
            </a:r>
            <a:endParaRPr/>
          </a:p>
        </p:txBody>
      </p:sp>
      <p:pic>
        <p:nvPicPr>
          <p:cNvPr descr="image.png" id="198" name="Google Shape;198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71525" y="1785937"/>
            <a:ext cx="3282999" cy="2362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9" name="Google Shape;199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454574" y="1785937"/>
            <a:ext cx="3282999" cy="2362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0" name="Google Shape;200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137624" y="1785937"/>
            <a:ext cx="3282999" cy="23622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9"/>
          <p:cNvSpPr txBox="1"/>
          <p:nvPr/>
        </p:nvSpPr>
        <p:spPr>
          <a:xfrm>
            <a:off x="762000" y="571500"/>
            <a:ext cx="1120140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Уникальное преимущество: Технология "Инкогнито"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6" name="Google Shape;20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7" name="Google Shape;207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4505325"/>
            <a:ext cx="10668000" cy="1085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8" name="Google Shape;208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1095375"/>
            <a:ext cx="10668000" cy="5191125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0"/>
          <p:cNvSpPr txBox="1"/>
          <p:nvPr/>
        </p:nvSpPr>
        <p:spPr>
          <a:xfrm>
            <a:off x="1104900" y="4743450"/>
            <a:ext cx="100393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D174D"/>
                </a:solidFill>
                <a:latin typeface="Inter"/>
                <a:ea typeface="Inter"/>
                <a:cs typeface="Inter"/>
                <a:sym typeface="Inter"/>
              </a:rPr>
              <a:t>Вывод: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Лидеры уходят в тяжелый B2B-сегмент с легко обнаруживаемыми ботами. TwinMeet занимает пустую нишу скрытного цифрового двойника исключительно для физических лиц.</a:t>
            </a:r>
            <a:endParaRPr/>
          </a:p>
        </p:txBody>
      </p:sp>
      <p:sp>
        <p:nvSpPr>
          <p:cNvPr id="210" name="Google Shape;210;p20"/>
          <p:cNvSpPr txBox="1"/>
          <p:nvPr/>
        </p:nvSpPr>
        <p:spPr>
          <a:xfrm>
            <a:off x="762000" y="571500"/>
            <a:ext cx="112014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Этап 3: Карта позиционирования (Индекс B2C)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5" name="Google Shape;21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6" name="Google Shape;216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675507"/>
            <a:ext cx="5114925" cy="40308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7" name="Google Shape;217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53175" y="1675507"/>
            <a:ext cx="5076825" cy="403086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1"/>
          <p:cNvSpPr txBox="1"/>
          <p:nvPr/>
        </p:nvSpPr>
        <p:spPr>
          <a:xfrm>
            <a:off x="1257300" y="2266057"/>
            <a:ext cx="4124325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0" u="none" cap="none" strike="noStrike">
                <a:solidFill>
                  <a:srgbClr val="94A3B8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$0</a:t>
            </a:r>
            <a:endParaRPr/>
          </a:p>
        </p:txBody>
      </p:sp>
      <p:sp>
        <p:nvSpPr>
          <p:cNvPr id="219" name="Google Shape;219;p21"/>
          <p:cNvSpPr txBox="1"/>
          <p:nvPr/>
        </p:nvSpPr>
        <p:spPr>
          <a:xfrm>
            <a:off x="1257300" y="3504307"/>
            <a:ext cx="412432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Freemium</a:t>
            </a:r>
            <a:endParaRPr/>
          </a:p>
        </p:txBody>
      </p:sp>
      <p:sp>
        <p:nvSpPr>
          <p:cNvPr id="220" name="Google Shape;220;p21"/>
          <p:cNvSpPr txBox="1"/>
          <p:nvPr/>
        </p:nvSpPr>
        <p:spPr>
          <a:xfrm>
            <a:off x="1257300" y="4018657"/>
            <a:ext cx="4124325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Лимит встреч. Базовое текстовое саммари. Идеальный инструмент для онбординга студентов и обеспечения вирального роста базы.</a:t>
            </a:r>
            <a:endParaRPr/>
          </a:p>
        </p:txBody>
      </p:sp>
      <p:sp>
        <p:nvSpPr>
          <p:cNvPr id="221" name="Google Shape;221;p21"/>
          <p:cNvSpPr txBox="1"/>
          <p:nvPr/>
        </p:nvSpPr>
        <p:spPr>
          <a:xfrm>
            <a:off x="6829425" y="2266057"/>
            <a:ext cx="4124325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0" u="none" cap="none" strike="noStrike">
                <a:solidFill>
                  <a:srgbClr val="FFFFFF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$9.99</a:t>
            </a:r>
            <a:endParaRPr/>
          </a:p>
        </p:txBody>
      </p:sp>
      <p:sp>
        <p:nvSpPr>
          <p:cNvPr id="222" name="Google Shape;222;p21"/>
          <p:cNvSpPr txBox="1"/>
          <p:nvPr/>
        </p:nvSpPr>
        <p:spPr>
          <a:xfrm>
            <a:off x="6829425" y="3504307"/>
            <a:ext cx="412432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BCFE8"/>
                </a:solidFill>
                <a:latin typeface="Inter"/>
                <a:ea typeface="Inter"/>
                <a:cs typeface="Inter"/>
                <a:sym typeface="Inter"/>
              </a:rPr>
              <a:t>Twin PRO</a:t>
            </a:r>
            <a:endParaRPr/>
          </a:p>
        </p:txBody>
      </p:sp>
      <p:sp>
        <p:nvSpPr>
          <p:cNvPr id="223" name="Google Shape;223;p21"/>
          <p:cNvSpPr txBox="1"/>
          <p:nvPr/>
        </p:nvSpPr>
        <p:spPr>
          <a:xfrm>
            <a:off x="6829425" y="4018657"/>
            <a:ext cx="4124325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DF2F8"/>
                </a:solidFill>
                <a:latin typeface="Inter"/>
                <a:ea typeface="Inter"/>
                <a:cs typeface="Inter"/>
                <a:sym typeface="Inter"/>
              </a:rPr>
              <a:t>Безлимитные встречи, режим "Полная невидимка", выгрузка в Telegram/Notion. Основной драйвер монетизации и формирования MRR.</a:t>
            </a:r>
            <a:endParaRPr/>
          </a:p>
        </p:txBody>
      </p:sp>
      <p:sp>
        <p:nvSpPr>
          <p:cNvPr id="224" name="Google Shape;224;p21"/>
          <p:cNvSpPr txBox="1"/>
          <p:nvPr/>
        </p:nvSpPr>
        <p:spPr>
          <a:xfrm>
            <a:off x="762000" y="571500"/>
            <a:ext cx="112014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Этап 4: Решение о модели монетизации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9" name="Google Shape;22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2"/>
          <p:cNvSpPr/>
          <p:nvPr/>
        </p:nvSpPr>
        <p:spPr>
          <a:xfrm>
            <a:off x="762000" y="1339304"/>
            <a:ext cx="10668000" cy="4703266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31" name="Google Shape;231;p22"/>
          <p:cNvGraphicFramePr/>
          <p:nvPr/>
        </p:nvGraphicFramePr>
        <p:xfrm>
          <a:off x="771525" y="133930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{F41AC1F9-D3CE-4902-BC1C-A023A05603F0}</a:tableStyleId>
              </a:tblPr>
              <a:tblGrid>
                <a:gridCol w="4249925"/>
                <a:gridCol w="3194600"/>
                <a:gridCol w="3194900"/>
              </a:tblGrid>
              <a:tr h="783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9D174D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Функция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2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9D174D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Twin Free ($0)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2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831843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Twin PRO ($9.99/мес)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2F8"/>
                    </a:solidFill>
                  </a:tcPr>
                </a:tc>
              </a:tr>
              <a:tr h="783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F172A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Количество митапов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2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3 встречи в месяц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2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DB2777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Безлимитно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2F8"/>
                    </a:solidFill>
                  </a:tcPr>
                </a:tc>
              </a:tr>
              <a:tr h="783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F172A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Длительность встречи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2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До 40 минут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2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До 4 часов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2F8"/>
                    </a:solidFill>
                  </a:tcPr>
                </a:tc>
              </a:tr>
              <a:tr h="783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F172A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Скрытность (Инкогнито)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2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Базовая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2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Максимальная (Маскировка IP)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2F8"/>
                    </a:solidFill>
                  </a:tcPr>
                </a:tc>
              </a:tr>
              <a:tr h="783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F172A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Экспорт результатов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2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Только текст в ЛК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2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Telegram, Notion, PDF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2F8"/>
                    </a:solidFill>
                  </a:tcPr>
                </a:tc>
              </a:tr>
              <a:tr h="783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F172A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Голосовой синтез (участие)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2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25400" marB="25400" marR="63500" marL="2381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2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25400" marB="25400" marR="63500" marL="2667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2F8"/>
                    </a:solidFill>
                  </a:tcPr>
                </a:tc>
              </a:tr>
            </a:tbl>
          </a:graphicData>
        </a:graphic>
      </p:graphicFrame>
      <p:sp>
        <p:nvSpPr>
          <p:cNvPr id="232" name="Google Shape;232;p22"/>
          <p:cNvSpPr/>
          <p:nvPr/>
        </p:nvSpPr>
        <p:spPr>
          <a:xfrm>
            <a:off x="771525" y="2044154"/>
            <a:ext cx="4259460" cy="19050"/>
          </a:xfrm>
          <a:prstGeom prst="rect">
            <a:avLst/>
          </a:prstGeom>
          <a:solidFill>
            <a:srgbClr val="FBCF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2"/>
          <p:cNvSpPr/>
          <p:nvPr/>
        </p:nvSpPr>
        <p:spPr>
          <a:xfrm>
            <a:off x="5030985" y="2044154"/>
            <a:ext cx="3194595" cy="19050"/>
          </a:xfrm>
          <a:prstGeom prst="rect">
            <a:avLst/>
          </a:prstGeom>
          <a:solidFill>
            <a:srgbClr val="FBCF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2"/>
          <p:cNvSpPr/>
          <p:nvPr/>
        </p:nvSpPr>
        <p:spPr>
          <a:xfrm>
            <a:off x="8225581" y="2044154"/>
            <a:ext cx="3194893" cy="19050"/>
          </a:xfrm>
          <a:prstGeom prst="rect">
            <a:avLst/>
          </a:prstGeom>
          <a:solidFill>
            <a:srgbClr val="FBCF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2"/>
          <p:cNvSpPr/>
          <p:nvPr/>
        </p:nvSpPr>
        <p:spPr>
          <a:xfrm>
            <a:off x="771525" y="2794694"/>
            <a:ext cx="425946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2"/>
          <p:cNvSpPr/>
          <p:nvPr/>
        </p:nvSpPr>
        <p:spPr>
          <a:xfrm>
            <a:off x="5030985" y="2794694"/>
            <a:ext cx="319459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2"/>
          <p:cNvSpPr/>
          <p:nvPr/>
        </p:nvSpPr>
        <p:spPr>
          <a:xfrm>
            <a:off x="8225581" y="2794694"/>
            <a:ext cx="3194893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2"/>
          <p:cNvSpPr/>
          <p:nvPr/>
        </p:nvSpPr>
        <p:spPr>
          <a:xfrm>
            <a:off x="771525" y="3535709"/>
            <a:ext cx="425946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2"/>
          <p:cNvSpPr/>
          <p:nvPr/>
        </p:nvSpPr>
        <p:spPr>
          <a:xfrm>
            <a:off x="5030985" y="3535709"/>
            <a:ext cx="319459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2"/>
          <p:cNvSpPr/>
          <p:nvPr/>
        </p:nvSpPr>
        <p:spPr>
          <a:xfrm>
            <a:off x="8225581" y="3535709"/>
            <a:ext cx="3194893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2"/>
          <p:cNvSpPr/>
          <p:nvPr/>
        </p:nvSpPr>
        <p:spPr>
          <a:xfrm>
            <a:off x="771525" y="4551015"/>
            <a:ext cx="425946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2"/>
          <p:cNvSpPr/>
          <p:nvPr/>
        </p:nvSpPr>
        <p:spPr>
          <a:xfrm>
            <a:off x="5030985" y="4551015"/>
            <a:ext cx="319459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2"/>
          <p:cNvSpPr/>
          <p:nvPr/>
        </p:nvSpPr>
        <p:spPr>
          <a:xfrm>
            <a:off x="8225581" y="4551015"/>
            <a:ext cx="3194893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2"/>
          <p:cNvSpPr/>
          <p:nvPr/>
        </p:nvSpPr>
        <p:spPr>
          <a:xfrm>
            <a:off x="771525" y="5292030"/>
            <a:ext cx="425946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2"/>
          <p:cNvSpPr/>
          <p:nvPr/>
        </p:nvSpPr>
        <p:spPr>
          <a:xfrm>
            <a:off x="5030985" y="5292030"/>
            <a:ext cx="319459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2"/>
          <p:cNvSpPr/>
          <p:nvPr/>
        </p:nvSpPr>
        <p:spPr>
          <a:xfrm>
            <a:off x="8225581" y="5292030"/>
            <a:ext cx="3194893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2"/>
          <p:cNvSpPr txBox="1"/>
          <p:nvPr/>
        </p:nvSpPr>
        <p:spPr>
          <a:xfrm>
            <a:off x="762000" y="571500"/>
            <a:ext cx="112014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Детализация тарифной сетки</a:t>
            </a:r>
            <a:endParaRPr/>
          </a:p>
        </p:txBody>
      </p:sp>
      <p:sp>
        <p:nvSpPr>
          <p:cNvPr id="248" name="Google Shape;248;p22"/>
          <p:cNvSpPr txBox="1"/>
          <p:nvPr/>
        </p:nvSpPr>
        <p:spPr>
          <a:xfrm flipH="1" rot="10800000">
            <a:off x="5029325" y="5906425"/>
            <a:ext cx="837000" cy="1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9" name="Google Shape;249;p22"/>
          <p:cNvSpPr txBox="1"/>
          <p:nvPr/>
        </p:nvSpPr>
        <p:spPr>
          <a:xfrm>
            <a:off x="5029325" y="5408688"/>
            <a:ext cx="15930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Не доступна</a:t>
            </a:r>
            <a:endParaRPr sz="135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0" name="Google Shape;250;p22"/>
          <p:cNvSpPr txBox="1"/>
          <p:nvPr/>
        </p:nvSpPr>
        <p:spPr>
          <a:xfrm>
            <a:off x="8296325" y="5465425"/>
            <a:ext cx="2097000" cy="3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Короткие ответы</a:t>
            </a:r>
            <a:endParaRPr sz="135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5" name="Google Shape;25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6" name="Google Shape;256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095375"/>
            <a:ext cx="10668000" cy="5191125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23"/>
          <p:cNvSpPr txBox="1"/>
          <p:nvPr/>
        </p:nvSpPr>
        <p:spPr>
          <a:xfrm>
            <a:off x="1333500" y="5386387"/>
            <a:ext cx="9525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Стратегия Penetration Pricing: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Доступная цена ниже психологической отметки в $10 позволит агрессивно конвертировать Freemium-пользователей.</a:t>
            </a:r>
            <a:endParaRPr/>
          </a:p>
        </p:txBody>
      </p:sp>
      <p:sp>
        <p:nvSpPr>
          <p:cNvPr id="258" name="Google Shape;258;p23"/>
          <p:cNvSpPr txBox="1"/>
          <p:nvPr/>
        </p:nvSpPr>
        <p:spPr>
          <a:xfrm>
            <a:off x="762000" y="571500"/>
            <a:ext cx="112014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Ценовая стратегия и распределение выручки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3" name="Google Shape;26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4"/>
          <p:cNvSpPr txBox="1"/>
          <p:nvPr/>
        </p:nvSpPr>
        <p:spPr>
          <a:xfrm>
            <a:off x="762000" y="571500"/>
            <a:ext cx="5100637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Ожидаемое место на рынке</a:t>
            </a:r>
            <a:endParaRPr/>
          </a:p>
        </p:txBody>
      </p:sp>
      <p:pic>
        <p:nvPicPr>
          <p:cNvPr descr="image.png" id="265" name="Google Shape;265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24"/>
          <p:cNvSpPr txBox="1"/>
          <p:nvPr/>
        </p:nvSpPr>
        <p:spPr>
          <a:xfrm>
            <a:off x="762000" y="2069901"/>
            <a:ext cx="510063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DB2777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Ниша Blue Ocean</a:t>
            </a:r>
            <a:endParaRPr/>
          </a:p>
        </p:txBody>
      </p:sp>
      <p:sp>
        <p:nvSpPr>
          <p:cNvPr id="267" name="Google Shape;267;p24"/>
          <p:cNvSpPr txBox="1"/>
          <p:nvPr/>
        </p:nvSpPr>
        <p:spPr>
          <a:xfrm>
            <a:off x="762000" y="2498526"/>
            <a:ext cx="485775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TwinMeet не борется за корпоративные бюджеты. Наше место — смарт-секретарь для физлиц, спасающий от выгорания.</a:t>
            </a:r>
            <a:endParaRPr/>
          </a:p>
        </p:txBody>
      </p:sp>
      <p:sp>
        <p:nvSpPr>
          <p:cNvPr id="268" name="Google Shape;268;p24"/>
          <p:cNvSpPr txBox="1"/>
          <p:nvPr/>
        </p:nvSpPr>
        <p:spPr>
          <a:xfrm>
            <a:off x="762000" y="3559522"/>
            <a:ext cx="510063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DB2777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Защита от блокировок</a:t>
            </a:r>
            <a:endParaRPr/>
          </a:p>
        </p:txBody>
      </p:sp>
      <p:sp>
        <p:nvSpPr>
          <p:cNvPr id="269" name="Google Shape;269;p24"/>
          <p:cNvSpPr txBox="1"/>
          <p:nvPr/>
        </p:nvSpPr>
        <p:spPr>
          <a:xfrm>
            <a:off x="762000" y="3988147"/>
            <a:ext cx="48577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Отказ от API в пользу браузерного расширения делает продукт "невидимым" для ИТ-безопасности компаний.</a:t>
            </a:r>
            <a:endParaRPr/>
          </a:p>
        </p:txBody>
      </p:sp>
      <p:sp>
        <p:nvSpPr>
          <p:cNvPr id="270" name="Google Shape;270;p24"/>
          <p:cNvSpPr txBox="1"/>
          <p:nvPr/>
        </p:nvSpPr>
        <p:spPr>
          <a:xfrm>
            <a:off x="762000" y="4774852"/>
            <a:ext cx="510063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DB2777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Пути монетизации</a:t>
            </a:r>
            <a:endParaRPr/>
          </a:p>
        </p:txBody>
      </p:sp>
      <p:sp>
        <p:nvSpPr>
          <p:cNvPr id="271" name="Google Shape;271;p24"/>
          <p:cNvSpPr txBox="1"/>
          <p:nvPr/>
        </p:nvSpPr>
        <p:spPr>
          <a:xfrm>
            <a:off x="762000" y="5203477"/>
            <a:ext cx="485775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Широкая воронка Freemium-модели обеспечит органический рост (студенты), а недорогая подписка — стабильный MRR (фрилансеры).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6" name="Google Shape;276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25"/>
          <p:cNvSpPr/>
          <p:nvPr/>
        </p:nvSpPr>
        <p:spPr>
          <a:xfrm>
            <a:off x="762000" y="3910012"/>
            <a:ext cx="10668000" cy="38100"/>
          </a:xfrm>
          <a:prstGeom prst="rect">
            <a:avLst/>
          </a:prstGeom>
          <a:solidFill>
            <a:srgbClr val="FBCF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5"/>
          <p:cNvSpPr txBox="1"/>
          <p:nvPr/>
        </p:nvSpPr>
        <p:spPr>
          <a:xfrm>
            <a:off x="800672" y="4262437"/>
            <a:ext cx="2376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B2777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Q3 202</a:t>
            </a:r>
            <a:r>
              <a:rPr lang="en-US" sz="1800">
                <a:solidFill>
                  <a:srgbClr val="DB2777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6</a:t>
            </a:r>
            <a:r>
              <a:rPr b="0" i="0" lang="en-US" sz="1800" u="none" cap="none" strike="noStrike">
                <a:solidFill>
                  <a:srgbClr val="DB2777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 (Beta)</a:t>
            </a:r>
            <a:endParaRPr/>
          </a:p>
        </p:txBody>
      </p:sp>
      <p:sp>
        <p:nvSpPr>
          <p:cNvPr id="279" name="Google Shape;279;p25"/>
          <p:cNvSpPr txBox="1"/>
          <p:nvPr/>
        </p:nvSpPr>
        <p:spPr>
          <a:xfrm>
            <a:off x="857250" y="4691062"/>
            <a:ext cx="2263080" cy="13714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Закрытое тестирование в студенческой среде. Отладка режима "Инкогнито" и перехвата аудио.</a:t>
            </a:r>
            <a:endParaRPr/>
          </a:p>
        </p:txBody>
      </p:sp>
      <p:sp>
        <p:nvSpPr>
          <p:cNvPr id="280" name="Google Shape;280;p25"/>
          <p:cNvSpPr txBox="1"/>
          <p:nvPr/>
        </p:nvSpPr>
        <p:spPr>
          <a:xfrm>
            <a:off x="3538812" y="1795611"/>
            <a:ext cx="2376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B2777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Q4 202</a:t>
            </a:r>
            <a:r>
              <a:rPr lang="en-US" sz="1800">
                <a:solidFill>
                  <a:srgbClr val="DB2777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6</a:t>
            </a:r>
            <a:r>
              <a:rPr b="0" i="0" lang="en-US" sz="1800" u="none" cap="none" strike="noStrike">
                <a:solidFill>
                  <a:srgbClr val="DB2777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 (Launch)</a:t>
            </a:r>
            <a:endParaRPr/>
          </a:p>
        </p:txBody>
      </p:sp>
      <p:sp>
        <p:nvSpPr>
          <p:cNvPr id="281" name="Google Shape;281;p25"/>
          <p:cNvSpPr txBox="1"/>
          <p:nvPr/>
        </p:nvSpPr>
        <p:spPr>
          <a:xfrm>
            <a:off x="3595389" y="2224236"/>
            <a:ext cx="2263080" cy="13714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Открытый релиз Freemium-версии. Набор критической массы пользователей и вирального охвата.</a:t>
            </a:r>
            <a:endParaRPr/>
          </a:p>
        </p:txBody>
      </p:sp>
      <p:sp>
        <p:nvSpPr>
          <p:cNvPr id="282" name="Google Shape;282;p25"/>
          <p:cNvSpPr txBox="1"/>
          <p:nvPr/>
        </p:nvSpPr>
        <p:spPr>
          <a:xfrm>
            <a:off x="6276952" y="4262437"/>
            <a:ext cx="2376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B2777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Q1 202</a:t>
            </a:r>
            <a:r>
              <a:rPr lang="en-US" sz="1800">
                <a:solidFill>
                  <a:srgbClr val="DB2777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6</a:t>
            </a:r>
            <a:r>
              <a:rPr b="0" i="0" lang="en-US" sz="1800" u="none" cap="none" strike="noStrike">
                <a:solidFill>
                  <a:srgbClr val="DB2777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 (PRO)</a:t>
            </a:r>
            <a:endParaRPr/>
          </a:p>
        </p:txBody>
      </p:sp>
      <p:sp>
        <p:nvSpPr>
          <p:cNvPr id="283" name="Google Shape;283;p25"/>
          <p:cNvSpPr txBox="1"/>
          <p:nvPr/>
        </p:nvSpPr>
        <p:spPr>
          <a:xfrm>
            <a:off x="6333529" y="4691062"/>
            <a:ext cx="2263080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Запуск платной подписки Twin PRO за $9.99. Внедрение экспорта в Telegram и Notion.</a:t>
            </a:r>
            <a:endParaRPr/>
          </a:p>
        </p:txBody>
      </p:sp>
      <p:sp>
        <p:nvSpPr>
          <p:cNvPr id="284" name="Google Shape;284;p25"/>
          <p:cNvSpPr txBox="1"/>
          <p:nvPr/>
        </p:nvSpPr>
        <p:spPr>
          <a:xfrm>
            <a:off x="9015092" y="1795611"/>
            <a:ext cx="2376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B2777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Q2 202</a:t>
            </a:r>
            <a:r>
              <a:rPr lang="en-US" sz="1800">
                <a:solidFill>
                  <a:srgbClr val="DB2777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7</a:t>
            </a:r>
            <a:r>
              <a:rPr b="0" i="0" lang="en-US" sz="1800" u="none" cap="none" strike="noStrike">
                <a:solidFill>
                  <a:srgbClr val="DB2777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 (Scale)</a:t>
            </a:r>
            <a:endParaRPr/>
          </a:p>
        </p:txBody>
      </p:sp>
      <p:sp>
        <p:nvSpPr>
          <p:cNvPr id="285" name="Google Shape;285;p25"/>
          <p:cNvSpPr txBox="1"/>
          <p:nvPr/>
        </p:nvSpPr>
        <p:spPr>
          <a:xfrm>
            <a:off x="9071669" y="2224236"/>
            <a:ext cx="2263080" cy="13714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Масштабирование маркетинга на сегмент фрилансеров и выход на операционную окупаемость.</a:t>
            </a:r>
            <a:endParaRPr/>
          </a:p>
        </p:txBody>
      </p:sp>
      <p:sp>
        <p:nvSpPr>
          <p:cNvPr id="286" name="Google Shape;286;p25"/>
          <p:cNvSpPr/>
          <p:nvPr/>
        </p:nvSpPr>
        <p:spPr>
          <a:xfrm>
            <a:off x="1874490" y="3814762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38100">
            <a:solidFill>
              <a:srgbClr val="DB27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5"/>
          <p:cNvSpPr/>
          <p:nvPr/>
        </p:nvSpPr>
        <p:spPr>
          <a:xfrm>
            <a:off x="4612630" y="3814762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38100">
            <a:solidFill>
              <a:srgbClr val="DB27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5"/>
          <p:cNvSpPr/>
          <p:nvPr/>
        </p:nvSpPr>
        <p:spPr>
          <a:xfrm>
            <a:off x="7350769" y="3814762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38100">
            <a:solidFill>
              <a:srgbClr val="DB27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5"/>
          <p:cNvSpPr/>
          <p:nvPr/>
        </p:nvSpPr>
        <p:spPr>
          <a:xfrm>
            <a:off x="10088909" y="3814762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38100">
            <a:solidFill>
              <a:srgbClr val="DB27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5"/>
          <p:cNvSpPr txBox="1"/>
          <p:nvPr/>
        </p:nvSpPr>
        <p:spPr>
          <a:xfrm>
            <a:off x="762000" y="571500"/>
            <a:ext cx="112014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Дорожная карта запуска монетизации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