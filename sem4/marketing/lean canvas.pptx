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Inter SemiBold" panose="020B0604020202020204" charset="0"/>
      <p:regular r:id="rId24"/>
      <p:bold r:id="rId25"/>
      <p:italic r:id="rId26"/>
      <p:boldItalic r:id="rId27"/>
    </p:embeddedFont>
    <p:embeddedFont>
      <p:font typeface="Montserrat" panose="00000500000000000000" pitchFamily="2" charset="-52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1B22"/>
    <a:srgbClr val="611B22"/>
    <a:srgbClr val="6A47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4C77FC-E514-49E0-AD68-3573412B81C2}">
  <a:tblStyle styleId="{5D4C77FC-E514-49E0-AD68-3573412B81C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5E5076-3810-47DD-B79F-674D7AD40C01}" styleName="Темный стиль 1 —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571500"/>
            <a:ext cx="5300662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TwinMeet</a:t>
            </a:r>
            <a:endParaRPr/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028700" y="2580382"/>
            <a:ext cx="4340542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Твой цифровой двойник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для онлайн-встреч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28700" y="4148137"/>
            <a:ext cx="4133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Авторы проекта: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28700" y="4470052"/>
            <a:ext cx="4133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6EDF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Мацукевич З., Демидов А., Евтух Т.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028700" y="4822477"/>
            <a:ext cx="4133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Группа 421703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6991"/>
            <a:ext cx="3492549" cy="397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886991"/>
            <a:ext cx="3492549" cy="397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886991"/>
            <a:ext cx="3492549" cy="397936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66775" y="3077616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6EDF3"/>
                </a:solidFill>
                <a:latin typeface="Montserrat"/>
                <a:ea typeface="Montserrat"/>
                <a:cs typeface="Montserrat"/>
                <a:sym typeface="Montserrat"/>
              </a:rPr>
              <a:t>IT-специалисты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3525291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Программисты и менеджеры на удаленке. Ранние последователи — это гики и IT-команды, которые предельно перегружены ежедневными рабочими созвонами.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45074" y="3077616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6EDF3"/>
                </a:solidFill>
                <a:latin typeface="Montserrat"/>
                <a:ea typeface="Montserrat"/>
                <a:cs typeface="Montserrat"/>
                <a:sym typeface="Montserrat"/>
              </a:rPr>
              <a:t>Фрилансеры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645074" y="3525291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Независимые специалисты, управляющие множеством проектов одновременно, для которых оптимизация времени на коммуникацию играет ключевую роль.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23374" y="3077616"/>
            <a:ext cx="30470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6EDF3"/>
                </a:solidFill>
                <a:latin typeface="Montserrat"/>
                <a:ea typeface="Montserrat"/>
                <a:cs typeface="Montserrat"/>
                <a:sym typeface="Montserrat"/>
              </a:rPr>
              <a:t>Студенты онлайн-вузов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423374" y="3830091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Учащиеся, вынужденные посещать многочасовые монотонные лекции в сети, где требуется лишь пассивное присутствие без активного интерактива.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325141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3251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325141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Целевая аудитория и ранние последователи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716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4284166"/>
            <a:ext cx="5286375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Недостатки альтернатив:</a:t>
            </a:r>
            <a:r>
              <a:rPr lang="en-US" sz="120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Существующие нейросети генерируют лишь короткие видео и не могут транслировать их как камеру в реальном времени. AR-маски "внимательного взгляда" по-прежнему требуют вашего физического присутствия у экрана.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09625" y="1971675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Выгорание:</a:t>
            </a:r>
            <a:r>
              <a:rPr lang="en-US" sz="13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Сильная усталость от постоянных видеовстреч с обязательно включенной камерой.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09625" y="2710755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Потеря времени:</a:t>
            </a:r>
            <a:r>
              <a:rPr lang="en-US" sz="13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Вынужденное присутствие на созвонах, где требуется только слушать.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09625" y="3449835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Снижение фокуса:</a:t>
            </a:r>
            <a:r>
              <a:rPr lang="en-US" sz="1350" b="0" i="0" u="none" strike="noStrike" cap="none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Риск пропустить важные детали при параллельном выполнении других задач.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81200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193357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829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267265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829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341173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B829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 и существующие альтернативы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1400174" y="2043705"/>
            <a:ext cx="9391650" cy="224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Будь</a:t>
            </a:r>
            <a:r>
              <a:rPr lang="en-US" sz="3150" b="1" i="0" u="none" strike="noStrike" cap="none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150" b="1" i="0" u="none" strike="noStrike" cap="none" dirty="0" err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3150" b="1" i="0" u="none" strike="noStrike" cap="none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 созвоне, </a:t>
            </a:r>
            <a:r>
              <a:rPr lang="en-US" sz="3150" b="1" i="0" u="none" strike="noStrike" cap="none" dirty="0" err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занимаясь</a:t>
            </a:r>
            <a:r>
              <a:rPr lang="en-US" sz="3150" b="1" i="0" u="none" strike="noStrike" cap="none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150" b="1" i="0" u="none" strike="noStrike" cap="none" dirty="0" err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своими</a:t>
            </a:r>
            <a:r>
              <a:rPr lang="en-US" sz="3150" b="1" i="0" u="none" strike="noStrike" cap="none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150" b="1" i="0" u="none" strike="noStrike" cap="none" dirty="0" err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делами</a:t>
            </a:r>
            <a:r>
              <a:rPr lang="en-US" sz="3150" b="1" i="0" u="none" strike="noStrike" cap="none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3150" b="1" i="0" u="none" strike="noStrike" cap="none" dirty="0" err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Твой</a:t>
            </a:r>
            <a:r>
              <a:rPr lang="en-US" sz="3150" b="1" i="0" u="none" strike="noStrike" cap="none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150" b="1" i="0" u="none" strike="noStrike" cap="none" dirty="0" err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цифровой</a:t>
            </a:r>
            <a:r>
              <a:rPr lang="en-US" sz="3150" b="1" i="0" u="none" strike="noStrike" cap="none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150" b="1" i="0" u="none" strike="noStrike" cap="none" dirty="0" err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двойник</a:t>
            </a:r>
            <a:r>
              <a:rPr lang="en-US" sz="3150" b="1" i="0" u="none" strike="noStrike" cap="none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150" b="1" i="0" u="none" strike="noStrike" cap="none" dirty="0" err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поддержит</a:t>
            </a:r>
            <a:r>
              <a:rPr lang="en-US" sz="3150" b="1" i="0" u="none" strike="noStrike" cap="none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150" b="1" i="0" u="none" strike="noStrike" cap="none" dirty="0" err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эффект</a:t>
            </a:r>
            <a:r>
              <a:rPr lang="en-US" sz="3150" b="1" i="0" u="none" strike="noStrike" cap="none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150" b="1" i="0" u="none" strike="noStrike" cap="none" dirty="0" err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присутствия</a:t>
            </a:r>
            <a:r>
              <a:rPr lang="en-US" sz="3150" b="1" i="0" u="none" strike="noStrike" cap="none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, а </a:t>
            </a:r>
            <a:r>
              <a:rPr lang="en-US" sz="3150" b="1" i="0" u="none" strike="noStrike" cap="none" dirty="0" err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после</a:t>
            </a:r>
            <a:r>
              <a:rPr lang="en-US" sz="3150" b="1" i="0" u="none" strike="noStrike" cap="none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150" b="1" i="0" u="none" strike="noStrike" cap="none" dirty="0" err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встречи</a:t>
            </a:r>
            <a:r>
              <a:rPr lang="en-US" sz="3150" b="1" i="0" u="none" strike="noStrike" cap="none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150" b="1" i="0" u="none" strike="noStrike" cap="none" dirty="0" err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выдаст</a:t>
            </a:r>
            <a:r>
              <a:rPr lang="en-US" sz="3150" b="1" i="0" u="none" strike="noStrike" cap="none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150" b="1" i="0" u="none" strike="noStrike" cap="none" dirty="0" err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готовый</a:t>
            </a:r>
            <a:r>
              <a:rPr lang="en-US" sz="3150" b="1" i="0" u="none" strike="noStrike" cap="none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150" b="1" i="0" u="none" strike="noStrike" cap="none" dirty="0" err="1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конспект</a:t>
            </a:r>
            <a:r>
              <a:rPr lang="en-US" sz="3150" b="1" i="0" u="none" strike="noStrike" cap="none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3509962" y="5063430"/>
            <a:ext cx="51720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— Наше уникальное торговое предложение (УТП)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019175" y="2823269"/>
            <a:ext cx="495300" cy="139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30363D"/>
                </a:solidFill>
                <a:latin typeface="Montserrat"/>
                <a:ea typeface="Montserrat"/>
                <a:cs typeface="Montserrat"/>
                <a:sym typeface="Montserrat"/>
              </a:rPr>
              <a:t>"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0677525" y="4872935"/>
            <a:ext cx="495300" cy="1390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30363D"/>
                </a:solidFill>
                <a:latin typeface="Montserrat"/>
                <a:ea typeface="Montserrat"/>
                <a:cs typeface="Montserrat"/>
                <a:sym typeface="Montserrat"/>
              </a:rPr>
              <a:t>"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Уникальная ценность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4937" y="2066925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6334125" y="2132707"/>
            <a:ext cx="555069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Десктопное ИИ-приложение TwinMeet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334125" y="2770882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Наша разработка представляет собой интуитивно понятную </a:t>
            </a:r>
            <a:r>
              <a:rPr lang="en-US" sz="1350" b="1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десктопную программу</a:t>
            </a: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со встроенными алгоритмами искусственного интеллекта.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334125" y="3784252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Она генерирует вашего </a:t>
            </a:r>
            <a:r>
              <a:rPr lang="en-US" sz="1350" b="1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автономного аватара</a:t>
            </a: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в режиме реального времени. Аватар оснащен базовыми голосовыми реакциями для органичного поддержания диалога.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334125" y="4797623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Дополнительно сервис включает функцию </a:t>
            </a:r>
            <a:r>
              <a:rPr lang="en-US" sz="1350" b="1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умного анализа текста</a:t>
            </a: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, которая автоматически слушает спикеров и готовит подробную выжимку по итогам совещания.</a:t>
            </a:r>
            <a:endParaRPr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14462" y="2076450"/>
            <a:ext cx="36004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Решение проблемы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06972"/>
            <a:ext cx="5286375" cy="3339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06972"/>
            <a:ext cx="5286375" cy="333925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962025" y="2597497"/>
            <a:ext cx="473059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Таргетинг и Интеграции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962025" y="3045172"/>
            <a:ext cx="4505325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Запуск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узконаправленной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таргетированной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рекламы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площадках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Telegram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350" b="1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LinkedIn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ориентированной</a:t>
            </a:r>
            <a:r>
              <a:rPr lang="en-US" sz="1350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350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IT.</a:t>
            </a:r>
            <a:endParaRPr dirty="0"/>
          </a:p>
        </p:txBody>
      </p:sp>
      <p:sp>
        <p:nvSpPr>
          <p:cNvPr id="155" name="Google Shape;155;p18"/>
          <p:cNvSpPr txBox="1"/>
          <p:nvPr/>
        </p:nvSpPr>
        <p:spPr>
          <a:xfrm>
            <a:off x="962025" y="4058542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Официальное размещение нашего программного решения в </a:t>
            </a:r>
            <a:r>
              <a:rPr lang="en-US" sz="1350" b="1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каталогах плагинов</a:t>
            </a: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и дополнений для популярных платформ: Zoom и Google Meet.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724650" y="2597497"/>
            <a:ext cx="4730591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Виральный контент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724650" y="3045172"/>
            <a:ext cx="45053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Сотрудничество с </a:t>
            </a:r>
            <a:r>
              <a:rPr lang="en-US" sz="1350" b="1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техноблогерами</a:t>
            </a: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на платформах YouTube и TikTok для создания нативных обзоров "вау-продукта".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724650" y="4058542"/>
            <a:ext cx="450532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Запуск вирусных видеороликов с юмористическим посылом, демонстрирующих работу приложения (например, форматы в духе </a:t>
            </a:r>
            <a:r>
              <a:rPr lang="en-US" sz="1350" b="0" i="1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«Как я спал на совещании»</a:t>
            </a: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Каналы продвижения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6991"/>
            <a:ext cx="11049000" cy="397936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6" name="Google Shape;166;p19"/>
          <p:cNvGraphicFramePr/>
          <p:nvPr>
            <p:extLst>
              <p:ext uri="{D42A27DB-BD31-4B8C-83A1-F6EECF244321}">
                <p14:modId xmlns:p14="http://schemas.microsoft.com/office/powerpoint/2010/main" val="3078657600"/>
              </p:ext>
            </p:extLst>
          </p:nvPr>
        </p:nvGraphicFramePr>
        <p:xfrm>
          <a:off x="710214" y="1896516"/>
          <a:ext cx="10900786" cy="3960300"/>
        </p:xfrm>
        <a:graphic>
          <a:graphicData uri="http://schemas.openxmlformats.org/drawingml/2006/table">
            <a:tbl>
              <a:tblPr firstRow="1" bandRow="1">
                <a:noFill/>
                <a:tableStyleId>{5D4C77FC-E514-49E0-AD68-3573412B81C2}</a:tableStyleId>
              </a:tblPr>
              <a:tblGrid>
                <a:gridCol w="1562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0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7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00F0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Уровень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00F0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Доступное</a:t>
                      </a:r>
                      <a:r>
                        <a:rPr lang="en-US" sz="1500" b="1" i="0" u="none" strike="noStrike" cap="none" dirty="0">
                          <a:solidFill>
                            <a:srgbClr val="00F0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00F0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время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00F0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Доступный</a:t>
                      </a:r>
                      <a:r>
                        <a:rPr lang="en-US" sz="1500" b="1" i="0" u="none" strike="noStrike" cap="none" dirty="0">
                          <a:solidFill>
                            <a:srgbClr val="00F0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00F0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функционал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E6EDF3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Free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часа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в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месяц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Генерация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визуального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аватара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без</a:t>
                      </a:r>
                      <a:r>
                        <a:rPr lang="en-US" sz="1350" b="1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поддержки</a:t>
                      </a:r>
                      <a:r>
                        <a:rPr lang="en-US" sz="1350" b="1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голоса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Идеально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для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тестирования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платформы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на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коротких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лекциях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00F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часов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в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месяц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Визуальный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аватар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+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включен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анализ</a:t>
                      </a:r>
                      <a:r>
                        <a:rPr lang="en-US" sz="1350" b="1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и </a:t>
                      </a:r>
                      <a:r>
                        <a:rPr lang="en-US" sz="1350" b="1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подготовка</a:t>
                      </a:r>
                      <a:r>
                        <a:rPr lang="en-US" sz="1350" b="1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выжимки</a:t>
                      </a:r>
                      <a:r>
                        <a:rPr lang="en-US" sz="1350" b="1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текста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с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прошедшего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совещания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(Summary).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B829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ULTRA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Безлимитно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Полный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доступ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: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все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функции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+ </a:t>
                      </a:r>
                      <a:r>
                        <a:rPr lang="en-US" sz="1350" b="1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генерация</a:t>
                      </a:r>
                      <a:r>
                        <a:rPr lang="en-US" sz="1350" b="1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голосовых</a:t>
                      </a:r>
                      <a:r>
                        <a:rPr lang="en-US" sz="1350" b="1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ответов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Ваш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полностью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автономный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цифровой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двойник</a:t>
                      </a:r>
                      <a:r>
                        <a:rPr lang="en-US" sz="1350" b="0" i="0" u="none" strike="noStrike" cap="none" dirty="0">
                          <a:solidFill>
                            <a:srgbClr val="A0AEC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7" name="Google Shape;167;p19"/>
          <p:cNvSpPr/>
          <p:nvPr/>
        </p:nvSpPr>
        <p:spPr>
          <a:xfrm>
            <a:off x="581025" y="2806154"/>
            <a:ext cx="1909316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2490341" y="2806154"/>
            <a:ext cx="201989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4510236" y="2806154"/>
            <a:ext cx="710073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581025" y="3821459"/>
            <a:ext cx="1909316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2490341" y="3821459"/>
            <a:ext cx="201989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4510236" y="3821459"/>
            <a:ext cx="710073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81025" y="4836765"/>
            <a:ext cx="1909316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2490341" y="4836765"/>
            <a:ext cx="2019895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4510236" y="4836765"/>
            <a:ext cx="710073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Потоки прибыли (Подписка)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39390"/>
            <a:ext cx="3492549" cy="3864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039390"/>
            <a:ext cx="3492549" cy="3864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039390"/>
            <a:ext cx="3492549" cy="386425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866775" y="3230016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6EDF3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Разработка ИИ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66775" y="3677691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Инвестиции в проектирование, обучение и оптимизацию алгоритмов компьютерного зрения, а также мощных модулей синтеза и семантического анализа речи.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4645074" y="3230016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6EDF3"/>
                </a:solidFill>
                <a:latin typeface="Montserrat"/>
                <a:ea typeface="Montserrat"/>
                <a:cs typeface="Montserrat"/>
                <a:sym typeface="Montserrat"/>
              </a:rPr>
              <a:t>Инфраструктура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4645074" y="3677691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Регулярная оплата и техническое содержание высокопроизводительных GPU-серверных мощностей, необходимых для рендеринга аватаров в реальном времени.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8423374" y="3230016"/>
            <a:ext cx="30470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6EDF3"/>
                </a:solidFill>
                <a:latin typeface="Montserrat"/>
                <a:ea typeface="Montserrat"/>
                <a:cs typeface="Montserrat"/>
                <a:sym typeface="Montserrat"/>
              </a:rPr>
              <a:t>Маркетинг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423374" y="3677691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Бюджет на таргетированную рекламу, продакшн вирусного контента и оплату интеграций с ключевыми лидерами мнений (инфлюенсерами).</a:t>
            </a:r>
            <a:endParaRPr/>
          </a:p>
        </p:txBody>
      </p:sp>
      <p:pic>
        <p:nvPicPr>
          <p:cNvPr id="191" name="Google Shape;19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4775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4775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47754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 издержек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19;p22" descr="image.png">
            <a:extLst>
              <a:ext uri="{FF2B5EF4-FFF2-40B4-BE49-F238E27FC236}">
                <a16:creationId xmlns:a16="http://schemas.microsoft.com/office/drawing/2014/main" id="{9550A3FD-580F-4E0B-B0D5-BD0095EE8C7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1886991"/>
            <a:ext cx="3492549" cy="417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886991"/>
            <a:ext cx="3492549" cy="397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18;p22" descr="image.png">
            <a:extLst>
              <a:ext uri="{FF2B5EF4-FFF2-40B4-BE49-F238E27FC236}">
                <a16:creationId xmlns:a16="http://schemas.microsoft.com/office/drawing/2014/main" id="{76314D3F-7D59-46BA-A326-642AA00E8A3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886991"/>
            <a:ext cx="3492549" cy="417645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866775" y="3077616"/>
            <a:ext cx="30470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6EDF3"/>
                </a:solidFill>
                <a:latin typeface="Montserrat"/>
                <a:ea typeface="Montserrat"/>
                <a:cs typeface="Montserrat"/>
                <a:sym typeface="Montserrat"/>
              </a:rPr>
              <a:t>Awareness (Осведомленность)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866775" y="3830091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Охваты в соцсетях, упоминания в СМИ и запросы в поиске. Продукт вызывает споры (этично ли спать на лекции?). Главная задача — создать хайп.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4645074" y="3077616"/>
            <a:ext cx="30470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6EDF3"/>
                </a:solidFill>
                <a:latin typeface="Montserrat"/>
                <a:ea typeface="Montserrat"/>
                <a:cs typeface="Montserrat"/>
                <a:sym typeface="Montserrat"/>
              </a:rPr>
              <a:t>Acquisition (Привлечение)</a:t>
            </a:r>
            <a:endParaRPr/>
          </a:p>
        </p:txBody>
      </p:sp>
      <p:pic>
        <p:nvPicPr>
          <p:cNvPr id="18" name="Google Shape;220;p22" descr="image.png">
            <a:extLst>
              <a:ext uri="{FF2B5EF4-FFF2-40B4-BE49-F238E27FC236}">
                <a16:creationId xmlns:a16="http://schemas.microsoft.com/office/drawing/2014/main" id="{EEF80438-DBA4-4833-8CFC-1BD1CFDA614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1886991"/>
            <a:ext cx="3492549" cy="417645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4645074" y="3830091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Трафик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сайт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стоимость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перехода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количество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регистраций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Мы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конвертируем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хайп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от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вирусных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роликов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в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прямой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интерес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скачивания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продукта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07" name="Google Shape;207;p21"/>
          <p:cNvSpPr txBox="1"/>
          <p:nvPr/>
        </p:nvSpPr>
        <p:spPr>
          <a:xfrm>
            <a:off x="8423374" y="3077616"/>
            <a:ext cx="30470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6EDF3"/>
                </a:solidFill>
                <a:latin typeface="Montserrat"/>
                <a:ea typeface="Montserrat"/>
                <a:cs typeface="Montserrat"/>
                <a:sym typeface="Montserrat"/>
              </a:rPr>
              <a:t>Activation (Активация)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8423374" y="3830091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Процент пользователей, успешно сгенерировавших аватара по фото и запустивших тестовый созвон. Процесс загрузки должен быть максимально быстрым.</a:t>
            </a:r>
            <a:endParaRPr/>
          </a:p>
        </p:txBody>
      </p:sp>
      <p:pic>
        <p:nvPicPr>
          <p:cNvPr id="209" name="Google Shape;20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325141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325141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325141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Ключевые</a:t>
            </a:r>
            <a:r>
              <a:rPr lang="en-US" sz="33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3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метрики</a:t>
            </a:r>
            <a:r>
              <a:rPr lang="en-US" sz="33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(AAARRR)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6991"/>
            <a:ext cx="3492549" cy="417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886991"/>
            <a:ext cx="3492549" cy="4176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886991"/>
            <a:ext cx="3492549" cy="417645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866775" y="3077616"/>
            <a:ext cx="30470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6EDF3"/>
                </a:solidFill>
                <a:latin typeface="Montserrat"/>
                <a:ea typeface="Montserrat"/>
                <a:cs typeface="Montserrat"/>
                <a:sym typeface="Montserrat"/>
              </a:rPr>
              <a:t>Retention (Удержание)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866775" y="3830091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Ежемесячное количество созвонов с двойником. Самый важный этап: если аватар выглядит неестественно, клиент уйдет. Если босс не заметил — это успех.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4645074" y="3077616"/>
            <a:ext cx="30470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6EDF3"/>
                </a:solidFill>
                <a:latin typeface="Montserrat"/>
                <a:ea typeface="Montserrat"/>
                <a:cs typeface="Montserrat"/>
                <a:sym typeface="Montserrat"/>
              </a:rPr>
              <a:t>Referral (Виральность)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4645074" y="3830091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Коэффициент виральности. Продукт "скрытный", поэтому шеринг идет по реферальным ссылкам исключительно среди коллег одного уровня в компании.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8423374" y="3077616"/>
            <a:ext cx="304709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E6EDF3"/>
                </a:solidFill>
                <a:latin typeface="Montserrat"/>
                <a:ea typeface="Montserrat"/>
                <a:cs typeface="Montserrat"/>
                <a:sym typeface="Montserrat"/>
              </a:rPr>
              <a:t>Revenue (Доходность)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8423374" y="3830091"/>
            <a:ext cx="2901999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Доходы от платных подписок. Пользователь готов платить, когда исчерпал бесплатные 2 часа и понимает, что завтра ему предстоит долгая монотонная встреча.</a:t>
            </a:r>
            <a:endParaRPr/>
          </a:p>
        </p:txBody>
      </p:sp>
      <p:pic>
        <p:nvPicPr>
          <p:cNvPr id="227" name="Google Shape;22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325141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325141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32514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Ключевые</a:t>
            </a:r>
            <a:r>
              <a:rPr lang="en-US" sz="33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3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метрики</a:t>
            </a:r>
            <a:r>
              <a:rPr lang="en-US" sz="33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(AAARRR)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571500" y="571500"/>
            <a:ext cx="5300662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Скрытое преимущество</a:t>
            </a:r>
            <a:endParaRPr/>
          </a:p>
        </p:txBody>
      </p:sp>
      <p:pic>
        <p:nvPicPr>
          <p:cNvPr id="237" name="Google Shape;2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571500" y="2067966"/>
            <a:ext cx="5300662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Технологический барьер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571500" y="2610891"/>
            <a:ext cx="50482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Бесшовная</a:t>
            </a:r>
            <a:r>
              <a:rPr lang="en-US" sz="1350" b="1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интеграция</a:t>
            </a:r>
            <a:r>
              <a:rPr lang="en-US" sz="1350" b="1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(ОС):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Сервис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эмулирует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аппаратную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веб-камеру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Его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невозможно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обнаружить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или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заблокировать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со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стороны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алгоритмов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Zoom, Teams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или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Meet.</a:t>
            </a:r>
            <a:endParaRPr dirty="0"/>
          </a:p>
        </p:txBody>
      </p:sp>
      <p:sp>
        <p:nvSpPr>
          <p:cNvPr id="240" name="Google Shape;240;p23"/>
          <p:cNvSpPr txBox="1"/>
          <p:nvPr/>
        </p:nvSpPr>
        <p:spPr>
          <a:xfrm>
            <a:off x="571500" y="3898552"/>
            <a:ext cx="50482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Естественная микромимика:</a:t>
            </a:r>
            <a:r>
              <a:rPr lang="en-US" sz="135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Наша ИИ-модель симулирует дыхание, моргание и кивки в такт речи собеседников, создавая абсолютную, неотличимую иллюзию присутствия.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571500" y="5186213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All-in-One </a:t>
            </a:r>
            <a:r>
              <a:rPr lang="en-US" sz="1350" b="1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архитектура</a:t>
            </a:r>
            <a:r>
              <a:rPr lang="en-US" sz="1350" b="1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Мы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единственные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кто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объединил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реалистичный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видео-аватар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генерацию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голоса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умную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саммаризацию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текста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в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единое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автономное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приложение</a:t>
            </a:r>
            <a:r>
              <a:rPr lang="en-US" sz="1350" b="0" i="0" u="none" strike="noStrike" cap="none" dirty="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295275" y="2311747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b="1" dirty="0">
                <a:solidFill>
                  <a:srgbClr val="00F0FF"/>
                </a:solidFill>
                <a:latin typeface="Montserrat"/>
                <a:ea typeface="Montserrat"/>
                <a:cs typeface="Montserrat"/>
                <a:sym typeface="Montserrat"/>
              </a:rPr>
              <a:t>СПАСИБО</a:t>
            </a:r>
            <a:endParaRPr dirty="0"/>
          </a:p>
        </p:txBody>
      </p:sp>
      <p:sp>
        <p:nvSpPr>
          <p:cNvPr id="248" name="Google Shape;248;p24"/>
          <p:cNvSpPr txBox="1"/>
          <p:nvPr/>
        </p:nvSpPr>
        <p:spPr>
          <a:xfrm>
            <a:off x="571500" y="3426172"/>
            <a:ext cx="110490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за</a:t>
            </a:r>
            <a:r>
              <a:rPr lang="en-US" sz="19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внимание</a:t>
            </a:r>
            <a:r>
              <a:rPr lang="en-US" sz="19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к </a:t>
            </a:r>
            <a:r>
              <a:rPr lang="en-US" sz="1950" b="0" i="0" u="none" strike="noStrike" cap="none" dirty="0" err="1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проекту</a:t>
            </a:r>
            <a:r>
              <a:rPr lang="en-US" sz="19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950" b="1" dirty="0" err="1">
                <a:solidFill>
                  <a:srgbClr val="00F0FF"/>
                </a:solidFill>
                <a:latin typeface="Inter" panose="020B0604020202020204" charset="0"/>
                <a:ea typeface="Inter" panose="020B0604020202020204" charset="0"/>
                <a:sym typeface="Inter"/>
              </a:rPr>
              <a:t>TwinMeet</a:t>
            </a:r>
            <a:r>
              <a:rPr lang="en-US" sz="1950" b="0" i="0" u="none" strike="noStrike" cap="none" dirty="0">
                <a:solidFill>
                  <a:srgbClr val="E6EDF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950" dirty="0"/>
          </a:p>
        </p:txBody>
      </p:sp>
      <p:sp>
        <p:nvSpPr>
          <p:cNvPr id="249" name="Google Shape;249;p24"/>
          <p:cNvSpPr txBox="1"/>
          <p:nvPr/>
        </p:nvSpPr>
        <p:spPr>
          <a:xfrm>
            <a:off x="571500" y="4298602"/>
            <a:ext cx="1104900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 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Команда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: Мацукевич З.,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Демидов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А.,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Евтух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Т. | </a:t>
            </a:r>
            <a:r>
              <a:rPr lang="en-US" sz="1650" b="0" i="0" u="none" strike="noStrike" cap="none" dirty="0" err="1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Группа</a:t>
            </a:r>
            <a:r>
              <a:rPr lang="en-US" sz="1650" b="0" i="0" u="none" strike="noStrike" cap="none" dirty="0">
                <a:solidFill>
                  <a:srgbClr val="8B949E"/>
                </a:solidFill>
                <a:latin typeface="Inter"/>
                <a:ea typeface="Inter"/>
                <a:cs typeface="Inter"/>
                <a:sym typeface="Inter"/>
              </a:rPr>
              <a:t> 421703</a:t>
            </a:r>
            <a:endParaRPr dirty="0"/>
          </a:p>
        </p:txBody>
      </p:sp>
      <p:pic>
        <p:nvPicPr>
          <p:cNvPr id="250" name="Google Shape;25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7012" y="4317652"/>
            <a:ext cx="26670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/>
          <p:nvPr/>
        </p:nvSpPr>
        <p:spPr>
          <a:xfrm>
            <a:off x="571500" y="221277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319563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3980408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3186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31861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39708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39708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475565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475565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613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1666875" y="235565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https://png.pngtree.com/background/20240112/original/pngtree-digital-3d-figurative-illustration-a-futuristic-abstract-portrait-with-glowing-fluid-picture-image_7236000.jpg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666875" y="279945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id="268" name="Google Shape;26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450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666875" y="333851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https://images.pond5.com/vertical-screen-exhausted-person-rests-footage-316702634_iconl.jpeg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1666875" y="358422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www.pond5.com</a:t>
            </a:r>
            <a:endParaRPr/>
          </a:p>
        </p:txBody>
      </p:sp>
      <p:pic>
        <p:nvPicPr>
          <p:cNvPr id="271" name="Google Shape;271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298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1666875" y="412328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https://dp0rksi384o97.cloudfront.net/media/4294/conversions/ai-avatar-generator-webp.webp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1666875" y="436899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flixier.com</a:t>
            </a:r>
            <a:endParaRPr/>
          </a:p>
        </p:txBody>
      </p:sp>
      <p:pic>
        <p:nvPicPr>
          <p:cNvPr id="274" name="Google Shape;274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91460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 txBox="1"/>
          <p:nvPr/>
        </p:nvSpPr>
        <p:spPr>
          <a:xfrm>
            <a:off x="1666875" y="490805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https://www.dell.com/wp-uploads/2025/06/Firefly_A-glowing-AI-circuit-board-in-a-futuristic-high-tech-environment-surrounded-by-inter-463033.jpg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1666875" y="515376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www.dell.com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832</Words>
  <Application>Microsoft Office PowerPoint</Application>
  <PresentationFormat>Широкоэкранный</PresentationFormat>
  <Paragraphs>88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Montserrat</vt:lpstr>
      <vt:lpstr>Inter SemiBold</vt:lpstr>
      <vt:lpstr>Calibri</vt:lpstr>
      <vt:lpstr>Inter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Захар Мацукевич</cp:lastModifiedBy>
  <cp:revision>4</cp:revision>
  <dcterms:modified xsi:type="dcterms:W3CDTF">2026-03-02T10:04:55Z</dcterms:modified>
</cp:coreProperties>
</file>