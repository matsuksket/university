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FC3C6C-5BF4-485C-83E2-D198DE436BBE}">
  <a:tblStyle styleId="{C8FC3C6C-5BF4-485C-83E2-D198DE436B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558355"/>
            <a:ext cx="9001125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831843"/>
                </a:solidFill>
                <a:latin typeface="Poppins"/>
                <a:ea typeface="Poppins"/>
                <a:cs typeface="Poppins"/>
                <a:sym typeface="Poppins"/>
              </a:rPr>
              <a:t>Бизнес-отчет: TwinMeet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809750" y="3480345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E185D"/>
                </a:solidFill>
                <a:latin typeface="Lato"/>
                <a:ea typeface="Lato"/>
                <a:cs typeface="Lato"/>
                <a:sym typeface="Lato"/>
              </a:rPr>
              <a:t>Определение бизнес-требований, границ продукта и разработка стратегии ценообразования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619750" y="2566987"/>
            <a:ext cx="952500" cy="47625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762645" y="2900362"/>
            <a:ext cx="866670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31843"/>
                </a:solidFill>
                <a:latin typeface="Poppins"/>
                <a:ea typeface="Poppins"/>
                <a:cs typeface="Poppins"/>
                <a:sym typeface="Poppins"/>
              </a:rPr>
              <a:t>ЧАСТЬ 1: Бизнес-требования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286000" y="3948112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E185D"/>
                </a:solidFill>
                <a:latin typeface="Lato"/>
                <a:ea typeface="Lato"/>
                <a:cs typeface="Lato"/>
                <a:sym typeface="Lato"/>
              </a:rPr>
              <a:t>Анализ возможностей, определение объема работы и профилей целевой аудитории.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571500" y="1524000"/>
            <a:ext cx="52863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Создание абсолютно новой рыночной ниши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«Цифровых заместителей»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TwinMeet позволяет монетизировать острую потребность удаленных сотрудников в сохранении фокусного времени и снижении стресса.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714375" y="26955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809625" y="26955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Захват рынка: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Достичь 10 000 активных пользователей (MAU) к концу первого года после релиза.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714375" y="33528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809625" y="33528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Финансовая цель: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Конвертировать 7-10% бесплатных пользователей в платных подписчиков (Pro/Ultra).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14375" y="40100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09625" y="40100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Точка окупаемости: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Выход на Break-even point к 9-му месяцу работы проекта.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14375" y="46672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09625" y="46672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Удержание (Retention):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Сохранение &gt; 60% аудитории к 3-му месяцу использования.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5240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Бизнес-цели и возможности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24000"/>
            <a:ext cx="34290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524000"/>
            <a:ext cx="34290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524000"/>
            <a:ext cx="34290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866775" y="2552700"/>
            <a:ext cx="226028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Release 1 (MVP)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66775" y="3095625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Поддержка ОС Windows. Локальная генерация базовых движений головы и глаз (генерация молчаливого присутствия). Интеграция на уровне драйвера веб-камеры.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676775" y="2552700"/>
            <a:ext cx="135016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Release 2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676775" y="3095625"/>
            <a:ext cx="28384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Поддержка macOS. Внедрение «Горячих клавиш» для анимаций с голосом. Адаптивное поведение ИИ (реагирование мимикой на аудиопоток текущей встречи).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486775" y="2552700"/>
            <a:ext cx="182569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Ограничения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86775" y="3095625"/>
            <a:ext cx="28384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В первые релизы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не входит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генерация свободной осмысленной речи (диалог). Это связано с высокой задержкой (latency) и риском передачи неверной информации.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8669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18669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18669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Определение границ продукта (Scope)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2286000" y="1524000"/>
            <a:ext cx="80962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Технологические риски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Обновление систем Zoom/Teams с детекторами виртуальных камер.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Решение: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Работа на глубоком уровне ОС в качестве системного драйвера.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2286000" y="2609850"/>
            <a:ext cx="80962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Репутационные риски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Блокировка со стороны корпоративного сектора (B2B).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Решение: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Строгий фокус на B2C сегмент, позиционирование как инструмента защиты здоровья от выгорания.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2286000" y="3952875"/>
            <a:ext cx="80962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Инфраструктурные риски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Высокие затраты на серверные мощности для нейросетей при масштабировании пользовательской базы.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2286000" y="5038725"/>
            <a:ext cx="80962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Целевая аудитория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IT-специалисты (ядро с высокой стоимостью часа) и офисные "удаленщики" (массовый сегмент, требующий простоты Plug&amp;Play).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15382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62413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671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5053012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Бизнес-риски и профили аудитории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5619750" y="2724150"/>
            <a:ext cx="952500" cy="47625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739986" y="3057525"/>
            <a:ext cx="871202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31843"/>
                </a:solidFill>
                <a:latin typeface="Poppins"/>
                <a:ea typeface="Poppins"/>
                <a:cs typeface="Poppins"/>
                <a:sym typeface="Poppins"/>
              </a:rPr>
              <a:t>ЧАСТЬ 2: Справедливая цена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2357586" y="4105275"/>
            <a:ext cx="747667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E185D"/>
                </a:solidFill>
                <a:latin typeface="Lato"/>
                <a:ea typeface="Lato"/>
                <a:cs typeface="Lato"/>
                <a:sym typeface="Lato"/>
              </a:rPr>
              <a:t>Определение драйверов ценности и построение финансовой карты продукта.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Драйверы экономической ценности</a:t>
            </a:r>
            <a:endParaRPr/>
          </a:p>
        </p:txBody>
      </p:sp>
      <p:pic>
        <p:nvPicPr>
          <p:cNvPr descr="image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571500" y="2095500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Мы используем метод </a:t>
            </a:r>
            <a:r>
              <a:rPr b="1" i="0" lang="en-US" sz="1425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Value-Based Pricing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Пользователь покупает не программу, а свободное время и безопасность.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71500" y="2857202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1. Драйвер времени: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Высвобождение до 20 часов/мес (для IT-специалиста это около $500 прямой финансовой выгоды).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3618904"/>
            <a:ext cx="52863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2. Драйвер карьеры: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Инвестиции времени в KPI и снижение количества ошибок повышают вероятность получения премии (+$50/мес).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4670077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3. Драйвер здоровья: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Снижение стресса («Zoom-выгорания») и физической нагрузки на позвоночник и зрение.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5431780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831843"/>
                </a:solidFill>
                <a:latin typeface="Lato"/>
                <a:ea typeface="Lato"/>
                <a:cs typeface="Lato"/>
                <a:sym typeface="Lato"/>
              </a:rPr>
              <a:t>4. Драйвер безопасности: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Исключение риска штрафов и выговоров за отсутствие на совещаниях.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p20"/>
          <p:cNvGraphicFramePr/>
          <p:nvPr/>
        </p:nvGraphicFramePr>
        <p:xfrm>
          <a:off x="571500" y="1524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{C8FC3C6C-5BF4-485C-83E2-D198DE436BBE}</a:tableStyleId>
              </a:tblPr>
              <a:tblGrid>
                <a:gridCol w="3548500"/>
                <a:gridCol w="2978500"/>
                <a:gridCol w="2800650"/>
                <a:gridCol w="1711825"/>
              </a:tblGrid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Параметры ценности (в месяц)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Альтернатива: "Без камеры"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Альтернатива: OBS Studio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3184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TwinMeet Pro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8"/>
                    </a:solidFill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Базовая цена альтернативы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Искомая цена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Экономия времени (в часах)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часов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часов (5ч на настройку)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часов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Драйвер времени (Финансовая)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$375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Драйвер карьеры (KPI / Премии)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$0 (Недоверие HR)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Риск штрафа / Драйвер безопасности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Очень высокий (-$400)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Высокий (-$250)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Низкий (-$25)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Экономическая ценность (ЭЦП)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$525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20"/>
          <p:cNvSpPr/>
          <p:nvPr/>
        </p:nvSpPr>
        <p:spPr>
          <a:xfrm>
            <a:off x="576262" y="2090737"/>
            <a:ext cx="3548508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124771" y="2090737"/>
            <a:ext cx="297849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7103268" y="2090737"/>
            <a:ext cx="280064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9903916" y="2090737"/>
            <a:ext cx="1711821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76262" y="2662237"/>
            <a:ext cx="3548508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124771" y="2662237"/>
            <a:ext cx="297849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7103268" y="2662237"/>
            <a:ext cx="280064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9903916" y="2662237"/>
            <a:ext cx="1711821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76262" y="3233737"/>
            <a:ext cx="3548508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124771" y="3233737"/>
            <a:ext cx="297849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7103268" y="3233737"/>
            <a:ext cx="280064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9903916" y="3233737"/>
            <a:ext cx="1711821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76262" y="3805237"/>
            <a:ext cx="3548508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124771" y="3805237"/>
            <a:ext cx="297849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103268" y="3805237"/>
            <a:ext cx="280064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9903916" y="3805237"/>
            <a:ext cx="1711821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6262" y="4376737"/>
            <a:ext cx="3548508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124771" y="4376737"/>
            <a:ext cx="297849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103268" y="4376737"/>
            <a:ext cx="280064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9903916" y="4376737"/>
            <a:ext cx="1711821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76262" y="4948237"/>
            <a:ext cx="3548508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24771" y="4948237"/>
            <a:ext cx="297849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7103268" y="4948237"/>
            <a:ext cx="2800647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9903916" y="4948237"/>
            <a:ext cx="1711821" cy="952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Карта ценности продукта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950" y="3667125"/>
            <a:ext cx="9944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Сравнение экономической ценности (ЭЦП)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24000"/>
            <a:ext cx="5286375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24000"/>
            <a:ext cx="5286375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419475"/>
            <a:ext cx="45053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962025" y="1914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E185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Расчет справедливой цены (СЦ)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962025" y="2457450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Согласно концепции СЦ, для B2C SaaS продукта оптимально изымать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3-5%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от созданной экономической ценности (ЭЦП), оставляя 95% выгоды пользователю.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962025" y="4219575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Определяем цену подписки Pro в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$14.99 / мес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724650" y="19145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E185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Уровень Ultra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6724650" y="2457450"/>
            <a:ext cx="45053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Тариф для B2B и премиум-сегмента (руководители, Senior-разработчики), чья ставка значительно превышает базовые $25/час.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724650" y="3371850"/>
            <a:ext cx="45053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Поскольку ЭЦП для этого сегмента превышает $1000/мес, цена тарифа Ultra в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$34.99 / мес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остается в рамках справедливых 3.5%, обеспечивая продукту высокую рентабельность.</a:t>
            </a:r>
            <a:endParaRPr/>
          </a:p>
        </p:txBody>
      </p:sp>
      <p:pic>
        <p:nvPicPr>
          <p:cNvPr descr="image.png" id="206" name="Google Shape;20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8733" y="3619500"/>
            <a:ext cx="2411908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Обоснование тарифов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295275" y="22860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831843"/>
                </a:solidFill>
                <a:latin typeface="Poppins"/>
                <a:ea typeface="Poppins"/>
                <a:cs typeface="Poppins"/>
                <a:sym typeface="Poppins"/>
              </a:rPr>
              <a:t>Вопросы?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36195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Спасибо за внимание к нашему бизнес-отчету.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571500" y="431482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B2777"/>
                </a:solidFill>
                <a:latin typeface="Lato"/>
                <a:ea typeface="Lato"/>
                <a:cs typeface="Lato"/>
                <a:sym typeface="Lato"/>
              </a:rPr>
              <a:t>invest@twinmeet.ai | www.twinmeet.ai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/>
          <p:nvPr/>
        </p:nvSpPr>
        <p:spPr>
          <a:xfrm>
            <a:off x="2019300" y="1524000"/>
            <a:ext cx="8153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2019300" y="2286000"/>
            <a:ext cx="8153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2019300" y="2286000"/>
            <a:ext cx="8153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300" y="1666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3114675" y="1674018"/>
            <a:ext cx="70580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https://www.philips-hue.com/content/dam/hue/masters/products-overview/home-office/home-office-lighting-fallbackv2-16-9.jpg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3114675" y="1907381"/>
            <a:ext cx="7058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www.philips-hue.com</a:t>
            </a:r>
            <a:endParaRPr/>
          </a:p>
        </p:txBody>
      </p:sp>
      <p:pic>
        <p:nvPicPr>
          <p:cNvPr descr="image.png" id="225" name="Google Shape;2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9300" y="2438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3114675" y="2445543"/>
            <a:ext cx="70580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https://i.etsystatic.com/10650070/r/il/1751cc/6568168320/il_fullxfull.6568168320_nkjv.jpg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3114675" y="2678906"/>
            <a:ext cx="7058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www.etsy.com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83184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