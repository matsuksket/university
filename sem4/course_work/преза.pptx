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y="6858000" cx="12191350"/>
  <p:notesSz cx="6858000" cy="12191350"/>
  <p:embeddedFontLst>
    <p:embeddedFont>
      <p:font typeface="Inter SemiBold"/>
      <p:regular r:id="rId38"/>
      <p:bold r:id="rId39"/>
      <p:italic r:id="rId40"/>
      <p:boldItalic r:id="rId41"/>
    </p:embeddedFont>
    <p:embeddedFont>
      <p:font typeface="Inter"/>
      <p:regular r:id="rId42"/>
      <p:bold r:id="rId43"/>
      <p:italic r:id="rId44"/>
      <p:boldItalic r:id="rId45"/>
    </p:embeddedFont>
    <p:embeddedFont>
      <p:font typeface="Inter Medium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SemiBold-italic.fntdata"/><Relationship Id="rId42" Type="http://schemas.openxmlformats.org/officeDocument/2006/relationships/font" Target="fonts/Inter-regular.fntdata"/><Relationship Id="rId41" Type="http://schemas.openxmlformats.org/officeDocument/2006/relationships/font" Target="fonts/InterSemiBold-boldItalic.fntdata"/><Relationship Id="rId44" Type="http://schemas.openxmlformats.org/officeDocument/2006/relationships/font" Target="fonts/Inter-italic.fntdata"/><Relationship Id="rId43" Type="http://schemas.openxmlformats.org/officeDocument/2006/relationships/font" Target="fonts/Inter-bold.fntdata"/><Relationship Id="rId46" Type="http://schemas.openxmlformats.org/officeDocument/2006/relationships/font" Target="fonts/InterMedium-regular.fntdata"/><Relationship Id="rId45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InterMedium-italic.fntdata"/><Relationship Id="rId47" Type="http://schemas.openxmlformats.org/officeDocument/2006/relationships/font" Target="fonts/InterMedium-bold.fntdata"/><Relationship Id="rId49" Type="http://schemas.openxmlformats.org/officeDocument/2006/relationships/font" Target="fonts/InterMedium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font" Target="fonts/InterSemiBold-bold.fntdata"/><Relationship Id="rId38" Type="http://schemas.openxmlformats.org/officeDocument/2006/relationships/font" Target="fonts/InterSemiBold-regular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Доклад открывается кратким представлением темы: разрабатывалась база знаний и комплекс sc-агентов интеллектуального помощника Leonard для поддержки учебного процесса студентов.</a:t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Нужно назвать цель и задачи. Акцент: проект не сводится к обычной выдаче расписания; система должна представлять знания формально, выполнять графовый поиск и создавать новые фрагменты базы знаний.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Слайд соответствует первому разделу записки: мы показываем проблему предметной области и объясняем, почему выбран не простой чат-бот и не только графовая БД, а SC-код и OSTIS.</a:t>
            </a:r>
            <a:endParaRPr/>
          </a:p>
        </p:txBody>
      </p:sp>
      <p:sp>
        <p:nvSpPr>
          <p:cNvPr id="45" name="Google Shape;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Переход ко второму разделу: здесь не рассказываем про C++-реализацию, а показываем проектную модель БЗ и формализации из записки.</a:t>
            </a:r>
            <a:endParaRPr/>
          </a:p>
        </p:txBody>
      </p:sp>
      <p:sp>
        <p:nvSpPr>
          <p:cNvPr id="70" name="Google Shape;7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Во второй главе записки сначала перечисляются пользователи, сценарии и требования. На этом слайде важно назвать все пять сценариев, потому что каждый из них дальше связан со своим sc-агентом.</a:t>
            </a:r>
            <a:endParaRPr/>
          </a:p>
        </p:txBody>
      </p:sp>
      <p:sp>
        <p:nvSpPr>
          <p:cNvPr id="78" name="Google Shape;7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Архитектура соответствует записке: база знаний находится в центре. Внешний API не является источником ответа напрямую; данные сначала формализуются в sc-памяти, а уже затем используются агентами.</a:t>
            </a:r>
            <a:endParaRPr/>
          </a:p>
        </p:txBody>
      </p:sp>
      <p:sp>
        <p:nvSpPr>
          <p:cNvPr id="92" name="Google Shape;9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Первый пример формализации — график лабораторных работ. В записке показаны входные данные расписания и итоговая структура, где лабораторные работы связываются с конкретными занятиями через nrel_deadline.</a:t>
            </a:r>
            <a:endParaRPr/>
          </a:p>
        </p:txBody>
      </p:sp>
      <p:sp>
        <p:nvSpPr>
          <p:cNvPr id="124" name="Google Shape;12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333cafd91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e333cafd91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Первый пример формализации — график лабораторных работ. В записке показаны входные данные расписания и итоговая структура, где лабораторные работы связываются с конкретными занятиями через nrel_deadline.</a:t>
            </a:r>
            <a:endParaRPr/>
          </a:p>
        </p:txBody>
      </p:sp>
      <p:sp>
        <p:nvSpPr>
          <p:cNvPr id="140" name="Google Shape;140;g3e333cafd91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Второй пример — поиск консультации. На уровне БЗ результат не является строкой текста: это объект concept_consultation_time с полями дня недели, времени начала и окончания, а также номеров соседних пар.</a:t>
            </a:r>
            <a:endParaRPr/>
          </a:p>
        </p:txBody>
      </p:sp>
      <p:sp>
        <p:nvSpPr>
          <p:cNvPr id="156" name="Google Shape;15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Третий пример — самостоятельная работа. В записке это отдельная формализация результата: день недели, число пар, время окончания занятий, свободный интервал и причина выбора.</a:t>
            </a:r>
            <a:endParaRPr/>
          </a:p>
        </p:txBody>
      </p:sp>
      <p:sp>
        <p:nvSpPr>
          <p:cNvPr id="170" name="Google Shape;17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Четвёртый пример — уведомления. Важно подчеркнуть, что фильтрация происходит по семантическим связям: rrel_groups, rrel_disciplines и дальнейшим отношениям пользователя с группой и учебным планом.</a:t>
            </a:r>
            <a:endParaRPr/>
          </a:p>
        </p:txBody>
      </p:sp>
      <p:sp>
        <p:nvSpPr>
          <p:cNvPr id="184" name="Google Shape;18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Пятый пример завершает вторую главу: контакты преподавателя формализуются как связи сущности преподавателя с email и кафедрой. Здесь также важно назвать кодовые отношения rrel_email и rrel_department.</a:t>
            </a:r>
            <a:endParaRPr/>
          </a:p>
        </p:txBody>
      </p:sp>
      <p:sp>
        <p:nvSpPr>
          <p:cNvPr id="197" name="Google Shape;19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Переход к третьему разделу: теперь речь идет о фактической структуре исходного проекта, коде агентов и тестировании.</a:t>
            </a:r>
            <a:endParaRPr/>
          </a:p>
        </p:txBody>
      </p:sp>
      <p:sp>
        <p:nvSpPr>
          <p:cNvPr id="210" name="Google Shape;21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Этот слайд должен связать записку с исходным кодом: CMakeLists задает C++17, conanfile содержит sc-machine, GTest, nlohmann_json и libcurl, а структура проекта разделяет базу знаний, problem-solver модули и тесты.</a:t>
            </a:r>
            <a:endParaRPr/>
          </a:p>
        </p:txBody>
      </p:sp>
      <p:sp>
        <p:nvSpPr>
          <p:cNvPr id="218" name="Google Shape;21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3319b6015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e3319b6015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e3319b6015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e3319b6015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На этом слайде перечисляем тестовое покрытие. Нужно подчеркнуть: тестируется не только вычисление, но и корректная запись результата в sc-память, а также негативные случаи, когда агент должен завершиться с ошибкой.</a:t>
            </a:r>
            <a:endParaRPr/>
          </a:p>
        </p:txBody>
      </p:sp>
      <p:sp>
        <p:nvSpPr>
          <p:cNvPr id="358" name="Google Shape;35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e3319b6015_1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e3319b6015_1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На этом слайде перечисляем тестовое покрытие. Нужно подчеркнуть: тестируется не только вычисление, но и корректная запись результата в sc-память, а также негативные случаи, когда агент должен завершиться с ошибкой.</a:t>
            </a:r>
            <a:endParaRPr/>
          </a:p>
        </p:txBody>
      </p:sp>
      <p:sp>
        <p:nvSpPr>
          <p:cNvPr id="410" name="Google Shape;410;g3e3319b6015_1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Финальный слайд: все задачи выполнены. Завершаем тем, что разработанная база знаний и агенты дают практический эффект: студент получает персонализированные и проверяемые ответы, а система остается расширяемой.</a:t>
            </a:r>
            <a:endParaRPr/>
          </a:p>
        </p:txBody>
      </p:sp>
      <p:sp>
        <p:nvSpPr>
          <p:cNvPr id="419" name="Google Shape;41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176" y="6356350"/>
            <a:ext cx="21334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037" y="6356350"/>
            <a:ext cx="289544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2859" y="6356350"/>
            <a:ext cx="21334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jpg"/><Relationship Id="rId4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drive.google.com/file/d/1hijeTBwOav8ednSej9lC5VNRRCrWTBqs/view" TargetMode="External"/><Relationship Id="rId4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731520" y="960120"/>
            <a:ext cx="106984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БАЗА ЗНАНИЙ</a:t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ИНТЕЛЛЕКТУАЛЬНОГО ПОМОЩНИКА</a:t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ДЛЯ СТУДЕНТОВ ВУЗА</a:t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" name="Google Shape;21;p4"/>
          <p:cNvCxnSpPr/>
          <p:nvPr/>
        </p:nvCxnSpPr>
        <p:spPr>
          <a:xfrm>
            <a:off x="749808" y="3127248"/>
            <a:ext cx="4754880" cy="0"/>
          </a:xfrm>
          <a:prstGeom prst="straightConnector1">
            <a:avLst/>
          </a:prstGeom>
          <a:noFill/>
          <a:ln cap="flat" cmpd="sng" w="3175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/>
          <p:nvPr/>
        </p:nvSpPr>
        <p:spPr>
          <a:xfrm>
            <a:off x="777240" y="3401568"/>
            <a:ext cx="7955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Студенты гр. 421703: Ишеков А.М., Митько Г.А., Макавчик И.А.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Минск, 2026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502920" y="292608"/>
            <a:ext cx="8961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Цель и задачи проекта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9738360" y="329184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" name="Google Shape;30;p5"/>
          <p:cNvCxnSpPr/>
          <p:nvPr/>
        </p:nvCxnSpPr>
        <p:spPr>
          <a:xfrm>
            <a:off x="502920" y="85039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5"/>
          <p:cNvSpPr/>
          <p:nvPr/>
        </p:nvSpPr>
        <p:spPr>
          <a:xfrm>
            <a:off x="640080" y="99949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Цель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1251585" y="1469517"/>
            <a:ext cx="92354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Разработать фрагмент базы знаний интеллектуальной системы и комплекс sc-агентов для графового поиска и обработки динамического расписания учебного процесса.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640080" y="246888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Задачи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251585" y="2469007"/>
            <a:ext cx="9372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проанализировать предметную область информационной поддержки учебного процесса;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обосновать теоретико-множественный формализм SC-кода и технологию OSTIS/NIKA;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спроектировать </a:t>
            </a: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БЗ</a:t>
            </a: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: сценарии, архитектуру, ключевые узлы и формализации;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реализовать 5 прикладных sc-агентов и сервисные агенты загрузки данных;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проверить работу компонентов автоматизированными тестами.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606040" y="4773168"/>
            <a:ext cx="8549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/>
        </p:nvSpPr>
        <p:spPr>
          <a:xfrm>
            <a:off x="5476587" y="1111623"/>
            <a:ext cx="1238336" cy="277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РАЗДЕЛ 1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" name="Google Shape;41;p6"/>
          <p:cNvSpPr txBox="1"/>
          <p:nvPr/>
        </p:nvSpPr>
        <p:spPr>
          <a:xfrm>
            <a:off x="1015906" y="1581998"/>
            <a:ext cx="10159571" cy="1847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АНАЛИЗ ПРЕДМЕТНОЙ ОБЛАСТИ ИНФОРМАЦИОННОЙ ПОДДЕРЖКИ УЧЕБНОГО ПРОЦЕССА СТУДЕНТОВ</a:t>
            </a:r>
            <a:endParaRPr b="0" i="0" sz="2400" u="none" cap="none" strike="noStrike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ВЫСШЕГО УЧЕБНОГО ЗАВЕДЕНИЯ</a:t>
            </a:r>
            <a:endParaRPr b="0" i="0" sz="2400" u="none" cap="none" strike="noStrike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502920" y="255778"/>
            <a:ext cx="8961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 Предметная область и выбор подхода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7"/>
          <p:cNvSpPr/>
          <p:nvPr/>
        </p:nvSpPr>
        <p:spPr>
          <a:xfrm>
            <a:off x="9738360" y="329184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49;p7"/>
          <p:cNvCxnSpPr/>
          <p:nvPr/>
        </p:nvCxnSpPr>
        <p:spPr>
          <a:xfrm>
            <a:off x="502920" y="85039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7"/>
          <p:cNvSpPr/>
          <p:nvPr/>
        </p:nvSpPr>
        <p:spPr>
          <a:xfrm>
            <a:off x="640080" y="118872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Проблемы учебного процесса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731520" y="1664208"/>
            <a:ext cx="51206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данные распределены между ИИС, расписанием, учебными планами и объявлениями;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расписание меняется, поэтому знания должны обновляться динамически;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студенту нужен не набор страниц, а персональный ответ по его группе, дисциплине и преподавателю;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6355080" y="11887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Почему выбран SC-код / OSTIS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/>
          <p:nvPr/>
        </p:nvSpPr>
        <p:spPr>
          <a:xfrm>
            <a:off x="6446520" y="1664208"/>
            <a:ext cx="49834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единое графовое пространство для фактов, отношений, действий и результатов;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теоретико-множественная интерпретация: сущности задаются как множества и связи;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асинхронные sc-агенты реагируют на действия и фиксируют результат обратно в БЗ;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ответ строится из проверяемых фактов, а не генерируется произвольно.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" name="Google Shape;54;p7"/>
          <p:cNvCxnSpPr/>
          <p:nvPr/>
        </p:nvCxnSpPr>
        <p:spPr>
          <a:xfrm>
            <a:off x="6080760" y="1143000"/>
            <a:ext cx="0" cy="416052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2266832" y="422382"/>
            <a:ext cx="7657701" cy="587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Сравнительный анализ аналогичных решений</a:t>
            </a:r>
            <a:endParaRPr b="0" i="0" sz="2400" u="none" cap="none" strike="noStrike">
              <a:solidFill>
                <a:srgbClr val="0F172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2156" y="1023924"/>
            <a:ext cx="8087055" cy="5388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/>
          <p:nvPr/>
        </p:nvSpPr>
        <p:spPr>
          <a:xfrm>
            <a:off x="411054" y="422382"/>
            <a:ext cx="11178918" cy="9931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Сравнительный анализ технологий для решения задач в предметной области</a:t>
            </a:r>
            <a:endParaRPr b="0" i="0" sz="2400" u="none" cap="none" strike="noStrike">
              <a:solidFill>
                <a:srgbClr val="0F172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66" name="Google Shape;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2955" y="1554173"/>
            <a:ext cx="6975113" cy="4936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/>
          <p:nvPr/>
        </p:nvSpPr>
        <p:spPr>
          <a:xfrm>
            <a:off x="658368" y="2029968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РАЗДЕЛ 2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10"/>
          <p:cNvCxnSpPr/>
          <p:nvPr/>
        </p:nvCxnSpPr>
        <p:spPr>
          <a:xfrm>
            <a:off x="685800" y="2788920"/>
            <a:ext cx="4251960" cy="0"/>
          </a:xfrm>
          <a:prstGeom prst="straightConnector1">
            <a:avLst/>
          </a:prstGeom>
          <a:noFill/>
          <a:ln cap="flat" cmpd="sng" w="279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0"/>
          <p:cNvSpPr/>
          <p:nvPr/>
        </p:nvSpPr>
        <p:spPr>
          <a:xfrm>
            <a:off x="685800" y="3090672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Проектирование базы знаний интеллектуальной системы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/>
        </p:nvSpPr>
        <p:spPr>
          <a:xfrm>
            <a:off x="502920" y="292608"/>
            <a:ext cx="8961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 Пользователи, сценарии и требования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1"/>
          <p:cNvSpPr/>
          <p:nvPr/>
        </p:nvSpPr>
        <p:spPr>
          <a:xfrm>
            <a:off x="9738360" y="329184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Google Shape;82;p11"/>
          <p:cNvCxnSpPr/>
          <p:nvPr/>
        </p:nvCxnSpPr>
        <p:spPr>
          <a:xfrm>
            <a:off x="502920" y="85039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work/zips/KP_Ishekov/images/use_case.png" id="83" name="Google Shape;8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6402" y="1097280"/>
            <a:ext cx="3655276" cy="493776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1"/>
          <p:cNvSpPr/>
          <p:nvPr/>
        </p:nvSpPr>
        <p:spPr>
          <a:xfrm>
            <a:off x="685800" y="10972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Основные пользователи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1"/>
          <p:cNvSpPr/>
          <p:nvPr/>
        </p:nvSpPr>
        <p:spPr>
          <a:xfrm>
            <a:off x="777240" y="1481328"/>
            <a:ext cx="6217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студент — основной пользователь;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преподаватель — назначение консультаций;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администратор — пополнение и обновление БЗ.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1"/>
          <p:cNvSpPr/>
          <p:nvPr/>
        </p:nvSpPr>
        <p:spPr>
          <a:xfrm>
            <a:off x="685800" y="27432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Пять сценариев использования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1"/>
          <p:cNvSpPr/>
          <p:nvPr/>
        </p:nvSpPr>
        <p:spPr>
          <a:xfrm>
            <a:off x="777240" y="3127248"/>
            <a:ext cx="62179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индивидуальный график выполнения работ;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поиск времени для консультации;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поиск окон для самостоятельной работы;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получение релевантного уведомления;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получение контактов преподавателя.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1"/>
          <p:cNvSpPr/>
          <p:nvPr/>
        </p:nvSpPr>
        <p:spPr>
          <a:xfrm>
            <a:off x="713232" y="5376672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Требования к БЗ: ответы только из формализованных знаний, расширяемость без переписывания всей системы, работа с динамическими данными ИИС.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/>
          <p:nvPr/>
        </p:nvSpPr>
        <p:spPr>
          <a:xfrm>
            <a:off x="502920" y="292608"/>
            <a:ext cx="8961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 Архитектура: БЗ как центр системы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2"/>
          <p:cNvSpPr/>
          <p:nvPr/>
        </p:nvSpPr>
        <p:spPr>
          <a:xfrm>
            <a:off x="9738360" y="329184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" name="Google Shape;96;p12"/>
          <p:cNvCxnSpPr/>
          <p:nvPr/>
        </p:nvCxnSpPr>
        <p:spPr>
          <a:xfrm>
            <a:off x="502920" y="85039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work/zips/KP_Ishekov/images/architecture_scheme.png" id="97" name="Google Shape;9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153155"/>
            <a:ext cx="6309360" cy="313437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2"/>
          <p:cNvSpPr/>
          <p:nvPr/>
        </p:nvSpPr>
        <p:spPr>
          <a:xfrm>
            <a:off x="7223760" y="114300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Три компонента интеллектуальной системы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2"/>
          <p:cNvSpPr/>
          <p:nvPr/>
        </p:nvSpPr>
        <p:spPr>
          <a:xfrm>
            <a:off x="7269480" y="1600200"/>
            <a:ext cx="42519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База знаний хранит расписание, учебные планы, преподавателей, объявления и результаты агентов.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Решатель задач — многоагентная система: каждый агент реагирует на свой action-класс.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Интерфейс записывает запрос в sc-память и читает готовый графовый результат.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2"/>
          <p:cNvSpPr/>
          <p:nvPr/>
        </p:nvSpPr>
        <p:spPr>
          <a:xfrm>
            <a:off x="713232" y="46177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Информационный поток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2"/>
          <p:cNvSpPr/>
          <p:nvPr/>
        </p:nvSpPr>
        <p:spPr>
          <a:xfrm>
            <a:off x="713232" y="5047488"/>
            <a:ext cx="10561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ИИС БГУИР → сервисный update-agent → онтологизация JSON → sc-память → прикладной агент → новый фрагмент БЗ → ответ пользователю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1267203" y="1490573"/>
            <a:ext cx="347382" cy="274186"/>
          </a:xfrm>
          <a:prstGeom prst="roundRect">
            <a:avLst>
              <a:gd fmla="val 16667" name="adj"/>
            </a:avLst>
          </a:prstGeom>
          <a:solidFill>
            <a:srgbClr val="0EA5E9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00" lIns="36550" spcFirstLastPara="1" rIns="36550" wrap="square" tIns="2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Inter"/>
              <a:buNone/>
            </a:pPr>
            <a:r>
              <a:rPr b="1" i="0" lang="en-US" sz="103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1" i="0" sz="103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227938" y="1874606"/>
            <a:ext cx="2425974" cy="213948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63975" lIns="118825" spcFirstLastPara="1" rIns="100550" wrap="square" tIns="82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Запрос</a:t>
            </a:r>
            <a:endParaRPr b="1" i="0" sz="1170" u="none" cap="none" strike="noStrike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action_create_laboratory_schedule</a:t>
            </a:r>
            <a:endParaRPr b="0" i="0" sz="86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action_find_consultation_time</a:t>
            </a:r>
            <a:endParaRPr b="0" i="0" sz="86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action_find_self_work_days</a:t>
            </a:r>
            <a:endParaRPr b="0" i="0" sz="86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action_generate_relevant_notifications</a:t>
            </a:r>
            <a:endParaRPr b="0" i="0" sz="86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action_receive_teacher_info</a:t>
            </a:r>
            <a:endParaRPr b="0" i="0" sz="86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8" name="Google Shape;108;p13"/>
          <p:cNvCxnSpPr>
            <a:stCxn id="107" idx="3"/>
            <a:endCxn id="109" idx="1"/>
          </p:cNvCxnSpPr>
          <p:nvPr/>
        </p:nvCxnSpPr>
        <p:spPr>
          <a:xfrm>
            <a:off x="2653912" y="2944351"/>
            <a:ext cx="226200" cy="0"/>
          </a:xfrm>
          <a:prstGeom prst="straightConnector1">
            <a:avLst/>
          </a:prstGeom>
          <a:noFill/>
          <a:ln cap="flat" cmpd="sng" w="254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0" name="Google Shape;110;p13"/>
          <p:cNvSpPr/>
          <p:nvPr/>
        </p:nvSpPr>
        <p:spPr>
          <a:xfrm>
            <a:off x="3639122" y="1490573"/>
            <a:ext cx="347454" cy="274306"/>
          </a:xfrm>
          <a:prstGeom prst="roundRect">
            <a:avLst>
              <a:gd fmla="val 16667" name="adj"/>
            </a:avLst>
          </a:prstGeom>
          <a:solidFill>
            <a:srgbClr val="0EA5E9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00" lIns="36550" spcFirstLastPara="1" rIns="36550" wrap="square" tIns="2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Inter"/>
              <a:buNone/>
            </a:pPr>
            <a:r>
              <a:rPr b="1" i="0" lang="en-US" sz="103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1" i="0" sz="103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2880210" y="1874600"/>
            <a:ext cx="1901853" cy="213958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63975" lIns="118825" spcFirstLastPara="1" rIns="100550" wrap="square" tIns="82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Контекст базы знаний</a:t>
            </a:r>
            <a:endParaRPr b="1" i="0" sz="1170" u="none" cap="none" strike="noStrike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студент / группа</a:t>
            </a:r>
            <a:endParaRPr b="0" i="0" sz="86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дисциплина</a:t>
            </a:r>
            <a:endParaRPr b="0" i="0" sz="86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преподаватель</a:t>
            </a:r>
            <a:endParaRPr b="0" i="0" sz="86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объявление</a:t>
            </a:r>
            <a:endParaRPr b="0" i="0" sz="86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минимальная длительность</a:t>
            </a:r>
            <a:endParaRPr b="0" i="0" sz="86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1" name="Google Shape;111;p13"/>
          <p:cNvCxnSpPr>
            <a:stCxn id="109" idx="3"/>
            <a:endCxn id="112" idx="1"/>
          </p:cNvCxnSpPr>
          <p:nvPr/>
        </p:nvCxnSpPr>
        <p:spPr>
          <a:xfrm>
            <a:off x="4782063" y="2944393"/>
            <a:ext cx="338400" cy="0"/>
          </a:xfrm>
          <a:prstGeom prst="straightConnector1">
            <a:avLst/>
          </a:prstGeom>
          <a:noFill/>
          <a:ln cap="flat" cmpd="sng" w="254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3" name="Google Shape;113;p13"/>
          <p:cNvSpPr/>
          <p:nvPr/>
        </p:nvSpPr>
        <p:spPr>
          <a:xfrm>
            <a:off x="5879286" y="1490573"/>
            <a:ext cx="347454" cy="274306"/>
          </a:xfrm>
          <a:prstGeom prst="roundRect">
            <a:avLst>
              <a:gd fmla="val 16667" name="adj"/>
            </a:avLst>
          </a:prstGeom>
          <a:solidFill>
            <a:srgbClr val="0EA5E9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00" lIns="36550" spcFirstLastPara="1" rIns="36550" wrap="square" tIns="2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Inter"/>
              <a:buNone/>
            </a:pPr>
            <a:r>
              <a:rPr b="1" i="0" lang="en-US" sz="103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i="0" sz="103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5120373" y="1874600"/>
            <a:ext cx="1901853" cy="213958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63975" lIns="118825" spcFirstLastPara="1" rIns="100550" wrap="square" tIns="82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Проверка</a:t>
            </a:r>
            <a:endParaRPr b="1" i="0" sz="1170" u="none" cap="none" strike="noStrike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наличие фактов</a:t>
            </a:r>
            <a:endParaRPr b="0" i="0" sz="86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корректность аргументов</a:t>
            </a:r>
            <a:endParaRPr b="0" i="0" sz="86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расписание</a:t>
            </a:r>
            <a:endParaRPr b="0" i="0" sz="86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контактные данные</a:t>
            </a:r>
            <a:endParaRPr b="0" i="0" sz="86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4" name="Google Shape;114;p13"/>
          <p:cNvCxnSpPr>
            <a:stCxn id="112" idx="3"/>
            <a:endCxn id="115" idx="1"/>
          </p:cNvCxnSpPr>
          <p:nvPr/>
        </p:nvCxnSpPr>
        <p:spPr>
          <a:xfrm>
            <a:off x="7022226" y="2944393"/>
            <a:ext cx="226200" cy="0"/>
          </a:xfrm>
          <a:prstGeom prst="straightConnector1">
            <a:avLst/>
          </a:prstGeom>
          <a:noFill/>
          <a:ln cap="flat" cmpd="sng" w="254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6" name="Google Shape;116;p13"/>
          <p:cNvSpPr/>
          <p:nvPr/>
        </p:nvSpPr>
        <p:spPr>
          <a:xfrm>
            <a:off x="8119449" y="1490573"/>
            <a:ext cx="347454" cy="274306"/>
          </a:xfrm>
          <a:prstGeom prst="roundRect">
            <a:avLst>
              <a:gd fmla="val 16667" name="adj"/>
            </a:avLst>
          </a:prstGeom>
          <a:solidFill>
            <a:srgbClr val="0EA5E9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00" lIns="36550" spcFirstLastPara="1" rIns="36550" wrap="square" tIns="2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Inter"/>
              <a:buNone/>
            </a:pPr>
            <a:r>
              <a:rPr b="1" i="0" lang="en-US" sz="103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i="0" sz="103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7248572" y="1874606"/>
            <a:ext cx="2013795" cy="213948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63975" lIns="118825" spcFirstLastPara="1" rIns="100550" wrap="square" tIns="82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Дозагрузка</a:t>
            </a:r>
            <a:endParaRPr b="1" i="0" sz="1170" u="none" cap="none" strike="noStrike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group_schedule_update_action</a:t>
            </a:r>
            <a:endParaRPr b="0" i="0" sz="86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teacher_data_update_action</a:t>
            </a:r>
            <a:endParaRPr b="0" i="0" sz="86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формализация в sc-память</a:t>
            </a:r>
            <a:endParaRPr b="0" i="0" sz="86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7" name="Google Shape;117;p13"/>
          <p:cNvCxnSpPr>
            <a:stCxn id="115" idx="3"/>
            <a:endCxn id="118" idx="1"/>
          </p:cNvCxnSpPr>
          <p:nvPr/>
        </p:nvCxnSpPr>
        <p:spPr>
          <a:xfrm>
            <a:off x="9262367" y="2944351"/>
            <a:ext cx="338400" cy="0"/>
          </a:xfrm>
          <a:prstGeom prst="straightConnector1">
            <a:avLst/>
          </a:prstGeom>
          <a:noFill/>
          <a:ln cap="flat" cmpd="sng" w="254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9" name="Google Shape;119;p13"/>
          <p:cNvSpPr/>
          <p:nvPr/>
        </p:nvSpPr>
        <p:spPr>
          <a:xfrm>
            <a:off x="10359612" y="1490573"/>
            <a:ext cx="347454" cy="274306"/>
          </a:xfrm>
          <a:prstGeom prst="roundRect">
            <a:avLst>
              <a:gd fmla="val 16667" name="adj"/>
            </a:avLst>
          </a:prstGeom>
          <a:solidFill>
            <a:srgbClr val="0EA5E9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00" lIns="36550" spcFirstLastPara="1" rIns="36550" wrap="square" tIns="27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Inter"/>
              <a:buNone/>
            </a:pPr>
            <a:r>
              <a:rPr b="1" i="0" lang="en-US" sz="103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i="0" sz="103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9600700" y="1874600"/>
            <a:ext cx="1901853" cy="213958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63975" lIns="118825" spcFirstLastPara="1" rIns="100550" wrap="square" tIns="82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Результат</a:t>
            </a:r>
            <a:endParaRPr b="1" i="0" sz="1170" u="none" cap="none" strike="noStrike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result-structure</a:t>
            </a:r>
            <a:endParaRPr b="0" i="0" sz="86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concept_* результата</a:t>
            </a:r>
            <a:endParaRPr b="0" i="0" sz="86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nrel_* связи</a:t>
            </a:r>
            <a:endParaRPr b="0" i="0" sz="86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Clr>
                <a:srgbClr val="475569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rrel_* атрибуты</a:t>
            </a:r>
            <a:endParaRPr b="0" i="0" sz="86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1286721" y="355585"/>
            <a:ext cx="9532603" cy="587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Логика работы sc-агентов</a:t>
            </a:r>
            <a:endParaRPr b="0" i="0" sz="2400" u="none" cap="none" strike="noStrike">
              <a:solidFill>
                <a:srgbClr val="0F172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/>
          <p:nvPr/>
        </p:nvSpPr>
        <p:spPr>
          <a:xfrm>
            <a:off x="502926" y="292600"/>
            <a:ext cx="10460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72033"/>
                </a:solidFill>
              </a:rPr>
              <a:t>Модель базы знаний для разрабатываемых модулей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9738360" y="329184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Google Shape;128;p14"/>
          <p:cNvCxnSpPr/>
          <p:nvPr/>
        </p:nvCxnSpPr>
        <p:spPr>
          <a:xfrm>
            <a:off x="502920" y="85039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14"/>
          <p:cNvSpPr/>
          <p:nvPr/>
        </p:nvSpPr>
        <p:spPr>
          <a:xfrm>
            <a:off x="658368" y="1051560"/>
            <a:ext cx="4343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LaboratoryScheduleAgent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749808" y="1481328"/>
            <a:ext cx="437083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вход: студент, дисциплина, группа, </a:t>
            </a:r>
            <a:r>
              <a:rPr lang="en-US" sz="1480">
                <a:solidFill>
                  <a:srgbClr val="172033"/>
                </a:solidFill>
              </a:rPr>
              <a:t>расписание</a:t>
            </a: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 и список лабораторных работ;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ограничения: даты занятий, крайние сроки и недопустимость пустых множеств;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выход: персональный график, где каждая работа связана с </a:t>
            </a:r>
            <a:r>
              <a:rPr lang="en-US" sz="1480">
                <a:solidFill>
                  <a:srgbClr val="172033"/>
                </a:solidFill>
              </a:rPr>
              <a:t>занятием</a:t>
            </a: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 через nrel_</a:t>
            </a:r>
            <a:r>
              <a:rPr lang="en-US" sz="1480">
                <a:solidFill>
                  <a:srgbClr val="172033"/>
                </a:solidFill>
              </a:rPr>
              <a:t>recommended_date</a:t>
            </a: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749808" y="3703320"/>
            <a:ext cx="4663440" cy="1600200"/>
          </a:xfrm>
          <a:prstGeom prst="rect">
            <a:avLst/>
          </a:prstGeom>
          <a:solidFill>
            <a:srgbClr val="F3F6FA"/>
          </a:solidFill>
          <a:ln cap="flat" cmpd="sng" w="1015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4"/>
          <p:cNvSpPr/>
          <p:nvPr/>
        </p:nvSpPr>
        <p:spPr>
          <a:xfrm>
            <a:off x="859536" y="3776472"/>
            <a:ext cx="4443984" cy="1453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concept_lesson_schedule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rrel_lab_schedule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concept_laboratory_practicum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concept_personal_laboratory_schedule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nrel_deadline</a:t>
            </a:r>
            <a:endParaRPr b="0" i="0" sz="1200" u="none" cap="none" strike="noStrike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F2937"/>
                </a:solidFill>
              </a:rPr>
              <a:t>nrel_recommended_date</a:t>
            </a:r>
            <a:endParaRPr sz="1200">
              <a:solidFill>
                <a:srgbClr val="1F2937"/>
              </a:solidFill>
            </a:endParaRPr>
          </a:p>
        </p:txBody>
      </p:sp>
      <p:pic>
        <p:nvPicPr>
          <p:cNvPr descr="/mnt/data/work/zips/KP_Ishekov/images/schedule_formalization.png.png" id="133" name="Google Shape;13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2200" y="969299"/>
            <a:ext cx="5471150" cy="32104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/>
          <p:nvPr/>
        </p:nvSpPr>
        <p:spPr>
          <a:xfrm>
            <a:off x="11338560" y="6528816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502931" y="3186575"/>
            <a:ext cx="4193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Ключевые понятия и отношения:</a:t>
            </a:r>
            <a:endParaRPr b="1" i="0" sz="19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6450375" y="4449050"/>
            <a:ext cx="4114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Формализованные данные расписания</a:t>
            </a:r>
            <a:endParaRPr b="0" i="0" sz="1150" u="none" cap="none" strike="noStrike">
              <a:solidFill>
                <a:srgbClr val="50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/>
          <p:nvPr/>
        </p:nvSpPr>
        <p:spPr>
          <a:xfrm>
            <a:off x="502926" y="292600"/>
            <a:ext cx="10460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72033"/>
                </a:solidFill>
              </a:rPr>
              <a:t>Модель базы знаний для разрабатываемых модулей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9738360" y="329184"/>
            <a:ext cx="187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15"/>
          <p:cNvCxnSpPr/>
          <p:nvPr/>
        </p:nvCxnSpPr>
        <p:spPr>
          <a:xfrm>
            <a:off x="502920" y="850392"/>
            <a:ext cx="1110990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15"/>
          <p:cNvSpPr/>
          <p:nvPr/>
        </p:nvSpPr>
        <p:spPr>
          <a:xfrm>
            <a:off x="658368" y="1051560"/>
            <a:ext cx="4343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LaboratoryScheduleAgent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749808" y="1481328"/>
            <a:ext cx="43707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вход: студент, дисциплина, группа, </a:t>
            </a:r>
            <a:r>
              <a:rPr lang="en-US" sz="1480">
                <a:solidFill>
                  <a:srgbClr val="172033"/>
                </a:solidFill>
              </a:rPr>
              <a:t>расписание</a:t>
            </a: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 и список лабораторных работ;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выход: персональный график, где каждая работа связана с </a:t>
            </a:r>
            <a:r>
              <a:rPr lang="en-US" sz="1480">
                <a:solidFill>
                  <a:srgbClr val="172033"/>
                </a:solidFill>
              </a:rPr>
              <a:t>занятием</a:t>
            </a: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 через nrel_</a:t>
            </a:r>
            <a:r>
              <a:rPr lang="en-US" sz="1480">
                <a:solidFill>
                  <a:srgbClr val="172033"/>
                </a:solidFill>
              </a:rPr>
              <a:t>recommended_date</a:t>
            </a: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749808" y="3703320"/>
            <a:ext cx="4663500" cy="1600200"/>
          </a:xfrm>
          <a:prstGeom prst="rect">
            <a:avLst/>
          </a:prstGeom>
          <a:solidFill>
            <a:srgbClr val="F3F6FA"/>
          </a:solidFill>
          <a:ln cap="flat" cmpd="sng" w="1015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859536" y="3776472"/>
            <a:ext cx="4443900" cy="14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concept_lesson_schedule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rrel_lab_schedule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concept_laboratory_practicum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concept_personal_laboratory_schedule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nrel_deadline</a:t>
            </a:r>
            <a:endParaRPr b="0" i="0" sz="1200" u="none" cap="none" strike="noStrike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F2937"/>
                </a:solidFill>
              </a:rPr>
              <a:t>nrel_recommended_date</a:t>
            </a:r>
            <a:endParaRPr sz="1200">
              <a:solidFill>
                <a:srgbClr val="1F2937"/>
              </a:solidFill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11338560" y="6528816"/>
            <a:ext cx="365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502931" y="3186575"/>
            <a:ext cx="4193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Ключевые понятия и отношения:</a:t>
            </a:r>
            <a:endParaRPr b="1" i="0" sz="19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6413375" y="4412050"/>
            <a:ext cx="4114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Формализованные данные </a:t>
            </a:r>
            <a:r>
              <a:rPr lang="en-US" sz="1150">
                <a:solidFill>
                  <a:srgbClr val="505D74"/>
                </a:solidFill>
              </a:rPr>
              <a:t>о дедлайнах</a:t>
            </a:r>
            <a:endParaRPr b="0" i="0" sz="1150" u="none" cap="none" strike="noStrike">
              <a:solidFill>
                <a:srgbClr val="50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5125" y="1148600"/>
            <a:ext cx="4520055" cy="312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/>
          <p:nvPr/>
        </p:nvSpPr>
        <p:spPr>
          <a:xfrm>
            <a:off x="502926" y="292600"/>
            <a:ext cx="9938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72033"/>
                </a:solidFill>
              </a:rPr>
              <a:t>Модель базы знаний для разрабатываемых модулей</a:t>
            </a:r>
            <a:endParaRPr b="1" sz="2700">
              <a:solidFill>
                <a:srgbClr val="172033"/>
              </a:solidFill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9738360" y="329184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p16"/>
          <p:cNvCxnSpPr/>
          <p:nvPr/>
        </p:nvCxnSpPr>
        <p:spPr>
          <a:xfrm>
            <a:off x="502920" y="85039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16"/>
          <p:cNvSpPr/>
          <p:nvPr/>
        </p:nvSpPr>
        <p:spPr>
          <a:xfrm>
            <a:off x="658368" y="1051560"/>
            <a:ext cx="4343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ConsultationTimeAgent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749808" y="1481328"/>
            <a:ext cx="437083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вход: группа студента, преподаватель, день недели и минимальная длительность;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агент ищет пересечение свободных интервалов студента и преподавателя;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выход: временной интервал с предыдущей и следующей парой преподавателя.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749808" y="3703320"/>
            <a:ext cx="4434840" cy="1691640"/>
          </a:xfrm>
          <a:prstGeom prst="rect">
            <a:avLst/>
          </a:prstGeom>
          <a:solidFill>
            <a:srgbClr val="F3F6FA"/>
          </a:solidFill>
          <a:ln cap="flat" cmpd="sng" w="1015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859536" y="3776472"/>
            <a:ext cx="4215384" cy="1545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concept_consultation_time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concept_time_interval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rrel_week_day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rrel_start_time / rrel_end_time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rrel_prev_lesson_number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rrel_next_lesson_number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nrel_consultation_time_result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work/zips/KP_MITKO/images/agent_sc.png" id="165" name="Google Shape;16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1067820"/>
            <a:ext cx="5897880" cy="485952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/>
          <p:nvPr/>
        </p:nvSpPr>
        <p:spPr>
          <a:xfrm>
            <a:off x="11338560" y="6528816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/>
          <p:nvPr/>
        </p:nvSpPr>
        <p:spPr>
          <a:xfrm>
            <a:off x="9738360" y="329184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17"/>
          <p:cNvCxnSpPr/>
          <p:nvPr/>
        </p:nvCxnSpPr>
        <p:spPr>
          <a:xfrm>
            <a:off x="502920" y="85039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17"/>
          <p:cNvSpPr/>
          <p:nvPr/>
        </p:nvSpPr>
        <p:spPr>
          <a:xfrm>
            <a:off x="658368" y="1051560"/>
            <a:ext cx="4343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SelfWorkWindowAgent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749808" y="1481328"/>
            <a:ext cx="437083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вход: группа/студент и минимальная продолжительность окна;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анализируются занятость дня, количество пар и доступный интервал;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выход: рекомендуемый день и свободный промежуток с объяснением причины.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749808" y="3703320"/>
            <a:ext cx="4526280" cy="1828800"/>
          </a:xfrm>
          <a:prstGeom prst="rect">
            <a:avLst/>
          </a:prstGeom>
          <a:solidFill>
            <a:srgbClr val="F3F6FA"/>
          </a:solidFill>
          <a:ln cap="flat" cmpd="sng" w="1015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859536" y="3776472"/>
            <a:ext cx="4306824" cy="1682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concept_self_work_day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concept_time_interval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rrel_lesson_count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rrel_available_from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rrel_available_to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rrel_free_duration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rrel_reason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nrel_self_work_day_result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work/zips/KP_MITKO/images/student_sch.png" id="178" name="Google Shape;17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7840" y="1144459"/>
            <a:ext cx="5166360" cy="457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/>
          <p:nvPr/>
        </p:nvSpPr>
        <p:spPr>
          <a:xfrm>
            <a:off x="11338560" y="6528816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502926" y="292600"/>
            <a:ext cx="9938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72033"/>
                </a:solidFill>
              </a:rPr>
              <a:t>Модель базы знаний для разрабатываемых модулей</a:t>
            </a:r>
            <a:endParaRPr b="1" sz="270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/>
          <p:nvPr/>
        </p:nvSpPr>
        <p:spPr>
          <a:xfrm>
            <a:off x="9738360" y="329184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18"/>
          <p:cNvCxnSpPr/>
          <p:nvPr/>
        </p:nvCxnSpPr>
        <p:spPr>
          <a:xfrm>
            <a:off x="502920" y="85039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18"/>
          <p:cNvSpPr/>
          <p:nvPr/>
        </p:nvSpPr>
        <p:spPr>
          <a:xfrm>
            <a:off x="658368" y="1051560"/>
            <a:ext cx="4343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GenerateRelevantNotificationsAgent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749808" y="1481328"/>
            <a:ext cx="437083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вход: объявление из ИИС с текстом, датой, временем, аудиторией, группами и дисциплинами;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агент сопоставляет объявление с группами, дисциплинами и пользователями;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выход: адресное уведомление только для релевантных получателей.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749808" y="3685032"/>
            <a:ext cx="4498848" cy="1901952"/>
          </a:xfrm>
          <a:prstGeom prst="rect">
            <a:avLst/>
          </a:prstGeom>
          <a:solidFill>
            <a:srgbClr val="F3F6FA"/>
          </a:solidFill>
          <a:ln cap="flat" cmpd="sng" w="1015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859536" y="3758184"/>
            <a:ext cx="4279392" cy="1755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announcement_4726 &lt;- concept_announcement;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 -&gt; rrel_text: [...];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 -&gt; rrel_groups: group_421703;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 -&gt; rrel_disciplines: discipline_course_project_2_11;;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result: concept_relevant_notification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 =&gt; nrel_notification_announcement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 =&gt; nrel_notification_recipient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work/zips/KP_MAKAVCHIK/picture/sc4.png" id="192" name="Google Shape;1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4960" y="1240808"/>
            <a:ext cx="5806440" cy="360828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/>
          <p:nvPr/>
        </p:nvSpPr>
        <p:spPr>
          <a:xfrm>
            <a:off x="502926" y="292600"/>
            <a:ext cx="9938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72033"/>
                </a:solidFill>
              </a:rPr>
              <a:t>Модель базы знаний для разрабатываемых модулей</a:t>
            </a:r>
            <a:endParaRPr b="1" sz="270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"/>
          <p:cNvSpPr/>
          <p:nvPr/>
        </p:nvSpPr>
        <p:spPr>
          <a:xfrm>
            <a:off x="9738360" y="329184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19"/>
          <p:cNvCxnSpPr/>
          <p:nvPr/>
        </p:nvCxnSpPr>
        <p:spPr>
          <a:xfrm>
            <a:off x="502920" y="85039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19"/>
          <p:cNvSpPr/>
          <p:nvPr/>
        </p:nvSpPr>
        <p:spPr>
          <a:xfrm>
            <a:off x="658368" y="1051560"/>
            <a:ext cx="4343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ReceiveTeacherInfoAgent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749808" y="1481328"/>
            <a:ext cx="437083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вход: сущность преподавателя и, при необходимости, требуемый тип данных;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агент ищет email и кафедру в локальной БЗ либо инициирует дозагрузку;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выход: структурированный результат с найденными контактными фактами.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749808" y="3675888"/>
            <a:ext cx="4572000" cy="2011680"/>
          </a:xfrm>
          <a:prstGeom prst="rect">
            <a:avLst/>
          </a:prstGeom>
          <a:solidFill>
            <a:srgbClr val="F3F6FA"/>
          </a:solidFill>
          <a:ln cap="flat" cmpd="sng" w="1015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859536" y="3749040"/>
            <a:ext cx="4352544" cy="186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teacher_nesterenkov &lt;- concept_teacher;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 -&gt; rrel_email: @nesterenkov_email;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 -&gt; rrel_department: department_iit;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 =&gt; nrel_works_in_department: department_iit;;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Arial"/>
              <a:buNone/>
            </a:pPr>
            <a:r>
              <a:t/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test_action_receive_teacher_info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 &lt;- action_receive_teacher_info;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 -&gt; rrel_1: teacher_nesterenkov;;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work/zips/KP_MAKAVCHIK/picture/scg5.png" id="205" name="Google Shape;2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3383" y="1143000"/>
            <a:ext cx="4743873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/>
          <p:nvPr/>
        </p:nvSpPr>
        <p:spPr>
          <a:xfrm>
            <a:off x="502926" y="292600"/>
            <a:ext cx="9938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72033"/>
                </a:solidFill>
              </a:rPr>
              <a:t>Модель базы знаний для разрабатываемых модулей</a:t>
            </a:r>
            <a:endParaRPr b="1" sz="270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/>
          <p:nvPr/>
        </p:nvSpPr>
        <p:spPr>
          <a:xfrm>
            <a:off x="658368" y="2029968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РАЗДЕЛ 3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p20"/>
          <p:cNvCxnSpPr/>
          <p:nvPr/>
        </p:nvCxnSpPr>
        <p:spPr>
          <a:xfrm>
            <a:off x="685800" y="2788920"/>
            <a:ext cx="4251960" cy="0"/>
          </a:xfrm>
          <a:prstGeom prst="straightConnector1">
            <a:avLst/>
          </a:prstGeom>
          <a:noFill/>
          <a:ln cap="flat" cmpd="sng" w="279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20"/>
          <p:cNvSpPr/>
          <p:nvPr/>
        </p:nvSpPr>
        <p:spPr>
          <a:xfrm>
            <a:off x="685800" y="3090672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Реализация базы знаний и средств её использования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/>
          <p:nvPr/>
        </p:nvSpPr>
        <p:spPr>
          <a:xfrm>
            <a:off x="502920" y="292608"/>
            <a:ext cx="8961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 Стек и структура исходного проекта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9738360" y="329184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" name="Google Shape;222;p21"/>
          <p:cNvCxnSpPr/>
          <p:nvPr/>
        </p:nvCxnSpPr>
        <p:spPr>
          <a:xfrm>
            <a:off x="502920" y="85039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21"/>
          <p:cNvSpPr/>
          <p:nvPr/>
        </p:nvSpPr>
        <p:spPr>
          <a:xfrm>
            <a:off x="640080" y="109728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Стек из исходников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731520" y="1508760"/>
            <a:ext cx="51663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C++17: логика sc-агентов и работа с sc-памятью;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sc-machine 0.10.5: ScAddr, ScAction, ScTemplate, события sc-памяти;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SCs: keynodes.scs и демонстрационные фрагменты БЗ;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GTest 1.14.0: автоматизированные проверки;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Docker / Conan / CMake: воспроизводимая сборка.</a:t>
            </a:r>
            <a:endParaRPr b="0" i="0" sz="1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6172200" y="1143000"/>
            <a:ext cx="5166360" cy="4160520"/>
          </a:xfrm>
          <a:prstGeom prst="rect">
            <a:avLst/>
          </a:prstGeom>
          <a:solidFill>
            <a:srgbClr val="F3F6FA"/>
          </a:solidFill>
          <a:ln cap="flat" cmpd="sng" w="1015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6281928" y="1216152"/>
            <a:ext cx="4946904" cy="4014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knowledge-base/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 keynodes.scs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 relevant_notification_example.scs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 teacher_info_example.scs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problem-solver/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 laboratory-schedule-module/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 teacher-free-time-module/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 free-days-for-work-module/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 relevant-notification-module/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 receive-teacher-info-module/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 bsuir-iis-process-module/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 schedule-common/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Arial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tests/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731520" y="5596128"/>
            <a:ext cx="10469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None/>
            </a:pPr>
            <a:r>
              <a:t/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/>
        </p:nvSpPr>
        <p:spPr>
          <a:xfrm>
            <a:off x="822960" y="25603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Агент для получения индивидуального графика выполнения</a:t>
            </a:r>
            <a:br>
              <a:rPr b="0" i="0" lang="en-US" sz="21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работ</a:t>
            </a:r>
            <a:endParaRPr b="0" i="0" sz="21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3657600" y="932688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LaboratoryScheduleAgent</a:t>
            </a:r>
            <a:endParaRPr b="1" i="0" sz="13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594360" y="1588008"/>
            <a:ext cx="987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Особенности:</a:t>
            </a:r>
            <a:endParaRPr b="1" i="0" sz="19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822960" y="1935480"/>
            <a:ext cx="9692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Если расписание лабораторных занятий отсутствует, запускается обновление расписания (UpdateGroupDisciplineSchedule).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Нет группы, расписания, занятий или работ — FinishWithError.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594360" y="2648712"/>
            <a:ext cx="987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Формирование результата:</a:t>
            </a:r>
            <a:endParaRPr b="1" i="0" sz="19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822960" y="2996184"/>
            <a:ext cx="9692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Работы равномерно сопоставляются занятиям.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Учитываются дедлайны преподавателя.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Учитывается текущая календарная дата.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Агент создаёт формальную связь лабораторной работы с конкретным занятием через nrel_recommended_date.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"/>
          <p:cNvSpPr txBox="1"/>
          <p:nvPr/>
        </p:nvSpPr>
        <p:spPr>
          <a:xfrm>
            <a:off x="822960" y="25603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Агент для получения индивидуального графика выполнения</a:t>
            </a:r>
            <a:br>
              <a:rPr b="0" i="0" lang="en-US" sz="21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работ</a:t>
            </a:r>
            <a:endParaRPr b="0" i="0" sz="21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3657600" y="932688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LaboratoryScheduleAgent</a:t>
            </a:r>
            <a:endParaRPr b="1" i="0" sz="13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3977639" y="141732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Тестовый пример</a:t>
            </a:r>
            <a:endParaRPr b="1" i="0" sz="20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st_1_1_input.png" id="245" name="Google Shape;2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8025" y="2167125"/>
            <a:ext cx="8135299" cy="333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4038275" y="5660125"/>
            <a:ext cx="4114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Формализованные тестовые данные</a:t>
            </a:r>
            <a:endParaRPr b="0" i="0" sz="1150" u="none" cap="none" strike="noStrike">
              <a:solidFill>
                <a:srgbClr val="50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 txBox="1"/>
          <p:nvPr/>
        </p:nvSpPr>
        <p:spPr>
          <a:xfrm>
            <a:off x="822960" y="256032"/>
            <a:ext cx="1051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Агент для получения индивидуального графика выполнения</a:t>
            </a:r>
            <a:br>
              <a:rPr b="0" i="0" lang="en-US" sz="21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работ</a:t>
            </a:r>
            <a:endParaRPr b="0" i="0" sz="21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3657600" y="932688"/>
            <a:ext cx="4846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LaboratoryScheduleAgent</a:t>
            </a:r>
            <a:endParaRPr b="1" i="0" sz="13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4"/>
          <p:cNvSpPr txBox="1"/>
          <p:nvPr/>
        </p:nvSpPr>
        <p:spPr>
          <a:xfrm>
            <a:off x="3977639" y="1417320"/>
            <a:ext cx="420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Тестовый пример</a:t>
            </a:r>
            <a:endParaRPr b="1" i="0" sz="20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st_1_1_output.png" id="254" name="Google Shape;2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5650" y="1936050"/>
            <a:ext cx="7084326" cy="415056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3306486" y="6221710"/>
            <a:ext cx="5002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52100" lIns="104200" spcFirstLastPara="1" rIns="104200" wrap="square" tIns="52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1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Результат: персональный график ЛР</a:t>
            </a:r>
            <a:endParaRPr b="0" i="0" sz="1311" u="none" cap="none" strike="noStrike">
              <a:solidFill>
                <a:srgbClr val="50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/>
          <p:nvPr/>
        </p:nvSpPr>
        <p:spPr>
          <a:xfrm>
            <a:off x="822960" y="25603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Агент для поиска времени консультации</a:t>
            </a:r>
            <a:endParaRPr b="0" i="0" sz="21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3657600" y="932688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ConsultationTimeAgent</a:t>
            </a:r>
            <a:endParaRPr b="1" i="0" sz="13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594360" y="1325880"/>
            <a:ext cx="9875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Ключевые понятия и отношения:</a:t>
            </a:r>
            <a:endParaRPr b="1" i="0" sz="19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822960" y="1673352"/>
            <a:ext cx="9692640" cy="1408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concept_consultation_time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concept_time_interval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rrel_week_day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rrel_start_time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rrel_end_time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nrel_consultation_time_result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594360" y="3227832"/>
            <a:ext cx="9875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Особенности:</a:t>
            </a:r>
            <a:endParaRPr b="1" i="0" sz="19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5"/>
          <p:cNvSpPr txBox="1"/>
          <p:nvPr/>
        </p:nvSpPr>
        <p:spPr>
          <a:xfrm>
            <a:off x="822960" y="3575304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Агент извлекает расписание студента и преподавателя и находит пересечение свободных интервалов.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При отсутствии преподавателя или общих временных окон действие завершается ошибкой.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При отсутствии расписания может использоваться агент обновления данных.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594360" y="4498848"/>
            <a:ext cx="9875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Формирование результата:</a:t>
            </a:r>
            <a:endParaRPr b="1" i="0" sz="19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5"/>
          <p:cNvSpPr txBox="1"/>
          <p:nvPr/>
        </p:nvSpPr>
        <p:spPr>
          <a:xfrm>
            <a:off x="822960" y="4846320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Результат записывается как временной интервал для консультации.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Фиксируются день недели, время начала и окончания.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Дополнительно указываются предыдущая и следующая пары преподавателя.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"/>
          <p:cNvSpPr txBox="1"/>
          <p:nvPr/>
        </p:nvSpPr>
        <p:spPr>
          <a:xfrm>
            <a:off x="822960" y="25603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Агент для поиска времени консультации</a:t>
            </a:r>
            <a:endParaRPr b="0" i="0" sz="21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6"/>
          <p:cNvSpPr txBox="1"/>
          <p:nvPr/>
        </p:nvSpPr>
        <p:spPr>
          <a:xfrm>
            <a:off x="3657600" y="932688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ConsultationTimeAgent</a:t>
            </a:r>
            <a:endParaRPr b="1" i="0" sz="13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3977639" y="141732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Тестовый пример</a:t>
            </a:r>
            <a:endParaRPr b="1" i="0" sz="20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.1_input.jpg" id="275" name="Google Shape;27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45" y="2011667"/>
            <a:ext cx="4800602" cy="333756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/>
          <p:nvPr/>
        </p:nvSpPr>
        <p:spPr>
          <a:xfrm>
            <a:off x="1234425" y="5504675"/>
            <a:ext cx="4114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Формализованные входные данные</a:t>
            </a:r>
            <a:endParaRPr b="0" i="0" sz="1150" u="none" cap="none" strike="noStrike">
              <a:solidFill>
                <a:srgbClr val="50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7" name="Google Shape;27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50" y="2011667"/>
            <a:ext cx="4800601" cy="333756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6"/>
          <p:cNvSpPr txBox="1"/>
          <p:nvPr/>
        </p:nvSpPr>
        <p:spPr>
          <a:xfrm>
            <a:off x="6857990" y="5504675"/>
            <a:ext cx="4389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Результат: время консультации</a:t>
            </a:r>
            <a:endParaRPr b="0" i="0" sz="1150" u="none" cap="none" strike="noStrike">
              <a:solidFill>
                <a:srgbClr val="50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"/>
          <p:cNvSpPr txBox="1"/>
          <p:nvPr/>
        </p:nvSpPr>
        <p:spPr>
          <a:xfrm>
            <a:off x="822960" y="25603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Агент для поиска окна для самостоятельной работы</a:t>
            </a:r>
            <a:endParaRPr b="0" i="0" sz="21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7"/>
          <p:cNvSpPr txBox="1"/>
          <p:nvPr/>
        </p:nvSpPr>
        <p:spPr>
          <a:xfrm>
            <a:off x="3657600" y="932688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SelfWorkWindowAgent</a:t>
            </a:r>
            <a:endParaRPr b="1" i="0" sz="13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7"/>
          <p:cNvSpPr txBox="1"/>
          <p:nvPr/>
        </p:nvSpPr>
        <p:spPr>
          <a:xfrm>
            <a:off x="594360" y="1325880"/>
            <a:ext cx="9875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Ключевые понятия и отношения:</a:t>
            </a:r>
            <a:endParaRPr b="1" i="0" sz="19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7"/>
          <p:cNvSpPr txBox="1"/>
          <p:nvPr/>
        </p:nvSpPr>
        <p:spPr>
          <a:xfrm>
            <a:off x="822960" y="1673352"/>
            <a:ext cx="9692640" cy="1618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concept_self_work_day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concept_time_interval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rrel_lesson_count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rrel_available_from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rrel_available_to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rrel_free_duration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nrel_self_work_day_result</a:t>
            </a:r>
            <a:endParaRPr/>
          </a:p>
        </p:txBody>
      </p:sp>
      <p:sp>
        <p:nvSpPr>
          <p:cNvPr id="287" name="Google Shape;287;p27"/>
          <p:cNvSpPr txBox="1"/>
          <p:nvPr/>
        </p:nvSpPr>
        <p:spPr>
          <a:xfrm>
            <a:off x="594360" y="3438144"/>
            <a:ext cx="9875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Особенности:</a:t>
            </a:r>
            <a:endParaRPr b="1" i="0" sz="19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7"/>
          <p:cNvSpPr txBox="1"/>
          <p:nvPr/>
        </p:nvSpPr>
        <p:spPr>
          <a:xfrm>
            <a:off x="822960" y="3785615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Учитывается минимальная требуемая длительность окна.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Полностью свободный день трактуется как доступный рабочий диапазон 08:00–20:00.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При некорректной длительности или отсутствии данных действие завершается ошибкой.</a:t>
            </a:r>
            <a:endParaRPr/>
          </a:p>
        </p:txBody>
      </p:sp>
      <p:sp>
        <p:nvSpPr>
          <p:cNvPr id="289" name="Google Shape;289;p27"/>
          <p:cNvSpPr txBox="1"/>
          <p:nvPr/>
        </p:nvSpPr>
        <p:spPr>
          <a:xfrm>
            <a:off x="594360" y="4709159"/>
            <a:ext cx="9875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Формирование результата:</a:t>
            </a:r>
            <a:endParaRPr b="1" i="0" sz="19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7"/>
          <p:cNvSpPr txBox="1"/>
          <p:nvPr/>
        </p:nvSpPr>
        <p:spPr>
          <a:xfrm>
            <a:off x="822960" y="5056631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Агент оценивает занятость дня и число пар.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Формируется рекомендуемый день и свободный интервал.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Дополнительно фиксируется причина выбора окна для самостоятельной работы.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 txBox="1"/>
          <p:nvPr/>
        </p:nvSpPr>
        <p:spPr>
          <a:xfrm>
            <a:off x="822960" y="25603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Агент для поиска окна для самостоятельной работы</a:t>
            </a:r>
            <a:endParaRPr b="0" i="0" sz="21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8"/>
          <p:cNvSpPr txBox="1"/>
          <p:nvPr/>
        </p:nvSpPr>
        <p:spPr>
          <a:xfrm>
            <a:off x="3657600" y="932688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SelfWorkWindowAgent</a:t>
            </a:r>
            <a:endParaRPr b="1" i="0" sz="13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3977639" y="141732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Тестовый пример</a:t>
            </a:r>
            <a:endParaRPr b="1" i="0" sz="20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.1_input.jpg" id="298" name="Google Shape;29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6563" y="1951950"/>
            <a:ext cx="4718225" cy="415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4038263" y="6321950"/>
            <a:ext cx="4114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Формализованные входные данные</a:t>
            </a:r>
            <a:endParaRPr b="0" i="0" sz="1150" u="none" cap="none" strike="noStrike">
              <a:solidFill>
                <a:srgbClr val="50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/>
        </p:nvSpPr>
        <p:spPr>
          <a:xfrm>
            <a:off x="822960" y="256032"/>
            <a:ext cx="10515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Агент для поиска окна для самостоятельной работы</a:t>
            </a:r>
            <a:endParaRPr b="0" i="0" sz="21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9"/>
          <p:cNvSpPr txBox="1"/>
          <p:nvPr/>
        </p:nvSpPr>
        <p:spPr>
          <a:xfrm>
            <a:off x="3657600" y="932688"/>
            <a:ext cx="4846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SelfWorkWindowAgent</a:t>
            </a:r>
            <a:endParaRPr b="1" i="0" sz="13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9"/>
          <p:cNvSpPr txBox="1"/>
          <p:nvPr/>
        </p:nvSpPr>
        <p:spPr>
          <a:xfrm>
            <a:off x="3977639" y="1417320"/>
            <a:ext cx="420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Тестовый пример</a:t>
            </a:r>
            <a:endParaRPr b="1" i="0" sz="20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.1_output.jpg" id="307" name="Google Shape;30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0500" y="2009642"/>
            <a:ext cx="4800599" cy="333756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9"/>
          <p:cNvSpPr txBox="1"/>
          <p:nvPr/>
        </p:nvSpPr>
        <p:spPr>
          <a:xfrm>
            <a:off x="4000540" y="5502650"/>
            <a:ext cx="4389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Результат: окно для самостоятельной работы</a:t>
            </a:r>
            <a:endParaRPr b="0" i="0" sz="1150" u="none" cap="none" strike="noStrike">
              <a:solidFill>
                <a:srgbClr val="50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/>
          <p:nvPr/>
        </p:nvSpPr>
        <p:spPr>
          <a:xfrm>
            <a:off x="822960" y="25603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Агент для генерации релевантных уведомлений</a:t>
            </a:r>
            <a:endParaRPr b="0" i="0" sz="21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0"/>
          <p:cNvSpPr txBox="1"/>
          <p:nvPr/>
        </p:nvSpPr>
        <p:spPr>
          <a:xfrm>
            <a:off x="3657600" y="932688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GenerateRelevantNotificationsAgent</a:t>
            </a:r>
            <a:endParaRPr b="1" i="0" sz="13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0"/>
          <p:cNvSpPr txBox="1"/>
          <p:nvPr/>
        </p:nvSpPr>
        <p:spPr>
          <a:xfrm>
            <a:off x="594360" y="1325880"/>
            <a:ext cx="9875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Ключевые понятия и отношения:</a:t>
            </a:r>
            <a:endParaRPr b="1" i="0" sz="19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0"/>
          <p:cNvSpPr txBox="1"/>
          <p:nvPr/>
        </p:nvSpPr>
        <p:spPr>
          <a:xfrm>
            <a:off x="822960" y="1673352"/>
            <a:ext cx="9692640" cy="1408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concept_relevant_notification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concept_announcement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rrel_groups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rrel_disciplines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nrel_notification_announcement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nrel_notification_recipient</a:t>
            </a:r>
            <a:endParaRPr/>
          </a:p>
        </p:txBody>
      </p:sp>
      <p:sp>
        <p:nvSpPr>
          <p:cNvPr id="317" name="Google Shape;317;p30"/>
          <p:cNvSpPr txBox="1"/>
          <p:nvPr/>
        </p:nvSpPr>
        <p:spPr>
          <a:xfrm>
            <a:off x="594360" y="3227832"/>
            <a:ext cx="9875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Особенности:</a:t>
            </a:r>
            <a:endParaRPr b="1" i="0" sz="19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0"/>
          <p:cNvSpPr txBox="1"/>
          <p:nvPr/>
        </p:nvSpPr>
        <p:spPr>
          <a:xfrm>
            <a:off x="822960" y="3575304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Из объявления извлекаются явные связи и текстовые упоминания групп и дисциплин.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Получатели могут определяться как напрямую по группе, так и через учебные планы.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Если релевантные получатели не найдены, действие завершается ошибкой.</a:t>
            </a:r>
            <a:endParaRPr/>
          </a:p>
        </p:txBody>
      </p:sp>
      <p:sp>
        <p:nvSpPr>
          <p:cNvPr id="319" name="Google Shape;319;p30"/>
          <p:cNvSpPr txBox="1"/>
          <p:nvPr/>
        </p:nvSpPr>
        <p:spPr>
          <a:xfrm>
            <a:off x="594360" y="4498848"/>
            <a:ext cx="9875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Формирование результата:</a:t>
            </a:r>
            <a:endParaRPr b="1" i="0" sz="19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0"/>
          <p:cNvSpPr txBox="1"/>
          <p:nvPr/>
        </p:nvSpPr>
        <p:spPr>
          <a:xfrm>
            <a:off x="822960" y="4846320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Создаётся узел уведомления.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Уведомление связывается с исходным объявлением.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Фиксируется конкретный получатель, для которого уведомление признано релевантным.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1"/>
          <p:cNvSpPr txBox="1"/>
          <p:nvPr/>
        </p:nvSpPr>
        <p:spPr>
          <a:xfrm>
            <a:off x="822960" y="25603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Агент для генерации релевантных уведомлений</a:t>
            </a:r>
            <a:endParaRPr b="0" i="0" sz="21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1"/>
          <p:cNvSpPr txBox="1"/>
          <p:nvPr/>
        </p:nvSpPr>
        <p:spPr>
          <a:xfrm>
            <a:off x="3657600" y="932688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GenerateRelevantNotificationsAgent</a:t>
            </a:r>
            <a:endParaRPr b="1" i="0" sz="13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1"/>
          <p:cNvSpPr txBox="1"/>
          <p:nvPr/>
        </p:nvSpPr>
        <p:spPr>
          <a:xfrm>
            <a:off x="3977639" y="141732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Тестовый пример</a:t>
            </a:r>
            <a:endParaRPr b="1" i="0" sz="20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.1_makav_input.png" id="328" name="Google Shape;32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45" y="2011667"/>
            <a:ext cx="4800600" cy="3337561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1"/>
          <p:cNvSpPr txBox="1"/>
          <p:nvPr/>
        </p:nvSpPr>
        <p:spPr>
          <a:xfrm>
            <a:off x="1234425" y="5504675"/>
            <a:ext cx="4114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Формализованные входные данные</a:t>
            </a:r>
            <a:endParaRPr b="0" i="0" sz="1150" u="none" cap="none" strike="noStrike">
              <a:solidFill>
                <a:srgbClr val="50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.2_makav_output.png" id="330" name="Google Shape;33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50" y="2011667"/>
            <a:ext cx="4800599" cy="3337559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1"/>
          <p:cNvSpPr txBox="1"/>
          <p:nvPr/>
        </p:nvSpPr>
        <p:spPr>
          <a:xfrm>
            <a:off x="6857990" y="5504675"/>
            <a:ext cx="4389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Результат: релевантное уведомление</a:t>
            </a:r>
            <a:endParaRPr b="0" i="0" sz="1150" u="none" cap="none" strike="noStrike">
              <a:solidFill>
                <a:srgbClr val="50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2"/>
          <p:cNvSpPr txBox="1"/>
          <p:nvPr/>
        </p:nvSpPr>
        <p:spPr>
          <a:xfrm>
            <a:off x="822960" y="25603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Агент для получения контактов преподавателя</a:t>
            </a:r>
            <a:endParaRPr b="0" i="0" sz="21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2"/>
          <p:cNvSpPr txBox="1"/>
          <p:nvPr/>
        </p:nvSpPr>
        <p:spPr>
          <a:xfrm>
            <a:off x="3657600" y="932688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ReceiveTeacherInfoAgent</a:t>
            </a:r>
            <a:endParaRPr b="1" i="0" sz="13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94360" y="1325880"/>
            <a:ext cx="9875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Ключевые понятия и отношения:</a:t>
            </a:r>
            <a:endParaRPr b="1" i="0" sz="19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822960" y="1673352"/>
            <a:ext cx="969264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concept_teacher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rrel_email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rrel_department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nrel_works_in_department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action_receive_teacher_info</a:t>
            </a:r>
            <a:endParaRPr/>
          </a:p>
        </p:txBody>
      </p:sp>
      <p:sp>
        <p:nvSpPr>
          <p:cNvPr id="340" name="Google Shape;340;p32"/>
          <p:cNvSpPr txBox="1"/>
          <p:nvPr/>
        </p:nvSpPr>
        <p:spPr>
          <a:xfrm>
            <a:off x="594360" y="3017520"/>
            <a:ext cx="9875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Особенности:</a:t>
            </a:r>
            <a:endParaRPr b="1" i="0" sz="19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2"/>
          <p:cNvSpPr txBox="1"/>
          <p:nvPr/>
        </p:nvSpPr>
        <p:spPr>
          <a:xfrm>
            <a:off x="822960" y="3364991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Агент ищет контактные данные преподавателя в локальной БЗ.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Если данных недостаточно, может запускаться TeacherDataUpdateAgent для дозагрузки.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Поддерживаются запросы на email, кафедру или полный набор контактных сведений.</a:t>
            </a:r>
            <a:endParaRPr/>
          </a:p>
        </p:txBody>
      </p:sp>
      <p:sp>
        <p:nvSpPr>
          <p:cNvPr id="342" name="Google Shape;342;p32"/>
          <p:cNvSpPr txBox="1"/>
          <p:nvPr/>
        </p:nvSpPr>
        <p:spPr>
          <a:xfrm>
            <a:off x="594360" y="4288536"/>
            <a:ext cx="9875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Формирование результата:</a:t>
            </a:r>
            <a:endParaRPr b="1" i="0" sz="19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2"/>
          <p:cNvSpPr txBox="1"/>
          <p:nvPr/>
        </p:nvSpPr>
        <p:spPr>
          <a:xfrm>
            <a:off x="822960" y="4636007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Создаётся структурированный результат с найденными фактами о преподавателе.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В результат включаются email и/или сведения о кафедре.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Полученная SC-конструкция может быть использована интерфейсом и другими агентами.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"/>
          <p:cNvSpPr txBox="1"/>
          <p:nvPr/>
        </p:nvSpPr>
        <p:spPr>
          <a:xfrm>
            <a:off x="822960" y="25603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Агент для получения контактов преподавателя</a:t>
            </a:r>
            <a:endParaRPr b="0" i="0" sz="21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3"/>
          <p:cNvSpPr txBox="1"/>
          <p:nvPr/>
        </p:nvSpPr>
        <p:spPr>
          <a:xfrm>
            <a:off x="3657600" y="932688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ReceiveTeacherInfoAgent</a:t>
            </a:r>
            <a:endParaRPr b="1" i="0" sz="13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3"/>
          <p:cNvSpPr txBox="1"/>
          <p:nvPr/>
        </p:nvSpPr>
        <p:spPr>
          <a:xfrm>
            <a:off x="3977639" y="141732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22D4A"/>
                </a:solidFill>
                <a:latin typeface="Arial"/>
                <a:ea typeface="Arial"/>
                <a:cs typeface="Arial"/>
                <a:sym typeface="Arial"/>
              </a:rPr>
              <a:t>Тестовый пример</a:t>
            </a:r>
            <a:endParaRPr b="1" i="0" sz="2000" u="none" cap="none" strike="noStrike">
              <a:solidFill>
                <a:srgbClr val="222D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3.2_makav_input.png" id="351" name="Google Shape;35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50" y="2651125"/>
            <a:ext cx="4800600" cy="269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3"/>
          <p:cNvSpPr txBox="1"/>
          <p:nvPr/>
        </p:nvSpPr>
        <p:spPr>
          <a:xfrm>
            <a:off x="1234425" y="5504675"/>
            <a:ext cx="4114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Формализованные входные данные</a:t>
            </a:r>
            <a:endParaRPr b="0" i="0" sz="1150" u="none" cap="none" strike="noStrike">
              <a:solidFill>
                <a:srgbClr val="50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3"/>
          <p:cNvSpPr txBox="1"/>
          <p:nvPr/>
        </p:nvSpPr>
        <p:spPr>
          <a:xfrm>
            <a:off x="6857990" y="5504675"/>
            <a:ext cx="4389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05D74"/>
                </a:solidFill>
                <a:latin typeface="Arial"/>
                <a:ea typeface="Arial"/>
                <a:cs typeface="Arial"/>
                <a:sym typeface="Arial"/>
              </a:rPr>
              <a:t>Результат: контактные данные преподавателя</a:t>
            </a:r>
            <a:endParaRPr b="0" i="0" sz="1150" u="none" cap="none" strike="noStrike">
              <a:solidFill>
                <a:srgbClr val="50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4" name="Google Shape;35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1750" y="2730500"/>
            <a:ext cx="4181475" cy="2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4"/>
          <p:cNvSpPr/>
          <p:nvPr/>
        </p:nvSpPr>
        <p:spPr>
          <a:xfrm>
            <a:off x="502920" y="292608"/>
            <a:ext cx="8961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Тестирование и проверка корректности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4"/>
          <p:cNvSpPr/>
          <p:nvPr/>
        </p:nvSpPr>
        <p:spPr>
          <a:xfrm>
            <a:off x="9738360" y="329184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2" name="Google Shape;362;p34"/>
          <p:cNvCxnSpPr/>
          <p:nvPr/>
        </p:nvCxnSpPr>
        <p:spPr>
          <a:xfrm>
            <a:off x="502920" y="85039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34"/>
          <p:cNvSpPr/>
          <p:nvPr/>
        </p:nvSpPr>
        <p:spPr>
          <a:xfrm>
            <a:off x="658368" y="109728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В исходниках `tests/` описано 3</a:t>
            </a:r>
            <a:r>
              <a:rPr b="1" lang="en-US" sz="2100">
                <a:solidFill>
                  <a:srgbClr val="1D4ED8"/>
                </a:solidFill>
              </a:rPr>
              <a:t>5</a:t>
            </a:r>
            <a:r>
              <a:rPr b="1" i="0" lang="en-US" sz="21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 GTest-сценария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4"/>
          <p:cNvSpPr/>
          <p:nvPr/>
        </p:nvSpPr>
        <p:spPr>
          <a:xfrm>
            <a:off x="685800" y="1700784"/>
            <a:ext cx="5166360" cy="384048"/>
          </a:xfrm>
          <a:prstGeom prst="rect">
            <a:avLst/>
          </a:prstGeom>
          <a:solidFill>
            <a:srgbClr val="EEF4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4"/>
          <p:cNvSpPr/>
          <p:nvPr/>
        </p:nvSpPr>
        <p:spPr>
          <a:xfrm>
            <a:off x="749808" y="1755648"/>
            <a:ext cx="5038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20"/>
              <a:buFont typeface="Arial"/>
              <a:buNone/>
            </a:pPr>
            <a:r>
              <a:rPr b="1" i="0" lang="en-US" sz="122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Модуль / проверка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4"/>
          <p:cNvSpPr/>
          <p:nvPr/>
        </p:nvSpPr>
        <p:spPr>
          <a:xfrm>
            <a:off x="5989320" y="1700784"/>
            <a:ext cx="548640" cy="384048"/>
          </a:xfrm>
          <a:prstGeom prst="rect">
            <a:avLst/>
          </a:prstGeom>
          <a:solidFill>
            <a:srgbClr val="EEF4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4"/>
          <p:cNvSpPr/>
          <p:nvPr/>
        </p:nvSpPr>
        <p:spPr>
          <a:xfrm>
            <a:off x="6053328" y="1755648"/>
            <a:ext cx="4206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20"/>
              <a:buFont typeface="Arial"/>
              <a:buNone/>
            </a:pPr>
            <a:r>
              <a:rPr b="1" i="0" lang="en-US" sz="122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Кол-во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4"/>
          <p:cNvSpPr/>
          <p:nvPr/>
        </p:nvSpPr>
        <p:spPr>
          <a:xfrm>
            <a:off x="6720840" y="1700784"/>
            <a:ext cx="4617720" cy="384048"/>
          </a:xfrm>
          <a:prstGeom prst="rect">
            <a:avLst/>
          </a:prstGeom>
          <a:solidFill>
            <a:srgbClr val="EEF4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4"/>
          <p:cNvSpPr/>
          <p:nvPr/>
        </p:nvSpPr>
        <p:spPr>
          <a:xfrm>
            <a:off x="6784848" y="1755648"/>
            <a:ext cx="44897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20"/>
              <a:buFont typeface="Arial"/>
              <a:buNone/>
            </a:pPr>
            <a:r>
              <a:rPr b="1" i="0" lang="en-US" sz="122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Что подтверждается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4"/>
          <p:cNvSpPr/>
          <p:nvPr/>
        </p:nvSpPr>
        <p:spPr>
          <a:xfrm>
            <a:off x="685800" y="2121408"/>
            <a:ext cx="516636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4"/>
          <p:cNvSpPr/>
          <p:nvPr/>
        </p:nvSpPr>
        <p:spPr>
          <a:xfrm>
            <a:off x="749808" y="2176272"/>
            <a:ext cx="50383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laboratory_schedule_agent_test.cpp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4"/>
          <p:cNvSpPr/>
          <p:nvPr/>
        </p:nvSpPr>
        <p:spPr>
          <a:xfrm>
            <a:off x="5989320" y="2121408"/>
            <a:ext cx="54864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4"/>
          <p:cNvSpPr/>
          <p:nvPr/>
        </p:nvSpPr>
        <p:spPr>
          <a:xfrm>
            <a:off x="6053328" y="2176272"/>
            <a:ext cx="4206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72033"/>
                </a:solidFill>
              </a:rPr>
              <a:t>8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4"/>
          <p:cNvSpPr/>
          <p:nvPr/>
        </p:nvSpPr>
        <p:spPr>
          <a:xfrm>
            <a:off x="6720840" y="2121408"/>
            <a:ext cx="461772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4"/>
          <p:cNvSpPr/>
          <p:nvPr/>
        </p:nvSpPr>
        <p:spPr>
          <a:xfrm>
            <a:off x="6784848" y="2176272"/>
            <a:ext cx="44897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построение графика, дедлайны, отсутствие группы/занятий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4"/>
          <p:cNvSpPr/>
          <p:nvPr/>
        </p:nvSpPr>
        <p:spPr>
          <a:xfrm>
            <a:off x="685800" y="2660904"/>
            <a:ext cx="516636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4"/>
          <p:cNvSpPr/>
          <p:nvPr/>
        </p:nvSpPr>
        <p:spPr>
          <a:xfrm>
            <a:off x="749808" y="2715768"/>
            <a:ext cx="50383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consultation_time_agent_test.cpp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4"/>
          <p:cNvSpPr/>
          <p:nvPr/>
        </p:nvSpPr>
        <p:spPr>
          <a:xfrm>
            <a:off x="5989320" y="2660904"/>
            <a:ext cx="54864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4"/>
          <p:cNvSpPr/>
          <p:nvPr/>
        </p:nvSpPr>
        <p:spPr>
          <a:xfrm>
            <a:off x="6053328" y="2715768"/>
            <a:ext cx="4206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4"/>
          <p:cNvSpPr/>
          <p:nvPr/>
        </p:nvSpPr>
        <p:spPr>
          <a:xfrm>
            <a:off x="6720840" y="2660904"/>
            <a:ext cx="461772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4"/>
          <p:cNvSpPr/>
          <p:nvPr/>
        </p:nvSpPr>
        <p:spPr>
          <a:xfrm>
            <a:off x="6784848" y="2715768"/>
            <a:ext cx="44897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общие интервалы, сортировка, день недели, ошибки ввода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4"/>
          <p:cNvSpPr/>
          <p:nvPr/>
        </p:nvSpPr>
        <p:spPr>
          <a:xfrm>
            <a:off x="685800" y="3200400"/>
            <a:ext cx="516636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/>
          <p:nvPr/>
        </p:nvSpPr>
        <p:spPr>
          <a:xfrm>
            <a:off x="749808" y="3255264"/>
            <a:ext cx="50383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self_work_window_agent_test.cpp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4"/>
          <p:cNvSpPr/>
          <p:nvPr/>
        </p:nvSpPr>
        <p:spPr>
          <a:xfrm>
            <a:off x="5989320" y="3200400"/>
            <a:ext cx="54864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4"/>
          <p:cNvSpPr/>
          <p:nvPr/>
        </p:nvSpPr>
        <p:spPr>
          <a:xfrm>
            <a:off x="6053328" y="3255264"/>
            <a:ext cx="4206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4"/>
          <p:cNvSpPr/>
          <p:nvPr/>
        </p:nvSpPr>
        <p:spPr>
          <a:xfrm>
            <a:off x="6720840" y="3200400"/>
            <a:ext cx="461772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4"/>
          <p:cNvSpPr/>
          <p:nvPr/>
        </p:nvSpPr>
        <p:spPr>
          <a:xfrm>
            <a:off x="6784848" y="3255264"/>
            <a:ext cx="44897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свободный день, короткий день, плотный день, ошибка длительности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4"/>
          <p:cNvSpPr/>
          <p:nvPr/>
        </p:nvSpPr>
        <p:spPr>
          <a:xfrm>
            <a:off x="685800" y="3739896"/>
            <a:ext cx="516636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4"/>
          <p:cNvSpPr/>
          <p:nvPr/>
        </p:nvSpPr>
        <p:spPr>
          <a:xfrm>
            <a:off x="749808" y="3794760"/>
            <a:ext cx="50383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relevant_notification_agent_test.cpp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4"/>
          <p:cNvSpPr/>
          <p:nvPr/>
        </p:nvSpPr>
        <p:spPr>
          <a:xfrm>
            <a:off x="5989320" y="3739896"/>
            <a:ext cx="54864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4"/>
          <p:cNvSpPr/>
          <p:nvPr/>
        </p:nvSpPr>
        <p:spPr>
          <a:xfrm>
            <a:off x="6053328" y="3794760"/>
            <a:ext cx="4206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4"/>
          <p:cNvSpPr/>
          <p:nvPr/>
        </p:nvSpPr>
        <p:spPr>
          <a:xfrm>
            <a:off x="6720840" y="3739896"/>
            <a:ext cx="461772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4"/>
          <p:cNvSpPr/>
          <p:nvPr/>
        </p:nvSpPr>
        <p:spPr>
          <a:xfrm>
            <a:off x="6784848" y="3794760"/>
            <a:ext cx="44897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группа явно, группа по тексту, дисциплина из учебного плана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4"/>
          <p:cNvSpPr/>
          <p:nvPr/>
        </p:nvSpPr>
        <p:spPr>
          <a:xfrm>
            <a:off x="685800" y="4279392"/>
            <a:ext cx="516636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4"/>
          <p:cNvSpPr/>
          <p:nvPr/>
        </p:nvSpPr>
        <p:spPr>
          <a:xfrm>
            <a:off x="749808" y="4334256"/>
            <a:ext cx="50383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receive_teacher_info_agent_test.cpp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4"/>
          <p:cNvSpPr/>
          <p:nvPr/>
        </p:nvSpPr>
        <p:spPr>
          <a:xfrm>
            <a:off x="5989320" y="4279392"/>
            <a:ext cx="54864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4"/>
          <p:cNvSpPr/>
          <p:nvPr/>
        </p:nvSpPr>
        <p:spPr>
          <a:xfrm>
            <a:off x="6053328" y="4334256"/>
            <a:ext cx="4206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4"/>
          <p:cNvSpPr/>
          <p:nvPr/>
        </p:nvSpPr>
        <p:spPr>
          <a:xfrm>
            <a:off x="6720840" y="4279392"/>
            <a:ext cx="461772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4"/>
          <p:cNvSpPr/>
          <p:nvPr/>
        </p:nvSpPr>
        <p:spPr>
          <a:xfrm>
            <a:off x="6784848" y="4334256"/>
            <a:ext cx="44897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email, кафедра, отсутствие данных, дозагрузка из ИИС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4"/>
          <p:cNvSpPr/>
          <p:nvPr/>
        </p:nvSpPr>
        <p:spPr>
          <a:xfrm>
            <a:off x="685800" y="4818888"/>
            <a:ext cx="516636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4"/>
          <p:cNvSpPr/>
          <p:nvPr/>
        </p:nvSpPr>
        <p:spPr>
          <a:xfrm>
            <a:off x="749808" y="4873752"/>
            <a:ext cx="50383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free_time_calculator_test.cpp + IIS update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5989320" y="4818888"/>
            <a:ext cx="54864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4"/>
          <p:cNvSpPr/>
          <p:nvPr/>
        </p:nvSpPr>
        <p:spPr>
          <a:xfrm>
            <a:off x="6053328" y="4873752"/>
            <a:ext cx="4206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4"/>
          <p:cNvSpPr/>
          <p:nvPr/>
        </p:nvSpPr>
        <p:spPr>
          <a:xfrm>
            <a:off x="6720840" y="4818888"/>
            <a:ext cx="461772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4"/>
          <p:cNvSpPr/>
          <p:nvPr/>
        </p:nvSpPr>
        <p:spPr>
          <a:xfrm>
            <a:off x="6784848" y="4873752"/>
            <a:ext cx="44897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интервалы свободного времени и обновление расписания без сети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4"/>
          <p:cNvSpPr/>
          <p:nvPr/>
        </p:nvSpPr>
        <p:spPr>
          <a:xfrm>
            <a:off x="713232" y="5559552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Классы проверок: типичные корректные случаи, граничные условия и отрицательные сценарии. После выполнения проверяется не только статус action, но и наличие результата в sc-памяти.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5"/>
          <p:cNvSpPr/>
          <p:nvPr/>
        </p:nvSpPr>
        <p:spPr>
          <a:xfrm>
            <a:off x="502920" y="292608"/>
            <a:ext cx="8961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72033"/>
                </a:solidFill>
              </a:rPr>
              <a:t>Демонстрация работы агентов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5"/>
          <p:cNvSpPr/>
          <p:nvPr/>
        </p:nvSpPr>
        <p:spPr>
          <a:xfrm>
            <a:off x="9738360" y="329184"/>
            <a:ext cx="187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4" name="Google Shape;414;p35"/>
          <p:cNvCxnSpPr/>
          <p:nvPr/>
        </p:nvCxnSpPr>
        <p:spPr>
          <a:xfrm>
            <a:off x="502920" y="850392"/>
            <a:ext cx="1110990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15" name="Google Shape;415;p35" title="2026-05-19 01-37-36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3200" y="850400"/>
            <a:ext cx="7949351" cy="5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6"/>
          <p:cNvSpPr/>
          <p:nvPr/>
        </p:nvSpPr>
        <p:spPr>
          <a:xfrm>
            <a:off x="502920" y="292608"/>
            <a:ext cx="8961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Заключение: задачи курсового проекта выполнены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2" name="Google Shape;422;p36"/>
          <p:cNvCxnSpPr/>
          <p:nvPr/>
        </p:nvCxnSpPr>
        <p:spPr>
          <a:xfrm>
            <a:off x="502920" y="850392"/>
            <a:ext cx="1110990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3" name="Google Shape;423;p36"/>
          <p:cNvSpPr/>
          <p:nvPr/>
        </p:nvSpPr>
        <p:spPr>
          <a:xfrm>
            <a:off x="658368" y="1143000"/>
            <a:ext cx="384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Полученные результаты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6"/>
          <p:cNvSpPr/>
          <p:nvPr/>
        </p:nvSpPr>
        <p:spPr>
          <a:xfrm>
            <a:off x="749808" y="1270127"/>
            <a:ext cx="104241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проанализирована предметная область и обоснован переход к семантическому представлению знаний;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спроектирована БЗ Leonard: сценарии, архитектура, keynodes и SCg/SCs-формализации всех 5 сценариев;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реализован комплекс из 5 прикладных sc-агентов и 2 сервисных агентов дозагрузки данных;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исходный проект содержит SCs-базу, C++17 модули, общую библиотеку schedule-common и 33 тестовых сценария;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система формирует проверяемые графовые результаты в sc-памяти и может масштабироваться на новые группы и дисциплины.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6"/>
          <p:cNvSpPr/>
          <p:nvPr/>
        </p:nvSpPr>
        <p:spPr>
          <a:xfrm>
            <a:off x="658368" y="4277745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Практический эффект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6"/>
          <p:cNvSpPr/>
          <p:nvPr/>
        </p:nvSpPr>
        <p:spPr>
          <a:xfrm>
            <a:off x="749808" y="4891790"/>
            <a:ext cx="10332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Leonard переходит от пассивной выдачи расписания к интеллектуальной поддержке планирования: сроки работ, консультации, самоподготовка, уведомления и контакты преподавателей становятся связанными знаниями.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