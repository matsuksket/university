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embeddedFontLst>
    <p:embeddedFont>
      <p:font typeface="Calibri" panose="020F0502020204030204" pitchFamily="34" charset="0"/>
      <p:regular r:id="rId18"/>
      <p:bold r:id="rId19"/>
      <p:italic r:id="rId20"/>
      <p:boldItalic r:id="rId21"/>
    </p:embeddedFont>
    <p:embeddedFont>
      <p:font typeface="Inter" panose="020B0604020202020204" charset="0"/>
      <p:regular r:id="rId22"/>
      <p:bold r:id="rId23"/>
      <p:italic r:id="rId24"/>
      <p:boldItalic r:id="rId25"/>
    </p:embeddedFont>
    <p:embeddedFont>
      <p:font typeface="Inter SemiBold" panose="020B0604020202020204" charset="0"/>
      <p:regular r:id="rId26"/>
      <p:bold r:id="rId27"/>
      <p:italic r:id="rId28"/>
      <p:boldItalic r:id="rId29"/>
    </p:embeddedFont>
    <p:embeddedFont>
      <p:font typeface="Montserrat" panose="00000500000000000000" pitchFamily="2" charset="-52"/>
      <p:regular r:id="rId30"/>
      <p:bold r:id="rId31"/>
      <p:italic r:id="rId32"/>
      <p:boldItalic r:id="rId33"/>
    </p:embeddedFont>
    <p:embeddedFont>
      <p:font typeface="Montserrat SemiBold" panose="00000700000000000000" pitchFamily="2" charset="-52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font" Target="fonts/font1.fntdata"/><Relationship Id="rId26" Type="http://schemas.openxmlformats.org/officeDocument/2006/relationships/font" Target="fonts/font9.fntdata"/><Relationship Id="rId39" Type="http://schemas.openxmlformats.org/officeDocument/2006/relationships/viewProps" Target="viewProps.xml"/><Relationship Id="rId21" Type="http://schemas.openxmlformats.org/officeDocument/2006/relationships/font" Target="fonts/font4.fntdata"/><Relationship Id="rId34" Type="http://schemas.openxmlformats.org/officeDocument/2006/relationships/font" Target="fonts/font17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3.fntdata"/><Relationship Id="rId29" Type="http://schemas.openxmlformats.org/officeDocument/2006/relationships/font" Target="fonts/font12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7.fntdata"/><Relationship Id="rId32" Type="http://schemas.openxmlformats.org/officeDocument/2006/relationships/font" Target="fonts/font15.fntdata"/><Relationship Id="rId37" Type="http://schemas.openxmlformats.org/officeDocument/2006/relationships/font" Target="fonts/font20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6.fntdata"/><Relationship Id="rId28" Type="http://schemas.openxmlformats.org/officeDocument/2006/relationships/font" Target="fonts/font11.fntdata"/><Relationship Id="rId36" Type="http://schemas.openxmlformats.org/officeDocument/2006/relationships/font" Target="fonts/font19.fntdata"/><Relationship Id="rId10" Type="http://schemas.openxmlformats.org/officeDocument/2006/relationships/slide" Target="slides/slide9.xml"/><Relationship Id="rId19" Type="http://schemas.openxmlformats.org/officeDocument/2006/relationships/font" Target="fonts/font2.fntdata"/><Relationship Id="rId31" Type="http://schemas.openxmlformats.org/officeDocument/2006/relationships/font" Target="fonts/font1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5.fntdata"/><Relationship Id="rId27" Type="http://schemas.openxmlformats.org/officeDocument/2006/relationships/font" Target="fonts/font10.fntdata"/><Relationship Id="rId30" Type="http://schemas.openxmlformats.org/officeDocument/2006/relationships/font" Target="fonts/font13.fntdata"/><Relationship Id="rId35" Type="http://schemas.openxmlformats.org/officeDocument/2006/relationships/font" Target="fonts/font18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5" Type="http://schemas.openxmlformats.org/officeDocument/2006/relationships/font" Target="fonts/font8.fntdata"/><Relationship Id="rId33" Type="http://schemas.openxmlformats.org/officeDocument/2006/relationships/font" Target="fonts/font16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3" name="Google Shape;113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0" name="Google Shape;130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" name="Google Shape;143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2" name="Google Shape;152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3" name="Google Shape;17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4" name="Google Shape;184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9" name="Google Shape;23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5" name="Google Shape;255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6" name="Google Shape;256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9" name="Google Shape;269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1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1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Relationship Id="rId9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png"/><Relationship Id="rId3" Type="http://schemas.openxmlformats.org/officeDocument/2006/relationships/image" Target="../media/image1.png"/><Relationship Id="rId7" Type="http://schemas.openxmlformats.org/officeDocument/2006/relationships/image" Target="../media/image2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5" Type="http://schemas.openxmlformats.org/officeDocument/2006/relationships/image" Target="../media/image20.png"/><Relationship Id="rId4" Type="http://schemas.openxmlformats.org/officeDocument/2006/relationships/image" Target="../media/image9.png"/><Relationship Id="rId9" Type="http://schemas.openxmlformats.org/officeDocument/2006/relationships/image" Target="../media/image2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2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1.png"/><Relationship Id="rId7" Type="http://schemas.openxmlformats.org/officeDocument/2006/relationships/image" Target="../media/image32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1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9.png"/><Relationship Id="rId9" Type="http://schemas.openxmlformats.org/officeDocument/2006/relationships/image" Target="../media/image3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9.png"/><Relationship Id="rId4" Type="http://schemas.openxmlformats.org/officeDocument/2006/relationships/image" Target="../media/image17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85" name="Google Shape;85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62225" y="3250852"/>
            <a:ext cx="7067550" cy="2438102"/>
          </a:xfrm>
          <a:prstGeom prst="rect">
            <a:avLst/>
          </a:prstGeom>
          <a:noFill/>
          <a:ln>
            <a:noFill/>
          </a:ln>
        </p:spPr>
      </p:pic>
      <p:sp>
        <p:nvSpPr>
          <p:cNvPr id="86" name="Google Shape;86;p13"/>
          <p:cNvSpPr txBox="1"/>
          <p:nvPr/>
        </p:nvSpPr>
        <p:spPr>
          <a:xfrm>
            <a:off x="295275" y="1168896"/>
            <a:ext cx="11601450" cy="7542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4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Закон </a:t>
            </a:r>
            <a:r>
              <a:rPr lang="en-US" sz="540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стоимости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2161282"/>
            <a:ext cx="11049000" cy="518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От классической политэкономии к цифровой эре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3143250" y="3593752"/>
            <a:ext cx="5905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Докладчики: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3143250" y="4054673"/>
            <a:ext cx="59055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Мацукевич З., Евтух Т., Рассохов Е., Дорош М., Демидов А.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3143250" y="4612778"/>
            <a:ext cx="5905500" cy="3656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4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Группа:</a:t>
            </a:r>
            <a:endParaRPr/>
          </a:p>
        </p:txBody>
      </p:sp>
      <p:sp>
        <p:nvSpPr>
          <p:cNvPr id="91" name="Google Shape;91;p13"/>
          <p:cNvSpPr txBox="1"/>
          <p:nvPr/>
        </p:nvSpPr>
        <p:spPr>
          <a:xfrm>
            <a:off x="3143250" y="5026074"/>
            <a:ext cx="5905500" cy="3199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F8FAFC"/>
                </a:solidFill>
                <a:latin typeface="Inter"/>
                <a:ea typeface="Inter"/>
                <a:cs typeface="Inter"/>
                <a:sym typeface="Inter"/>
              </a:rPr>
              <a:t>гр. 421703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Google Shape;96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703189"/>
            <a:ext cx="3492549" cy="4358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349799" y="1703189"/>
            <a:ext cx="3492549" cy="4358282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128099" y="1703189"/>
            <a:ext cx="3492549" cy="4358282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94225" y="2960489"/>
            <a:ext cx="3047099" cy="64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Потребительная стоимость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66775" y="3751064"/>
            <a:ext cx="2901999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Свойство товара удовлетворять человеческие потребности. Физическая полезность предмета (утолить голод, сделать звонок).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4572524" y="2960489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Меновая стоимость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4645074" y="3427214"/>
            <a:ext cx="2901999" cy="159990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Способность обмениваться на другие блага в определенных пропорциях. Почему 1 смартфон равен 2 тоннам пшеницы?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350824" y="2960489"/>
            <a:ext cx="3047099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Общая основа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8423374" y="3427214"/>
            <a:ext cx="2901999" cy="19198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Ни физические свойства, ни полезность не совпадают. Единственное общее свойство товаров — затраченный на них </a:t>
            </a:r>
            <a:r>
              <a:rPr lang="en-US" sz="157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человеческий труд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/>
          </a:p>
        </p:txBody>
      </p:sp>
      <p:pic>
        <p:nvPicPr>
          <p:cNvPr id="106" name="Google Shape;106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989087" y="2141339"/>
            <a:ext cx="65722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834062" y="2141339"/>
            <a:ext cx="523875" cy="523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08" name="Google Shape;108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9579024" y="2141339"/>
            <a:ext cx="590550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Двойственный характер товара</a:t>
            </a:r>
            <a:endParaRPr/>
          </a:p>
        </p:txBody>
      </p:sp>
      <p:sp>
        <p:nvSpPr>
          <p:cNvPr id="110" name="Google Shape;110;p14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5" name="Google Shape;115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208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17" name="Google Shape;117;p15"/>
          <p:cNvSpPr txBox="1"/>
          <p:nvPr/>
        </p:nvSpPr>
        <p:spPr>
          <a:xfrm>
            <a:off x="1000125" y="1863328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ОНРВ: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Стоимость определяется не индивидуальным, а общественно необходимым рабочим временем.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1000125" y="3032819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Условия: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Это время при средних условиях производства, уровне умелости и интенсивности труда.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1000125" y="4202310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Маржинализм: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Объясняет колебания цен редкостью и пользой "здесь и сейчас".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1000125" y="5051821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Политэкономия: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Определяет базовый уровень цен объективными издержками (трудом).</a:t>
            </a:r>
            <a:endParaRPr/>
          </a:p>
        </p:txBody>
      </p:sp>
      <p:pic>
        <p:nvPicPr>
          <p:cNvPr id="121" name="Google Shape;121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91605"/>
            <a:ext cx="521970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2" name="Google Shape;122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901428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307091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15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24041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25" name="Google Shape;125;p15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089921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p15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Стоимость и затраты труда</a:t>
            </a:r>
            <a:endParaRPr/>
          </a:p>
        </p:txBody>
      </p:sp>
      <p:sp>
        <p:nvSpPr>
          <p:cNvPr id="127" name="Google Shape;127;p15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2" name="Google Shape;132;p1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571500" y="4491930"/>
            <a:ext cx="5238750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F8FAFC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ЭКВИВАЛЕНТ СТОИМОСТИ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6381750" y="2140446"/>
            <a:ext cx="5500687" cy="400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Денежное выражение</a:t>
            </a:r>
            <a:endParaRPr/>
          </a:p>
        </p:txBody>
      </p:sp>
      <p:sp>
        <p:nvSpPr>
          <p:cNvPr id="135" name="Google Shape;135;p16"/>
          <p:cNvSpPr txBox="1"/>
          <p:nvPr/>
        </p:nvSpPr>
        <p:spPr>
          <a:xfrm>
            <a:off x="6381750" y="2778621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Деньги — это исторически выделившийся товар, который стал всеобщим эквивалентом для всех остальных благ.</a:t>
            </a:r>
            <a:endParaRPr/>
          </a:p>
        </p:txBody>
      </p:sp>
      <p:sp>
        <p:nvSpPr>
          <p:cNvPr id="136" name="Google Shape;136;p16"/>
          <p:cNvSpPr txBox="1"/>
          <p:nvPr/>
        </p:nvSpPr>
        <p:spPr>
          <a:xfrm>
            <a:off x="6381750" y="3881437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Цена конкретного товара почти никогда не равна его стоимости в данный момент времени.</a:t>
            </a:r>
            <a:endParaRPr/>
          </a:p>
        </p:txBody>
      </p:sp>
      <p:sp>
        <p:nvSpPr>
          <p:cNvPr id="137" name="Google Shape;137;p16"/>
          <p:cNvSpPr txBox="1"/>
          <p:nvPr/>
        </p:nvSpPr>
        <p:spPr>
          <a:xfrm>
            <a:off x="6381750" y="4664273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Постоянные колебания происходят под воздействием баланса спроса и предложения на рынке.</a:t>
            </a:r>
            <a:endParaRPr/>
          </a:p>
        </p:txBody>
      </p:sp>
      <p:pic>
        <p:nvPicPr>
          <p:cNvPr id="138" name="Google Shape;138;p1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357437" y="2996505"/>
            <a:ext cx="1666875" cy="13335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Цена и Всеобщий Эквивалент</a:t>
            </a:r>
            <a:endParaRPr/>
          </a:p>
        </p:txBody>
      </p:sp>
      <p:sp>
        <p:nvSpPr>
          <p:cNvPr id="140" name="Google Shape;140;p16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5" name="Google Shape;1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1053107"/>
            <a:ext cx="11049000" cy="5658594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7"/>
          <p:cNvSpPr txBox="1"/>
          <p:nvPr/>
        </p:nvSpPr>
        <p:spPr>
          <a:xfrm>
            <a:off x="1809750" y="5751760"/>
            <a:ext cx="85725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Стоимость работает как центр притяжения. Механизм действия закона можно сравнить с маятником: отклонения цен стихийно балансируют рынок, сигнализируя о дефиците или избытке.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762000" y="146446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Маятник Рынка</a:t>
            </a:r>
            <a:endParaRPr/>
          </a:p>
        </p:txBody>
      </p:sp>
      <p:sp>
        <p:nvSpPr>
          <p:cNvPr id="149" name="Google Shape;149;p17"/>
          <p:cNvSpPr/>
          <p:nvPr/>
        </p:nvSpPr>
        <p:spPr>
          <a:xfrm>
            <a:off x="571500" y="146446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p18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5" name="Google Shape;155;p18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197733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8"/>
          <p:cNvSpPr txBox="1"/>
          <p:nvPr/>
        </p:nvSpPr>
        <p:spPr>
          <a:xfrm>
            <a:off x="6381750" y="2130921"/>
            <a:ext cx="5500687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Слепой танец цен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6381750" y="2788146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Эмиссия государством денег, не обеспеченных реальными товарами, приводит к искажению масштаба цен.</a:t>
            </a:r>
            <a:endParaRPr/>
          </a:p>
        </p:txBody>
      </p:sp>
      <p:sp>
        <p:nvSpPr>
          <p:cNvPr id="158" name="Google Shape;158;p18"/>
          <p:cNvSpPr txBox="1"/>
          <p:nvPr/>
        </p:nvSpPr>
        <p:spPr>
          <a:xfrm>
            <a:off x="6381750" y="3890962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Цены растут на всё (инфляция), но </a:t>
            </a:r>
            <a:r>
              <a:rPr lang="en-US" sz="1575" b="1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пропорции обмена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товаров друг на друга, диктуемые скрытым законом стоимости, в глубине сохраняются.</a:t>
            </a:r>
            <a:endParaRPr/>
          </a:p>
        </p:txBody>
      </p:sp>
      <p:sp>
        <p:nvSpPr>
          <p:cNvPr id="159" name="Google Shape;159;p18"/>
          <p:cNvSpPr txBox="1"/>
          <p:nvPr/>
        </p:nvSpPr>
        <p:spPr>
          <a:xfrm>
            <a:off x="6381750" y="4993778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Именно этот хаотичный танец цен выполняет важнейшие функции для выживания экономики.</a:t>
            </a:r>
            <a:endParaRPr/>
          </a:p>
        </p:txBody>
      </p:sp>
      <p:pic>
        <p:nvPicPr>
          <p:cNvPr id="160" name="Google Shape;160;p18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198685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18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Инфляция и Масштаб Цен</a:t>
            </a:r>
            <a:endParaRPr/>
          </a:p>
        </p:txBody>
      </p:sp>
      <p:sp>
        <p:nvSpPr>
          <p:cNvPr id="162" name="Google Shape;162;p18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7" name="Google Shape;167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/>
          <p:nvPr/>
        </p:nvSpPr>
        <p:spPr>
          <a:xfrm>
            <a:off x="5429250" y="1859309"/>
            <a:ext cx="1333500" cy="5715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9"/>
          <p:cNvSpPr txBox="1"/>
          <p:nvPr/>
        </p:nvSpPr>
        <p:spPr>
          <a:xfrm>
            <a:off x="295275" y="2297459"/>
            <a:ext cx="11601450" cy="1847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00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Функции закона стоимости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2286000" y="4526309"/>
            <a:ext cx="7620000" cy="85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94A3B8"/>
                </a:solidFill>
                <a:latin typeface="Inter"/>
                <a:ea typeface="Inter"/>
                <a:cs typeface="Inter"/>
                <a:sym typeface="Inter"/>
              </a:rPr>
              <a:t>Как невидимый дирижер управляет хаосом рыночной системы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5" name="Google Shape;175;p20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20"/>
          <p:cNvSpPr txBox="1"/>
          <p:nvPr/>
        </p:nvSpPr>
        <p:spPr>
          <a:xfrm>
            <a:off x="571500" y="1226194"/>
            <a:ext cx="5200650" cy="10513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Регулирующая функция</a:t>
            </a:r>
            <a:endParaRPr/>
          </a:p>
        </p:txBody>
      </p:sp>
      <p:pic>
        <p:nvPicPr>
          <p:cNvPr id="177" name="Google Shape;177;p20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8" name="Google Shape;178;p20"/>
          <p:cNvSpPr txBox="1"/>
          <p:nvPr/>
        </p:nvSpPr>
        <p:spPr>
          <a:xfrm>
            <a:off x="571500" y="2468016"/>
            <a:ext cx="52006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Аллокация ресурсов</a:t>
            </a:r>
            <a:endParaRPr/>
          </a:p>
        </p:txBody>
      </p:sp>
      <p:sp>
        <p:nvSpPr>
          <p:cNvPr id="179" name="Google Shape;179;p20"/>
          <p:cNvSpPr txBox="1"/>
          <p:nvPr/>
        </p:nvSpPr>
        <p:spPr>
          <a:xfrm>
            <a:off x="571500" y="3106191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Выступает как знаменитая "невидимая рука рынка" Адама Смита.</a:t>
            </a:r>
            <a:endParaRPr/>
          </a:p>
        </p:txBody>
      </p:sp>
      <p:sp>
        <p:nvSpPr>
          <p:cNvPr id="180" name="Google Shape;180;p20"/>
          <p:cNvSpPr txBox="1"/>
          <p:nvPr/>
        </p:nvSpPr>
        <p:spPr>
          <a:xfrm>
            <a:off x="571500" y="3889027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Без центрального плана общество понимает пропорции производства именно через цены.</a:t>
            </a:r>
            <a:endParaRPr/>
          </a:p>
        </p:txBody>
      </p:sp>
      <p:sp>
        <p:nvSpPr>
          <p:cNvPr id="181" name="Google Shape;181;p20"/>
          <p:cNvSpPr txBox="1"/>
          <p:nvPr/>
        </p:nvSpPr>
        <p:spPr>
          <a:xfrm>
            <a:off x="571500" y="4671863"/>
            <a:ext cx="495300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Капитал перетекает из перенасыщенных отраслей в дефицитные, обеспечивая рыночный баланс.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6" name="Google Shape;186;p21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87" name="Google Shape;187;p21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208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88" name="Google Shape;188;p21"/>
          <p:cNvSpPr txBox="1"/>
          <p:nvPr/>
        </p:nvSpPr>
        <p:spPr>
          <a:xfrm>
            <a:off x="1000125" y="1703337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Прогресс: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Это жесткий, но эффективный двигатель научно-технического развития.</a:t>
            </a:r>
            <a:endParaRPr/>
          </a:p>
        </p:txBody>
      </p:sp>
      <p:sp>
        <p:nvSpPr>
          <p:cNvPr id="189" name="Google Shape;189;p21"/>
          <p:cNvSpPr txBox="1"/>
          <p:nvPr/>
        </p:nvSpPr>
        <p:spPr>
          <a:xfrm>
            <a:off x="1000125" y="2552848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Снижение затрат: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Цель производителя — сделать индивидуальные издержки ниже общественно необходимых.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000125" y="3722340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Автоматизация: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Тот, кто первым внедряет конвейеры и роботов, получает временную сверхприбыль.</a:t>
            </a:r>
            <a:endParaRPr/>
          </a:p>
        </p:txBody>
      </p:sp>
      <p:sp>
        <p:nvSpPr>
          <p:cNvPr id="191" name="Google Shape;191;p21"/>
          <p:cNvSpPr txBox="1"/>
          <p:nvPr/>
        </p:nvSpPr>
        <p:spPr>
          <a:xfrm>
            <a:off x="1000125" y="4891831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Эволюция: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"Гипотеза Черной Королевы" — чтобы не обанкротиться, нужно бежать изо всех сил.</a:t>
            </a:r>
            <a:endParaRPr/>
          </a:p>
        </p:txBody>
      </p:sp>
      <p:pic>
        <p:nvPicPr>
          <p:cNvPr id="192" name="Google Shape;192;p21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91605"/>
            <a:ext cx="521970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3" name="Google Shape;193;p21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741437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p21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590948"/>
            <a:ext cx="1714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p21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376044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96" name="Google Shape;196;p21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4929931"/>
            <a:ext cx="20002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197" name="Google Shape;197;p21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Стимулирующая функция</a:t>
            </a:r>
            <a:endParaRPr/>
          </a:p>
        </p:txBody>
      </p:sp>
      <p:sp>
        <p:nvSpPr>
          <p:cNvPr id="198" name="Google Shape;198;p21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3" name="Google Shape;203;p22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4" name="Google Shape;204;p22"/>
          <p:cNvSpPr txBox="1"/>
          <p:nvPr/>
        </p:nvSpPr>
        <p:spPr>
          <a:xfrm>
            <a:off x="1762125" y="2183308"/>
            <a:ext cx="909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Жесткий отбор: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Рынок абсолютно безжалостен к тем производителям, которые не смогли снизить издержки.</a:t>
            </a:r>
            <a:endParaRPr/>
          </a:p>
        </p:txBody>
      </p:sp>
      <p:sp>
        <p:nvSpPr>
          <p:cNvPr id="205" name="Google Shape;205;p22"/>
          <p:cNvSpPr txBox="1"/>
          <p:nvPr/>
        </p:nvSpPr>
        <p:spPr>
          <a:xfrm>
            <a:off x="1762125" y="3032819"/>
            <a:ext cx="909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Банкротство: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Неэффективные предприятия разоряются, а их средства производства скупают более успешные конкуренты.</a:t>
            </a:r>
            <a:endParaRPr/>
          </a:p>
        </p:txBody>
      </p:sp>
      <p:sp>
        <p:nvSpPr>
          <p:cNvPr id="206" name="Google Shape;206;p22"/>
          <p:cNvSpPr txBox="1"/>
          <p:nvPr/>
        </p:nvSpPr>
        <p:spPr>
          <a:xfrm>
            <a:off x="1762125" y="3882330"/>
            <a:ext cx="909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Социальное расслоение: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Закон стоимости объективно разделяет общество на богатеющих владельцев капитала и тех, кто продает свой труд.</a:t>
            </a:r>
            <a:endParaRPr/>
          </a:p>
        </p:txBody>
      </p:sp>
      <p:sp>
        <p:nvSpPr>
          <p:cNvPr id="207" name="Google Shape;207;p22"/>
          <p:cNvSpPr txBox="1"/>
          <p:nvPr/>
        </p:nvSpPr>
        <p:spPr>
          <a:xfrm>
            <a:off x="1762125" y="4731841"/>
            <a:ext cx="909637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Концентрация: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Эти процессы ведут к постоянному укрупнению капитала и возникновению монополий.</a:t>
            </a:r>
            <a:endParaRPr/>
          </a:p>
        </p:txBody>
      </p:sp>
      <p:pic>
        <p:nvPicPr>
          <p:cNvPr id="208" name="Google Shape;208;p22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333500" y="2221408"/>
            <a:ext cx="20002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9" name="Google Shape;209;p22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333500" y="307091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22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333500" y="3920430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p22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333500" y="4769941"/>
            <a:ext cx="257175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12" name="Google Shape;212;p22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Дифференцирующая функция</a:t>
            </a:r>
            <a:endParaRPr/>
          </a:p>
        </p:txBody>
      </p:sp>
      <p:sp>
        <p:nvSpPr>
          <p:cNvPr id="213" name="Google Shape;213;p22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8" name="Google Shape;218;p2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9" name="Google Shape;219;p2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4358580"/>
            <a:ext cx="3314700" cy="220399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0" name="Google Shape;220;p2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4438650" y="1118294"/>
            <a:ext cx="3314700" cy="2478285"/>
          </a:xfrm>
          <a:prstGeom prst="rect">
            <a:avLst/>
          </a:prstGeom>
          <a:noFill/>
          <a:ln>
            <a:noFill/>
          </a:ln>
        </p:spPr>
      </p:pic>
      <p:pic>
        <p:nvPicPr>
          <p:cNvPr id="221" name="Google Shape;221;p2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305800" y="4358580"/>
            <a:ext cx="3314700" cy="2203995"/>
          </a:xfrm>
          <a:prstGeom prst="rect">
            <a:avLst/>
          </a:prstGeom>
          <a:noFill/>
          <a:ln>
            <a:noFill/>
          </a:ln>
        </p:spPr>
      </p:pic>
      <p:sp>
        <p:nvSpPr>
          <p:cNvPr id="222" name="Google Shape;222;p23"/>
          <p:cNvSpPr/>
          <p:nvPr/>
        </p:nvSpPr>
        <p:spPr>
          <a:xfrm>
            <a:off x="571500" y="3958530"/>
            <a:ext cx="11049000" cy="38100"/>
          </a:xfrm>
          <a:prstGeom prst="rect">
            <a:avLst/>
          </a:prstGeom>
          <a:solidFill>
            <a:srgbClr val="33415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/>
          <p:nvPr/>
        </p:nvSpPr>
        <p:spPr>
          <a:xfrm>
            <a:off x="698658" y="4606230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Простое производство</a:t>
            </a:r>
            <a:endParaRPr/>
          </a:p>
        </p:txBody>
      </p:sp>
      <p:sp>
        <p:nvSpPr>
          <p:cNvPr id="224" name="Google Shape;224;p23"/>
          <p:cNvSpPr txBox="1"/>
          <p:nvPr/>
        </p:nvSpPr>
        <p:spPr>
          <a:xfrm>
            <a:off x="771525" y="5492055"/>
            <a:ext cx="2914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Ремесленники. Цель — потребление. Закон действует почти в чистом виде.</a:t>
            </a:r>
            <a:endParaRPr/>
          </a:p>
        </p:txBody>
      </p:sp>
      <p:sp>
        <p:nvSpPr>
          <p:cNvPr id="225" name="Google Shape;225;p23"/>
          <p:cNvSpPr txBox="1"/>
          <p:nvPr/>
        </p:nvSpPr>
        <p:spPr>
          <a:xfrm>
            <a:off x="4565808" y="1365944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Капитализм</a:t>
            </a:r>
            <a:endParaRPr/>
          </a:p>
        </p:txBody>
      </p:sp>
      <p:sp>
        <p:nvSpPr>
          <p:cNvPr id="226" name="Google Shape;226;p23"/>
          <p:cNvSpPr txBox="1"/>
          <p:nvPr/>
        </p:nvSpPr>
        <p:spPr>
          <a:xfrm>
            <a:off x="4638675" y="2251769"/>
            <a:ext cx="2914650" cy="10971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Цель — рост капитала (прибавочная стоимость). Формируются цены производства.</a:t>
            </a:r>
            <a:endParaRPr/>
          </a:p>
        </p:txBody>
      </p:sp>
      <p:sp>
        <p:nvSpPr>
          <p:cNvPr id="227" name="Google Shape;227;p23"/>
          <p:cNvSpPr txBox="1"/>
          <p:nvPr/>
        </p:nvSpPr>
        <p:spPr>
          <a:xfrm>
            <a:off x="8432958" y="4606230"/>
            <a:ext cx="3060382" cy="2762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8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Монополии</a:t>
            </a:r>
            <a:endParaRPr/>
          </a:p>
        </p:txBody>
      </p:sp>
      <p:sp>
        <p:nvSpPr>
          <p:cNvPr id="228" name="Google Shape;228;p23"/>
          <p:cNvSpPr txBox="1"/>
          <p:nvPr/>
        </p:nvSpPr>
        <p:spPr>
          <a:xfrm>
            <a:off x="8505825" y="5025330"/>
            <a:ext cx="2914650" cy="3238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F8FAFC"/>
                </a:solidFill>
                <a:latin typeface="Montserrat"/>
                <a:ea typeface="Montserrat"/>
                <a:cs typeface="Montserrat"/>
                <a:sym typeface="Montserrat"/>
              </a:rPr>
              <a:t>XX - XXI век</a:t>
            </a:r>
            <a:endParaRPr/>
          </a:p>
        </p:txBody>
      </p:sp>
      <p:sp>
        <p:nvSpPr>
          <p:cNvPr id="229" name="Google Shape;229;p23"/>
          <p:cNvSpPr txBox="1"/>
          <p:nvPr/>
        </p:nvSpPr>
        <p:spPr>
          <a:xfrm>
            <a:off x="8505825" y="5492055"/>
            <a:ext cx="2914650" cy="8228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Корпорации диктуют свои условия, серьезно искажая классический механизм.</a:t>
            </a:r>
            <a:endParaRPr/>
          </a:p>
        </p:txBody>
      </p:sp>
      <p:pic>
        <p:nvPicPr>
          <p:cNvPr id="230" name="Google Shape;230;p2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560165" y="5111055"/>
            <a:ext cx="1337220" cy="228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1" name="Google Shape;231;p23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373290" y="1796057"/>
            <a:ext cx="1445418" cy="303311"/>
          </a:xfrm>
          <a:prstGeom prst="rect">
            <a:avLst/>
          </a:prstGeom>
          <a:noFill/>
          <a:ln>
            <a:noFill/>
          </a:ln>
        </p:spPr>
      </p:pic>
      <p:sp>
        <p:nvSpPr>
          <p:cNvPr id="232" name="Google Shape;232;p23"/>
          <p:cNvSpPr/>
          <p:nvPr/>
        </p:nvSpPr>
        <p:spPr>
          <a:xfrm>
            <a:off x="2114550" y="386328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3"/>
          <p:cNvSpPr/>
          <p:nvPr/>
        </p:nvSpPr>
        <p:spPr>
          <a:xfrm>
            <a:off x="5981700" y="386328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3"/>
          <p:cNvSpPr/>
          <p:nvPr/>
        </p:nvSpPr>
        <p:spPr>
          <a:xfrm>
            <a:off x="9848850" y="3863280"/>
            <a:ext cx="228600" cy="228600"/>
          </a:xfrm>
          <a:prstGeom prst="roundRect">
            <a:avLst>
              <a:gd name="adj" fmla="val 50000"/>
            </a:avLst>
          </a:prstGeom>
          <a:solidFill>
            <a:srgbClr val="0F172A"/>
          </a:solidFill>
          <a:ln w="38100" cap="flat" cmpd="sng">
            <a:solidFill>
              <a:srgbClr val="38BDF8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3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Историческая эволюция</a:t>
            </a:r>
            <a:endParaRPr/>
          </a:p>
        </p:txBody>
      </p:sp>
      <p:sp>
        <p:nvSpPr>
          <p:cNvPr id="236" name="Google Shape;236;p23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1" name="Google Shape;241;p2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2" name="Google Shape;242;p2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381750" y="1882080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43" name="Google Shape;243;p24"/>
          <p:cNvSpPr txBox="1"/>
          <p:nvPr/>
        </p:nvSpPr>
        <p:spPr>
          <a:xfrm>
            <a:off x="1000125" y="1703337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Строение капитала: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Отрасли различаются. Нефтезавод имеет массу машин, а швейная мануфактура — много ручного труда.</a:t>
            </a:r>
            <a:endParaRPr/>
          </a:p>
        </p:txBody>
      </p:sp>
      <p:sp>
        <p:nvSpPr>
          <p:cNvPr id="244" name="Google Shape;244;p24"/>
          <p:cNvSpPr txBox="1"/>
          <p:nvPr/>
        </p:nvSpPr>
        <p:spPr>
          <a:xfrm>
            <a:off x="1000125" y="2872829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Противоречие: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Если бы закон действовал прямо, трудоемкие предприятия приносили бы сверхприбыли.</a:t>
            </a:r>
            <a:endParaRPr/>
          </a:p>
        </p:txBody>
      </p:sp>
      <p:sp>
        <p:nvSpPr>
          <p:cNvPr id="245" name="Google Shape;245;p24"/>
          <p:cNvSpPr txBox="1"/>
          <p:nvPr/>
        </p:nvSpPr>
        <p:spPr>
          <a:xfrm>
            <a:off x="1000125" y="4042320"/>
            <a:ext cx="4810125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Решение: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Капитал перетекает, цены формируются как "издержки + средняя прибыль".</a:t>
            </a:r>
            <a:endParaRPr/>
          </a:p>
        </p:txBody>
      </p:sp>
      <p:sp>
        <p:nvSpPr>
          <p:cNvPr id="246" name="Google Shape;246;p24"/>
          <p:cNvSpPr txBox="1"/>
          <p:nvPr/>
        </p:nvSpPr>
        <p:spPr>
          <a:xfrm>
            <a:off x="1000125" y="5211812"/>
            <a:ext cx="4810125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1" i="0" u="none" strike="noStrike" cap="none">
                <a:solidFill>
                  <a:srgbClr val="F1F5F9"/>
                </a:solidFill>
                <a:latin typeface="Inter"/>
                <a:ea typeface="Inter"/>
                <a:cs typeface="Inter"/>
                <a:sym typeface="Inter"/>
              </a:rPr>
              <a:t>Итог:</a:t>
            </a: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 Общая сумма цен в обществе всё равно равна общей сумме стоимостей.</a:t>
            </a:r>
            <a:endParaRPr/>
          </a:p>
        </p:txBody>
      </p:sp>
      <p:pic>
        <p:nvPicPr>
          <p:cNvPr id="247" name="Google Shape;247;p2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391275" y="1891605"/>
            <a:ext cx="5219700" cy="3981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p2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571500" y="1741437"/>
            <a:ext cx="257175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9" name="Google Shape;249;p2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71500" y="2910929"/>
            <a:ext cx="28575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0" name="Google Shape;250;p2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571500" y="4080420"/>
            <a:ext cx="228600" cy="247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2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571500" y="5249912"/>
            <a:ext cx="209550" cy="247650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24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Цены производства</a:t>
            </a:r>
            <a:endParaRPr/>
          </a:p>
        </p:txBody>
      </p:sp>
      <p:sp>
        <p:nvSpPr>
          <p:cNvPr id="253" name="Google Shape;253;p24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2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59" name="Google Shape;259;p2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285875" y="1977330"/>
            <a:ext cx="3810000" cy="3810000"/>
          </a:xfrm>
          <a:prstGeom prst="rect">
            <a:avLst/>
          </a:prstGeom>
          <a:noFill/>
          <a:ln>
            <a:noFill/>
          </a:ln>
        </p:spPr>
      </p:pic>
      <p:sp>
        <p:nvSpPr>
          <p:cNvPr id="260" name="Google Shape;260;p25"/>
          <p:cNvSpPr txBox="1"/>
          <p:nvPr/>
        </p:nvSpPr>
        <p:spPr>
          <a:xfrm>
            <a:off x="6381750" y="2081361"/>
            <a:ext cx="5500687" cy="83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XXI Век: Традиционные сектора</a:t>
            </a:r>
            <a:endParaRPr/>
          </a:p>
        </p:txBody>
      </p:sp>
      <p:sp>
        <p:nvSpPr>
          <p:cNvPr id="261" name="Google Shape;261;p25"/>
          <p:cNvSpPr txBox="1"/>
          <p:nvPr/>
        </p:nvSpPr>
        <p:spPr>
          <a:xfrm>
            <a:off x="6381750" y="3157686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В материальном производстве закон стоимости продолжает действовать безотказно.</a:t>
            </a:r>
            <a:endParaRPr/>
          </a:p>
        </p:txBody>
      </p:sp>
      <p:sp>
        <p:nvSpPr>
          <p:cNvPr id="262" name="Google Shape;262;p25"/>
          <p:cNvSpPr txBox="1"/>
          <p:nvPr/>
        </p:nvSpPr>
        <p:spPr>
          <a:xfrm>
            <a:off x="6381750" y="3940522"/>
            <a:ext cx="5238750" cy="9599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Перенос заводов корпорациями в страны Азии — следствие того, что стоимость воспроизводства рабочей силы там значительно ниже.</a:t>
            </a:r>
            <a:endParaRPr/>
          </a:p>
        </p:txBody>
      </p:sp>
      <p:sp>
        <p:nvSpPr>
          <p:cNvPr id="263" name="Google Shape;263;p25"/>
          <p:cNvSpPr txBox="1"/>
          <p:nvPr/>
        </p:nvSpPr>
        <p:spPr>
          <a:xfrm>
            <a:off x="6381750" y="5043338"/>
            <a:ext cx="523875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Это прямое проявление действия закона стоимости уже в мировом масштабе.</a:t>
            </a:r>
            <a:endParaRPr/>
          </a:p>
        </p:txBody>
      </p:sp>
      <p:pic>
        <p:nvPicPr>
          <p:cNvPr id="264" name="Google Shape;264;p2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295400" y="1986855"/>
            <a:ext cx="3790950" cy="3790950"/>
          </a:xfrm>
          <a:prstGeom prst="rect">
            <a:avLst/>
          </a:prstGeom>
          <a:noFill/>
          <a:ln>
            <a:noFill/>
          </a:ln>
        </p:spPr>
      </p:pic>
      <p:sp>
        <p:nvSpPr>
          <p:cNvPr id="265" name="Google Shape;265;p25"/>
          <p:cNvSpPr txBox="1"/>
          <p:nvPr/>
        </p:nvSpPr>
        <p:spPr>
          <a:xfrm>
            <a:off x="762000" y="571500"/>
            <a:ext cx="11401425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Глобализация и стоимость</a:t>
            </a:r>
            <a:endParaRPr/>
          </a:p>
        </p:txBody>
      </p:sp>
      <p:sp>
        <p:nvSpPr>
          <p:cNvPr id="266" name="Google Shape;266;p25"/>
          <p:cNvSpPr/>
          <p:nvPr/>
        </p:nvSpPr>
        <p:spPr>
          <a:xfrm>
            <a:off x="571500" y="571500"/>
            <a:ext cx="57150" cy="5256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1" name="Google Shape;271;p26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2" name="Google Shape;272;p26"/>
          <p:cNvSpPr txBox="1"/>
          <p:nvPr/>
        </p:nvSpPr>
        <p:spPr>
          <a:xfrm>
            <a:off x="571500" y="1649015"/>
            <a:ext cx="5200650" cy="5256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4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Цифровой парадокс</a:t>
            </a:r>
            <a:endParaRPr/>
          </a:p>
        </p:txBody>
      </p:sp>
      <p:pic>
        <p:nvPicPr>
          <p:cNvPr id="273" name="Google Shape;273;p26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096000" y="0"/>
            <a:ext cx="6096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74" name="Google Shape;274;p26"/>
          <p:cNvSpPr txBox="1"/>
          <p:nvPr/>
        </p:nvSpPr>
        <p:spPr>
          <a:xfrm>
            <a:off x="571500" y="2365176"/>
            <a:ext cx="5200650" cy="447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0" i="0" u="none" strike="noStrike" cap="none">
                <a:solidFill>
                  <a:srgbClr val="38BDF8"/>
                </a:solidFill>
                <a:latin typeface="Montserrat SemiBold"/>
                <a:ea typeface="Montserrat SemiBold"/>
                <a:cs typeface="Montserrat SemiBold"/>
                <a:sym typeface="Montserrat SemiBold"/>
              </a:rPr>
              <a:t>Нулевые издержки</a:t>
            </a:r>
            <a:endParaRPr/>
          </a:p>
        </p:txBody>
      </p:sp>
      <p:sp>
        <p:nvSpPr>
          <p:cNvPr id="275" name="Google Shape;275;p26"/>
          <p:cNvSpPr txBox="1"/>
          <p:nvPr/>
        </p:nvSpPr>
        <p:spPr>
          <a:xfrm>
            <a:off x="571500" y="3003351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Копирование цифрового контента (Ctrl+C) почти не требует человеческого труда.</a:t>
            </a:r>
            <a:endParaRPr/>
          </a:p>
        </p:txBody>
      </p:sp>
      <p:sp>
        <p:nvSpPr>
          <p:cNvPr id="276" name="Google Shape;276;p26"/>
          <p:cNvSpPr txBox="1"/>
          <p:nvPr/>
        </p:nvSpPr>
        <p:spPr>
          <a:xfrm>
            <a:off x="571500" y="3786187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По логике закона, цена должна стремиться к нулю, но IT-гиганты получают сверхприбыли.</a:t>
            </a:r>
            <a:endParaRPr/>
          </a:p>
        </p:txBody>
      </p:sp>
      <p:sp>
        <p:nvSpPr>
          <p:cNvPr id="277" name="Google Shape;277;p26"/>
          <p:cNvSpPr txBox="1"/>
          <p:nvPr/>
        </p:nvSpPr>
        <p:spPr>
          <a:xfrm>
            <a:off x="571500" y="4569023"/>
            <a:ext cx="4953000" cy="6399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75" b="0" i="0" u="none" strike="noStrike" cap="none">
                <a:solidFill>
                  <a:srgbClr val="CBD5E1"/>
                </a:solidFill>
                <a:latin typeface="Inter"/>
                <a:ea typeface="Inter"/>
                <a:cs typeface="Inter"/>
                <a:sym typeface="Inter"/>
              </a:rPr>
              <a:t>Механизм: монополия на интеллектуальную собственность (патенты) и извлечение ренты.</a:t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2" name="Google Shape;282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24125" y="4669035"/>
            <a:ext cx="7143750" cy="108585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27"/>
          <p:cNvSpPr txBox="1"/>
          <p:nvPr/>
        </p:nvSpPr>
        <p:spPr>
          <a:xfrm>
            <a:off x="295275" y="1102965"/>
            <a:ext cx="11601450" cy="10477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6750" b="1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Спасибо за </a:t>
            </a:r>
            <a:r>
              <a:rPr lang="en-US" sz="6750" b="1" i="0" u="none" strike="noStrike" cap="none">
                <a:solidFill>
                  <a:srgbClr val="38BDF8"/>
                </a:solidFill>
                <a:latin typeface="Montserrat"/>
                <a:ea typeface="Montserrat"/>
                <a:cs typeface="Montserrat"/>
                <a:sym typeface="Montserrat"/>
              </a:rPr>
              <a:t>внимание!</a:t>
            </a:r>
            <a:endParaRPr/>
          </a:p>
        </p:txBody>
      </p:sp>
      <p:sp>
        <p:nvSpPr>
          <p:cNvPr id="285" name="Google Shape;285;p27"/>
          <p:cNvSpPr txBox="1"/>
          <p:nvPr/>
        </p:nvSpPr>
        <p:spPr>
          <a:xfrm>
            <a:off x="1809750" y="2436465"/>
            <a:ext cx="8572500" cy="128007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5995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E2E8F0"/>
                </a:solidFill>
                <a:latin typeface="Inter"/>
                <a:ea typeface="Inter"/>
                <a:cs typeface="Inter"/>
                <a:sym typeface="Inter"/>
              </a:rPr>
              <a:t>Закон стоимости — это базовая логика рыночной системы, определяющая развитие, потоки капитала и причины макроэкономических кризисов.</a:t>
            </a:r>
            <a:endParaRPr/>
          </a:p>
        </p:txBody>
      </p:sp>
      <p:sp>
        <p:nvSpPr>
          <p:cNvPr id="286" name="Google Shape;286;p27"/>
          <p:cNvSpPr txBox="1"/>
          <p:nvPr/>
        </p:nvSpPr>
        <p:spPr>
          <a:xfrm>
            <a:off x="2914650" y="5259585"/>
            <a:ext cx="6362700" cy="295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950" b="0" i="0" u="none" strike="noStrike" cap="none">
                <a:solidFill>
                  <a:srgbClr val="38BDF8"/>
                </a:solidFill>
                <a:latin typeface="Inter SemiBold"/>
                <a:ea typeface="Inter SemiBold"/>
                <a:cs typeface="Inter SemiBold"/>
                <a:sym typeface="Inter SemiBold"/>
              </a:rPr>
              <a:t>Гр. 421703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684</Words>
  <Application>Microsoft Office PowerPoint</Application>
  <PresentationFormat>Широкоэкранный</PresentationFormat>
  <Paragraphs>74</Paragraphs>
  <Slides>15</Slides>
  <Notes>15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15</vt:i4>
      </vt:variant>
    </vt:vector>
  </HeadingPairs>
  <TitlesOfParts>
    <vt:vector size="22" baseType="lpstr">
      <vt:lpstr>Montserrat SemiBold</vt:lpstr>
      <vt:lpstr>Montserrat</vt:lpstr>
      <vt:lpstr>Inter</vt:lpstr>
      <vt:lpstr>Arial</vt:lpstr>
      <vt:lpstr>Inter SemiBold</vt:lpstr>
      <vt:lpstr>Calibri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User</dc:creator>
  <cp:lastModifiedBy>Захар Мацукевич</cp:lastModifiedBy>
  <cp:revision>1</cp:revision>
  <dcterms:modified xsi:type="dcterms:W3CDTF">2026-05-21T21:31:15Z</dcterms:modified>
</cp:coreProperties>
</file>