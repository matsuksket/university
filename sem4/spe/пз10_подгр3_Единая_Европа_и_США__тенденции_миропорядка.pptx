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erriweather" panose="00000500000000000000" pitchFamily="2" charset="-52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9599AD-79F0-4182-A64D-C1EBF86EA943}">
  <a:tblStyle styleId="{6E9599AD-79F0-4182-A64D-C1EBF86EA9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19412" y="1471612"/>
            <a:ext cx="63531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ПОЛИТОЛОГИЯ / СОВРЕМЕННАЯ ПОЛИТЭКОНОМИЯ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0278" y="2165002"/>
            <a:ext cx="11551443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Единая Европа: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трудности, успехи и перспективы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381625" y="4165252"/>
            <a:ext cx="142875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56507"/>
            <a:ext cx="5334000" cy="34592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ЕДИНАЯ ЕВРОПА: КОНЦЕПЦИЯ ПРОЕКТА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266057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Европейский Союз — уникальное интеграционное объединение, основанное на: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012828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ЕС аккумулирует около 18% мирового ВВП.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56507"/>
            <a:ext cx="17335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85825" y="306133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06228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Экономическом единстве: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общий рынок и таможенный союз.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5825" y="364801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364896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Политическом союзе: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наднациональные институты (Европарламент, ЕК).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85825" y="423469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4235648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Общих ценностях: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демократия, права человека, верховенство права.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7944"/>
            <a:ext cx="349240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27944"/>
            <a:ext cx="3492549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27944"/>
            <a:ext cx="3492400" cy="331648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КЛЮЧЕВЫЕ УСПЕХИ ИНТЕГРАЦИИ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461319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57250" y="3251894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Еврозона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7250" y="3775769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Введение единой валюты евро (2002) устранило валютные риски и снизило транзакционные издержки.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400" y="246131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635400" y="3251894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Шенген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35400" y="3775769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Свобода передвижения людей, товаров и капитала — фундамент европейской идентичности.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700" y="24613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413700" y="3251894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Единый рынок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13700" y="3775769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Крупнейшая торговая зона в мире, обеспечивающая конкурентоспособность Европы.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6509"/>
            <a:ext cx="5334000" cy="293920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ТРУДНОСТИ ФОРМИРОВАНИЯ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16509"/>
            <a:ext cx="923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286500" y="2583209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Основные барьеры: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00825" y="304898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0" y="3049934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Суверенитет vs Интеграция: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нежелание стран передавать полномочия Брюсселю.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00825" y="363566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67500" y="3636615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Экономический разрыв: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дисбаланс между богатым Севером и дотационным Югом/Востоком.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00825" y="4515683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67500" y="4516635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Бюрократизация: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сложность принятия решений (требуется консенсус 27 стран).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СОЦИАЛЬНО-ДЕМОГРАФИЧЕСКИЕ ВЫЗОВЫ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graphicFrame>
        <p:nvGraphicFramePr>
          <p:cNvPr id="155" name="Google Shape;155;p17"/>
          <p:cNvGraphicFramePr/>
          <p:nvPr/>
        </p:nvGraphicFramePr>
        <p:xfrm>
          <a:off x="571500" y="26812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{6E9599AD-79F0-4182-A64D-C1EBF86EA943}</a:tableStyleId>
              </a:tblPr>
              <a:tblGrid>
                <a:gridCol w="20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Фактор вызова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Проявление в Европе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Последствия для единства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Старение населения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Рост нагрузки на пенсионные системы в ФРГ, Франции, Италии.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Замедление экономического роста.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Миграционный кризис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Потоки беженцев с Ближнего Востока и Африки.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Рост правого популизма и евроскептицизма.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Депопуляция Востока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Отток кадров из Польши, Прибалтики, Болгарии на Запад.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Усиление неравенства внутри ЕС.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6" name="Google Shape;156;p17"/>
          <p:cNvSpPr/>
          <p:nvPr/>
        </p:nvSpPr>
        <p:spPr>
          <a:xfrm>
            <a:off x="571500" y="3876675"/>
            <a:ext cx="2081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652712" y="3876675"/>
            <a:ext cx="51823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835056" y="3876675"/>
            <a:ext cx="3785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4572000"/>
            <a:ext cx="2081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652712" y="4572000"/>
            <a:ext cx="51823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835056" y="4572000"/>
            <a:ext cx="3785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5067300"/>
            <a:ext cx="2081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652712" y="5067300"/>
            <a:ext cx="51823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835056" y="5067300"/>
            <a:ext cx="3785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35647"/>
            <a:ext cx="3492400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035647"/>
            <a:ext cx="3492549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3035647"/>
            <a:ext cx="3492400" cy="249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BREXIT: УДАР ПО ЕВРОИНТЕГРАЦИИ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224700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Выход Великобритании из ЕС (2020) стал первым случаем дезинтеграции, выявив системные проблемы: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3635722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Потеря донора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7250" y="4159597"/>
            <a:ext cx="29209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ЕС лишился одного из крупнейших плательщиков в общий бюджет.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35400" y="3635722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Прецедент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635400" y="415959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Возникновение риска "эффекта домино" в других странах.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413700" y="3635722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Геополитика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413700" y="4159597"/>
            <a:ext cx="29209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Ослабление военного и дипломатического потенциала союза.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9375"/>
            <a:ext cx="5334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62000" y="381000"/>
            <a:ext cx="114014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ПЕРСПЕКТИВЫ: ЗЕЛЕНАЯ И ЦИФРОВАЯ ЕВРОПА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381000"/>
            <a:ext cx="76200" cy="10477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2565201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European Green Deal: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3089076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Цель — стать первым климатически нейтральным континентом к 2050 году.</a:t>
            </a:r>
            <a:endParaRPr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19375"/>
            <a:ext cx="1485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885825" y="3884354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52500" y="388530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Снижение зависимости от ископаемого топлива.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85825" y="447103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52500" y="447198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Внедрение возобновляемых источников энергии.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85825" y="505771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52500" y="505866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Цифровизация промышленности и госуправления.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095375"/>
            <a:ext cx="12192000" cy="5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ТЕНДЕНЦИЯ УДЕЛЬНОГО ВЕСА ЕС В ВВП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63016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*Снижение доли связано с бурным ростом Китая и Индии, что требует от ЕС ускоренной модернизации.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11715750" y="63722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1061144"/>
            <a:ext cx="50006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СТРАТЕГИЧЕСКАЯ АВТОНОМИЯ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061144"/>
            <a:ext cx="76200" cy="10477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2604194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ЕС стремится уменьшить зависимость от внешних игроков (США, Китай) в критических областях: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85825" y="3883312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3884265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Оборона: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создание европейских сил быстрого реагирования.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85825" y="4469993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52500" y="4470945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Технологии: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производство собственных микрочипов.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85825" y="5056673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52500" y="5057626"/>
            <a:ext cx="4572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Энергетика: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отказ от импорта из РФ и поиск новых партнеров.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35647"/>
            <a:ext cx="3492400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035647"/>
            <a:ext cx="3492549" cy="249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3035647"/>
            <a:ext cx="3492400" cy="24992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США И ЕВРОПА: ОБЩНОСТЬ ИНТЕРЕСОВ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24700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Северная Америка и Европа составляют фундамент «коллективного Запада»: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57250" y="3635722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Цивилизация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57250" y="4159597"/>
            <a:ext cx="29209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Общая культура, история, приверженность либеральной демократии.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4635400" y="3635722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Геополитика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635400" y="4159597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Совместное сдерживание оппонентов (РФ, КНР) в Евразии.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413700" y="3635722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Экономика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413700" y="4159597"/>
            <a:ext cx="29209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Взаимные инвестиции превышают 5 трлн долларов.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91320"/>
            <a:ext cx="5334000" cy="358973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ТОРГОВЫЕ ОТНОШЕНИЯ ЕС И США (2023)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2889944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Объем торговли: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71500" y="3413819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США — крупнейший торговый партнер ЕС. Около 16% импорта нефти и 22% газа в ЕС поступает из США.</a:t>
            </a:r>
            <a:endParaRPr/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91320"/>
            <a:ext cx="5334000" cy="358973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885825" y="420909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952500" y="4210050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Экспорт ЕС в США: машины, лекарства.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85825" y="4502437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52500" y="4503390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Импорт ЕС из США: СПГ, нефть, технологии.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7076"/>
            <a:ext cx="5334000" cy="291822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НАТО: ГАРАНТ ВОЕННОЙ ОБЩНОСТИ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/>
          </a:p>
        </p:txBody>
      </p:sp>
      <p:pic>
        <p:nvPicPr>
          <p:cNvPr id="270" name="Google Shape;27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27076"/>
            <a:ext cx="10001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286500" y="2536626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Европа остается зависимой от США в сфере безопасности: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600825" y="3331904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667500" y="333285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Ядерный зонтик: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США гарантируют защиту стран ЕС.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600825" y="391858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6667500" y="391953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Экономия: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участие в НАТО позволяет малым странам ЕС сокращать военные расходы.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600825" y="4505265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667500" y="4506217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Расширение: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вступление Финляндии и Швеции усилило восточный фланг союза.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8902"/>
            <a:ext cx="3492400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88902"/>
            <a:ext cx="3492549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88902"/>
            <a:ext cx="3492400" cy="27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СКРЫТЫЕ ПРОТИВОРЕЧИЯ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571500" y="210026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Несмотря на единство, существуют факторы напряженности: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57250" y="3488977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Экономика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57250" y="4012852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США через санкционную политику и закон IRA переманивают европейский бизнес к себе.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4635400" y="3488977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Доминирование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4635400" y="4012852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США стремятся не допустить превращения ЕС в конкурентную сверхдержаву.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413700" y="3488977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Контроль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413700" y="4012852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Использование «Новой Европы» (Восточной) для сдерживания влияния Франции и Германии.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САНКЦИОННАЯ ВОЙНА И МИРОПОРЯДОК</a:t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571500" y="2980432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Важнейший фактор консолидации США и Европы — общая политика в отношении РФ и РБ: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885825" y="3768119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952500" y="3769072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Изоляция: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попытки вытеснения Беларуси и России из европейских цепочек поставок.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885825" y="4061460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952500" y="4062412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Давление: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использование санкций как инструмента изменения геополитического ландшафта.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885825" y="4354800"/>
            <a:ext cx="666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952500" y="4355752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Последствия: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разрушение сложившейся после 1945 года системы безопасности в Европе.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3492400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47862"/>
            <a:ext cx="3492549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947862"/>
            <a:ext cx="3492400" cy="27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762000" y="3810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БУДУЩЕЕ ЕДИНОЙ ЕВРОПЫ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71500" y="3810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571500" y="5121473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Вывод: единство Европы сегодня держится на трансатлантической связке и общих внешних угрозах.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857250" y="2547937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Сценарий 1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857250" y="3071812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Федерализация.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Углубление интеграции, создание "Соединенных Штатов Европы".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4635400" y="2547937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Сценарий 2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4635400" y="3071812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Европа разных скоростей.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Группа лидеров интегрируется быстрее остальных.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8413700" y="2547937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Сценарий 3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8413700" y="3071812"/>
            <a:ext cx="29209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Ослабление связей.</a:t>
            </a: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Рост национализма и превращение ЕС в простую зону свободной торговли.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11620500" y="63722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665321" y="1743075"/>
            <a:ext cx="10861357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5143500" y="3086100"/>
            <a:ext cx="1905000" cy="476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4348162" y="3724275"/>
            <a:ext cx="34956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Готовы ответить на ваши вопросы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5600700" y="4703415"/>
            <a:ext cx="9906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Подгруппа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Широкоэкранный</PresentationFormat>
  <Paragraphs>132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Merriweather</vt:lpstr>
      <vt:lpstr>Roboto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Захар Мацукевич</cp:lastModifiedBy>
  <cp:revision>1</cp:revision>
  <dcterms:modified xsi:type="dcterms:W3CDTF">2026-05-21T21:36:48Z</dcterms:modified>
</cp:coreProperties>
</file>