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DM Sans" panose="020B0604020202020204" charset="0"/>
      <p:regular r:id="rId21"/>
      <p:bold r:id="rId22"/>
      <p:italic r:id="rId23"/>
      <p:boldItalic r:id="rId24"/>
    </p:embeddedFont>
    <p:embeddedFont>
      <p:font typeface="Merriweather" panose="00000500000000000000" pitchFamily="2" charset="-52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1935509"/>
            <a:ext cx="111633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Итальянская модель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 b="1" i="0" u="none" strike="noStrike" cap="none">
                <a:solidFill>
                  <a:srgbClr val="0F172A"/>
                </a:solidFill>
                <a:latin typeface="Merriweather"/>
                <a:ea typeface="Merriweather"/>
                <a:cs typeface="Merriweather"/>
                <a:sym typeface="Merriweather"/>
              </a:rPr>
              <a:t> экономики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28700" y="3802409"/>
            <a:ext cx="1068705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1" u="none" strike="noStrike" cap="none">
                <a:solidFill>
                  <a:srgbClr val="C2410C"/>
                </a:solidFill>
                <a:latin typeface="DM Sans"/>
                <a:ea typeface="DM Sans"/>
                <a:cs typeface="DM Sans"/>
                <a:sym typeface="DM Sans"/>
              </a:rPr>
              <a:t>Исторические предпосылки и особенности социально-экономического формирования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2010489" y="1505098"/>
            <a:ext cx="817102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DF8F5"/>
                </a:solidFill>
                <a:latin typeface="Merriweather"/>
                <a:ea typeface="Merriweather"/>
                <a:cs typeface="Merriweather"/>
                <a:sym typeface="Merriweather"/>
              </a:rPr>
              <a:t>Исторический контекст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381625" y="2743348"/>
            <a:ext cx="142875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295798"/>
            <a:ext cx="7620000" cy="1828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Италия — одна из крупнейших экономик Европы, но её социально-экономическая модель формировалась в особых исторических условиях: под влиянием географической неоднородности и длительного сосуществования традиционных и современных форм хозяйствования.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657350"/>
            <a:ext cx="53816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762000" y="1657350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До 1861 года Апеннинский полуостров состоял из множества независимых княжеств, королевств и республик.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762000" y="27622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Развитие территорий шло крайне неравномерно на протяжении веков.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762000" y="3562350"/>
            <a:ext cx="5095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Север постепенно становился более промышленным и активным торговым центром, интегрированным в европейские связи.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62000" y="46672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Юг сохранял глубоко аграрный характер и патриархальный уклад жизни.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762000" y="5467350"/>
            <a:ext cx="5095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Эти исторические различия заложили основу будущих структурных проблем единого государства.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1695450"/>
            <a:ext cx="5305425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476250" y="16764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76250" y="27813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76250" y="35814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6250" y="46863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76250" y="548640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2410C"/>
                </a:solidFill>
                <a:latin typeface="DM Sans"/>
                <a:ea typeface="DM Sans"/>
                <a:cs typeface="DM Sans"/>
                <a:sym typeface="DM Sans"/>
              </a:rPr>
              <a:t>■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До объединения: разделенная страна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/>
        </p:nvSpPr>
        <p:spPr>
          <a:xfrm>
            <a:off x="476250" y="2976562"/>
            <a:ext cx="498157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1861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76250" y="4595812"/>
            <a:ext cx="498157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Год образования единой Италии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334125" y="2438400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Догоняющая модернизация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334125" y="2971800"/>
            <a:ext cx="5381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Италия возникла как единое государство значительно позже многих западноевропейских стран. Это означало, что страна вступила в индустриальную эпоху с опозданием.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334125" y="4076700"/>
            <a:ext cx="53816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 результате итальянская экономика была вынуждена форсировать развитие, чтобы сократить отставание и догнать более развитые экономики того времени — прежде всего Великобританию, Францию и Германию.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Позднее национальное объединение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124075"/>
            <a:ext cx="5381625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2124075"/>
            <a:ext cx="5381625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57250" y="2562225"/>
            <a:ext cx="48506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Промышленный Север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57250" y="3095625"/>
            <a:ext cx="4619625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Северные регионы обладали более выгодным географическим положением по отношению к остальной Европе. Здесь исторически была развита торговля, активно строилась инфраструктура и шло становление промышленности, что обеспечивало более высокий уровень жизни.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715125" y="2562225"/>
            <a:ext cx="48506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Аграрный Юг (Меццоджорно)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6715125" y="3095625"/>
            <a:ext cx="461962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Южные районы оставались экономически менее развитыми. Преобладание экстенсивного сельского хозяйства, низкая производительность труда, слабое развитие инфраструктуры и хронически высокий уровень безработицы стали причиной устойчивого отставания.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Формирование «Южного вопроса»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619250"/>
            <a:ext cx="35559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619250"/>
            <a:ext cx="35559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9650" y="1619250"/>
            <a:ext cx="3555950" cy="46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0097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771525" y="2914650"/>
            <a:ext cx="15201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Традиции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71525" y="3590925"/>
            <a:ext cx="2965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Огромное влияние на развитие капитализма в Италии оказали католические традиции, формируя особое отношение к труду, социальной ответственности и взаимопомощи внутри общин.</a:t>
            </a:r>
            <a:endParaRPr/>
          </a:p>
        </p:txBody>
      </p:sp>
      <p:pic>
        <p:nvPicPr>
          <p:cNvPr id="145" name="Google Shape;14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3225" y="20097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613225" y="2914650"/>
            <a:ext cx="90011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Семья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613225" y="3590925"/>
            <a:ext cx="2965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Глубокие семейные ценности стали фундаментом экономической структуры. Именно семья выступает главной экономической ячейкой, обеспечивая доверие и преемственность в бизнесе.</a:t>
            </a:r>
            <a:endParaRPr/>
          </a:p>
        </p:txBody>
      </p:sp>
      <p:pic>
        <p:nvPicPr>
          <p:cNvPr id="148" name="Google Shape;148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54925" y="2009775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8454925" y="2914650"/>
            <a:ext cx="19002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Локальность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454925" y="3590925"/>
            <a:ext cx="29654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Высокая роль локальных сообществ (кампанилизм) и сохранение ремесленных традиций привели к созданию уникальной системы территориально привязанных производств.</a:t>
            </a:r>
            <a:endParaRPr/>
          </a:p>
        </p:txBody>
      </p:sp>
      <p:pic>
        <p:nvPicPr>
          <p:cNvPr id="151" name="Google Shape;15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21907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56100" y="219075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16850" y="21907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Особая хозяйственная культура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49" y="4324350"/>
            <a:ext cx="2472630" cy="2272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98490" y="2076747"/>
            <a:ext cx="2472630" cy="2028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20730" y="4772025"/>
            <a:ext cx="2472630" cy="2028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42970" y="2320528"/>
            <a:ext cx="247263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/>
          <p:nvPr/>
        </p:nvSpPr>
        <p:spPr>
          <a:xfrm>
            <a:off x="476250" y="4229100"/>
            <a:ext cx="112395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14458" y="4568360"/>
            <a:ext cx="219621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1945+</a:t>
            </a:r>
            <a:endParaRPr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674339" y="4837259"/>
            <a:ext cx="2076450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Тяжелое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послевоенное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положение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необходимость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полномасштабного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восстановления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разрушенной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экономики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инфраструктуры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3536699" y="2267247"/>
            <a:ext cx="219621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1950-60-е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3588990" y="2657772"/>
            <a:ext cx="209163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«Итальянское экономическое чудо»</a:t>
            </a: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 Период бурного и беспрецедентного роста ВВП и промышленности.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456716" y="4816366"/>
            <a:ext cx="219621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 err="1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Конец</a:t>
            </a:r>
            <a:r>
              <a:rPr lang="en-US" sz="1800" b="1" i="0" u="none" strike="noStrike" cap="none" dirty="0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 60-х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6456716" y="5148806"/>
            <a:ext cx="209163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Резкий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скачок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развитии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машиностроения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автомобилестроения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(Fiat),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химической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текстильной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промышленности</a:t>
            </a: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9381179" y="2511028"/>
            <a:ext cx="2196211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1970-80-е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9433470" y="2901553"/>
            <a:ext cx="209163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Становление феномена итальянских промышленных округов как ответа на кризис крупной индустрии.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76250" y="476250"/>
            <a:ext cx="1171575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Этапы экономической трансформации (XX век)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76250" y="17145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1598263" y="39458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DF8F5"/>
          </a:solidFill>
          <a:ln w="47625" cap="flat" cmpd="sng">
            <a:solidFill>
              <a:srgbClr val="C241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4520505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DF8F5"/>
          </a:solidFill>
          <a:ln w="47625" cap="flat" cmpd="sng">
            <a:solidFill>
              <a:srgbClr val="C241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7442745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DF8F5"/>
          </a:solidFill>
          <a:ln w="47625" cap="flat" cmpd="sng">
            <a:solidFill>
              <a:srgbClr val="C241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10364985" y="43243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DF8F5"/>
          </a:solidFill>
          <a:ln w="47625" cap="flat" cmpd="sng">
            <a:solidFill>
              <a:srgbClr val="C2410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2062" y="20574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6334125" y="1981200"/>
            <a:ext cx="565070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Роль государства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334125" y="2514600"/>
            <a:ext cx="53816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 период быстрого роста государство активно участвовало в экономике: создавались крупные государственные холдинги (например, IRI, ENI), проводилась плановая индустриализация Юга и развивалась базовая инфраструктура.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34125" y="4229100"/>
            <a:ext cx="53816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Однако Италия не пошла по пути полного огосударствления. Сформировалась смешанная модель, где государственный контроль над стратегическими отраслями гармонично сочетался с мощным, независимым частным предпринимательством.</a:t>
            </a:r>
            <a:endParaRPr/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7312" y="2152650"/>
            <a:ext cx="3619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Смешанная экономическая модель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828948"/>
            <a:ext cx="3555950" cy="426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17950" y="1828948"/>
            <a:ext cx="3555950" cy="4266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9650" y="1828948"/>
            <a:ext cx="3555950" cy="426690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666750" y="4114948"/>
            <a:ext cx="333369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Семейный бизнес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66750" y="4534048"/>
            <a:ext cx="317495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Микро- и малые предприятия, часто передающиеся из поколения в поколение, формируют основу занятости и производства, особенно в северных и центральных регионах страны.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4508450" y="4114948"/>
            <a:ext cx="333369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Гибкость и адаптивность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508450" y="4534048"/>
            <a:ext cx="31749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Такие фирмы отличаются высокой гибкостью, способностью мгновенно перестраиваться под изменения спроса и высочайшим уровнем узкой специализации.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8350150" y="4114948"/>
            <a:ext cx="3333697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2410C"/>
                </a:solidFill>
                <a:latin typeface="Merriweather"/>
                <a:ea typeface="Merriweather"/>
                <a:cs typeface="Merriweather"/>
                <a:sym typeface="Merriweather"/>
              </a:rPr>
              <a:t>Промышленные округа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8350150" y="4534048"/>
            <a:ext cx="3174950" cy="1218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Уникальное явление, когда сотни мелких фирм в одном регионе специализируются на разных этапах создания одного продукта (обувь, мебель, текстиль), совместно достигая эффекта масштаба.</a:t>
            </a:r>
            <a:endParaRPr/>
          </a:p>
        </p:txBody>
      </p:sp>
      <p:pic>
        <p:nvPicPr>
          <p:cNvPr id="203" name="Google Shape;20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2019448"/>
            <a:ext cx="3174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08450" y="2019448"/>
            <a:ext cx="31749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0150" y="2019448"/>
            <a:ext cx="31749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Основа экономики: Малый и средний бизнес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1333500" y="792122"/>
            <a:ext cx="9525000" cy="1320642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2095500" y="882253"/>
            <a:ext cx="8477250" cy="9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Государственное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регулирование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Сочетание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свободной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рыночной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экономики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с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заметным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вмешательством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государства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через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бюджетную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политику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поддержку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важных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секторов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14" name="Google Shape;214;p22"/>
          <p:cNvSpPr/>
          <p:nvPr/>
        </p:nvSpPr>
        <p:spPr>
          <a:xfrm>
            <a:off x="1333500" y="792122"/>
            <a:ext cx="45719" cy="132064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1333500" y="2303264"/>
            <a:ext cx="9525000" cy="1468635"/>
          </a:xfrm>
          <a:prstGeom prst="roundRect">
            <a:avLst>
              <a:gd name="adj" fmla="val 518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2095500" y="2541389"/>
            <a:ext cx="8477250" cy="9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Доминирование</a:t>
            </a:r>
            <a:r>
              <a:rPr lang="en-US" sz="1500" b="1" i="0" u="none" strike="noStrike" cap="none" dirty="0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 МСБ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отличие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стран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англосаксонского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капитализма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итальянская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экономика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опирается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транснациональные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корпорации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а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сеть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семейных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компаний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ремесленных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мастерских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17" name="Google Shape;217;p22"/>
          <p:cNvSpPr/>
          <p:nvPr/>
        </p:nvSpPr>
        <p:spPr>
          <a:xfrm>
            <a:off x="1333500" y="2303264"/>
            <a:ext cx="57150" cy="146863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333500" y="3962400"/>
            <a:ext cx="9525000" cy="1468635"/>
          </a:xfrm>
          <a:prstGeom prst="roundRect">
            <a:avLst>
              <a:gd name="adj" fmla="val 518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 txBox="1"/>
          <p:nvPr/>
        </p:nvSpPr>
        <p:spPr>
          <a:xfrm>
            <a:off x="2095500" y="4200525"/>
            <a:ext cx="8477250" cy="9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Региональная неоднородность (Дуализм)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Резкий, сохраняющийся десятилетиями контраст между богатым, промышленным Севером и отстающим, аграрным Югом.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1333500" y="3962400"/>
            <a:ext cx="57150" cy="1468635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1390650" y="5621535"/>
            <a:ext cx="9467850" cy="1157637"/>
          </a:xfrm>
          <a:prstGeom prst="roundRect">
            <a:avLst>
              <a:gd name="adj" fmla="val 518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2095500" y="5859660"/>
            <a:ext cx="8477250" cy="9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Социальная защита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Принадлежность к европейской социальной модели с высоким вниманием к пенсионному обеспечению, здравоохранению и трудовым правам работников.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1333500" y="5621536"/>
            <a:ext cx="57150" cy="123051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28775" y="1216521"/>
            <a:ext cx="3810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28775" y="2875657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8775" y="4534792"/>
            <a:ext cx="3429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28775" y="6193928"/>
            <a:ext cx="34290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952498" y="-1"/>
            <a:ext cx="1123950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4 </a:t>
            </a:r>
            <a:r>
              <a:rPr lang="en-US" sz="36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столпа</a:t>
            </a:r>
            <a:r>
              <a:rPr lang="en-US" sz="36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итальянской</a:t>
            </a:r>
            <a:r>
              <a:rPr lang="en-US" sz="36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модели</a:t>
            </a:r>
            <a:endParaRPr dirty="0"/>
          </a:p>
        </p:txBody>
      </p:sp>
      <p:sp>
        <p:nvSpPr>
          <p:cNvPr id="229" name="Google Shape;229;p22"/>
          <p:cNvSpPr/>
          <p:nvPr/>
        </p:nvSpPr>
        <p:spPr>
          <a:xfrm>
            <a:off x="533400" y="625078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1543050"/>
            <a:ext cx="112395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5062537"/>
            <a:ext cx="112395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476250" y="476250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Современные вызовы и проблемы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476250" y="1143000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/>
        </p:nvSpPr>
        <p:spPr>
          <a:xfrm>
            <a:off x="571500" y="762000"/>
            <a:ext cx="5500687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DF8F5"/>
                </a:solidFill>
                <a:latin typeface="Merriweather"/>
                <a:ea typeface="Merriweather"/>
                <a:cs typeface="Merriweather"/>
                <a:sym typeface="Merriweather"/>
              </a:rPr>
              <a:t>Сильные стороны и преимущества</a:t>
            </a:r>
            <a:endParaRPr/>
          </a:p>
        </p:txBody>
      </p:sp>
      <p:sp>
        <p:nvSpPr>
          <p:cNvPr id="243" name="Google Shape;243;p24"/>
          <p:cNvSpPr/>
          <p:nvPr/>
        </p:nvSpPr>
        <p:spPr>
          <a:xfrm>
            <a:off x="571500" y="2000250"/>
            <a:ext cx="523875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571500" y="2101380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Несмотря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структурные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вызовы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Италия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сохраняет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статус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одной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из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ведущих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промышленных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держав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мира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3248398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Сила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итальянской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модели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кроется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гибкости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малого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бизнеса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непревзойденном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качестве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производимой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продукции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4395416"/>
            <a:ext cx="5238750" cy="1341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Италия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занимает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сильные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экспортные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позиции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является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мировым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лидером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в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секторах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определяющих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понятие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1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«Made in Italy»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высокая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мода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премиальный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дизайн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пищевая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промышленность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, а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также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высокоточное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машиностроение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и </a:t>
            </a:r>
            <a:r>
              <a:rPr lang="en-US" sz="165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робототехника</a:t>
            </a:r>
            <a:r>
              <a:rPr lang="en-US" sz="165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5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5"/>
          <p:cNvSpPr txBox="1"/>
          <p:nvPr/>
        </p:nvSpPr>
        <p:spPr>
          <a:xfrm>
            <a:off x="1890712" y="1223962"/>
            <a:ext cx="8410575" cy="460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Италия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—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это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пример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страны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,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где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социально-экономическая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модель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сложилась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на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основе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исторических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традиций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.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Её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можно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назвать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смешанной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,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социально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ориентированной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и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тесно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связанной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с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уникальными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историческими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особенностями</a:t>
            </a:r>
            <a:r>
              <a:rPr lang="en-US" sz="280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800" b="1" i="0" u="none" strike="noStrike" cap="none" dirty="0" err="1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развития</a:t>
            </a:r>
            <a:r>
              <a:rPr lang="en-US" sz="3150" b="1" i="0" u="none" strike="noStrike" cap="none" dirty="0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dirty="0"/>
          </a:p>
        </p:txBody>
      </p:sp>
      <p:sp>
        <p:nvSpPr>
          <p:cNvPr id="253" name="Google Shape;253;p25"/>
          <p:cNvSpPr txBox="1"/>
          <p:nvPr/>
        </p:nvSpPr>
        <p:spPr>
          <a:xfrm>
            <a:off x="4920108" y="6405562"/>
            <a:ext cx="2351633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 dirty="0">
                <a:solidFill>
                  <a:srgbClr val="C2410C"/>
                </a:solidFill>
                <a:latin typeface="DM Sans"/>
                <a:ea typeface="DM Sans"/>
                <a:cs typeface="DM Sans"/>
                <a:sym typeface="DM Sans"/>
              </a:rPr>
              <a:t>ВЫВОД ДОКЛАДА</a:t>
            </a:r>
            <a:endParaRPr dirty="0"/>
          </a:p>
        </p:txBody>
      </p:sp>
      <p:sp>
        <p:nvSpPr>
          <p:cNvPr id="254" name="Google Shape;254;p25"/>
          <p:cNvSpPr txBox="1"/>
          <p:nvPr/>
        </p:nvSpPr>
        <p:spPr>
          <a:xfrm>
            <a:off x="1128712" y="1604962"/>
            <a:ext cx="634603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0428684" y="6215062"/>
            <a:ext cx="634603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"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476250" y="157162"/>
            <a:ext cx="11715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E3A8A"/>
                </a:solidFill>
                <a:latin typeface="Merriweather"/>
                <a:ea typeface="Merriweather"/>
                <a:cs typeface="Merriweather"/>
                <a:sym typeface="Merriweather"/>
              </a:rPr>
              <a:t>Заключение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476250" y="823912"/>
            <a:ext cx="11239500" cy="1905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8A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238125" y="1896367"/>
            <a:ext cx="11715750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DF8F5"/>
                </a:solidFill>
                <a:latin typeface="Merriweather"/>
                <a:ea typeface="Merriweather"/>
                <a:cs typeface="Merriweather"/>
                <a:sym typeface="Merriweather"/>
              </a:rPr>
              <a:t>Grazie!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476250" y="3248917"/>
            <a:ext cx="11239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Спасибо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за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внимание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Готов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ответить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на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ваши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b="0" i="0" u="none" strike="noStrike" cap="none" dirty="0" err="1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вопросы</a:t>
            </a:r>
            <a:r>
              <a:rPr lang="en-US" sz="2100" b="0" i="0" u="none" strike="noStrike" cap="none" dirty="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747</Words>
  <Application>Microsoft Office PowerPoint</Application>
  <PresentationFormat>Широкоэкранный</PresentationFormat>
  <Paragraphs>70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Merriweather</vt:lpstr>
      <vt:lpstr>Calibri</vt:lpstr>
      <vt:lpstr>DM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Захар Мацукевич</cp:lastModifiedBy>
  <cp:revision>3</cp:revision>
  <dcterms:modified xsi:type="dcterms:W3CDTF">2026-05-21T21:36:03Z</dcterms:modified>
</cp:coreProperties>
</file>