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Manrope" panose="020B0604020202020204" charset="0"/>
      <p:regular r:id="rId23"/>
      <p:bold r:id="rId24"/>
    </p:embeddedFont>
    <p:embeddedFont>
      <p:font typeface="Manrope ExtraBold" panose="020B0604020202020204" charset="0"/>
      <p:bold r:id="rId25"/>
    </p:embeddedFont>
    <p:embeddedFont>
      <p:font typeface="Urbanist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61AE56-B78D-4FE6-8016-91DA9554B0C1}">
  <a:tblStyle styleId="{3361AE56-B78D-4FE6-8016-91DA9554B0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241601" y="1421308"/>
            <a:ext cx="370864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ПРАКТИЧЕСКОЕ ЗАНЯТИЕ 8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1916608"/>
            <a:ext cx="11581447" cy="201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Региональная направленность современного геополитического процесса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70299" y="4347120"/>
            <a:ext cx="6451252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Дисциплина: Базовые категории геополитики и геоэкономики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607421" y="5417641"/>
            <a:ext cx="297700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Подготовили студенты подгруппы №3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677650" y="6496050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619750" y="2066925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05276" y="2390775"/>
            <a:ext cx="11581447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РАЗДЕЛ I: ТЕОРЕТИЧЕСКИЙ БАЗИС И МИРОВЫЕ ТРЕНДЫ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619750" y="4752975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649075" y="6496050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05062"/>
            <a:ext cx="53721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405062"/>
            <a:ext cx="53721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ОТ ГЛОБАЛИЗАЦИИ К РЕГИОНАЛИЗАЦИИ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81025" y="581025"/>
            <a:ext cx="47625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971550" y="2795587"/>
            <a:ext cx="48206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Кризис Универсализма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71550" y="3348037"/>
            <a:ext cx="45910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Современная эпоха характеризуется переходом от единого глобального стандарта к </a:t>
            </a: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региональной фрагментации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Глобальные институты (ВТО, ВОЗ) теряют эффективность перед лицом локальных интересов.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29400" y="2795587"/>
            <a:ext cx="48206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Концепция Глокализации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29400" y="3348037"/>
            <a:ext cx="45910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Региональные блоки становятся фильтрами глобальных процессов. Соседи объединяются для создания </a:t>
            </a: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устойчивых цепочек поставок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и защиты от внешних шоков.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1658600" y="6496050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771525" y="1181100"/>
            <a:ext cx="4990623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КОНЦЕПЦИЯ МАКРОРЕГИОНОВ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81025" y="1181100"/>
            <a:ext cx="47625" cy="12382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81025" y="2990850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Мир распадается на </a:t>
            </a: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панрегионы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— крупные геополитические пространства, обладающие ресурсами, технологиями и идеологией для автономного выживания.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81025" y="459105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Каждый макрорегион формирует собственную валютную зону и стандарты безопасности, становясь новым полюсом силы в многополярном мире.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1649075" y="6496050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50A14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FF9A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581025" y="1709737"/>
            <a:ext cx="762000" cy="47625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581025" y="2043112"/>
            <a:ext cx="5190648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050A14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Раздел II: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0" i="0" u="none" strike="noStrike" cap="none">
                <a:solidFill>
                  <a:srgbClr val="050A14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Азиатско-Тихоокеанская ось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1649075" y="6496050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50A14"/>
                </a:solidFill>
                <a:latin typeface="Urbanist"/>
                <a:ea typeface="Urbanist"/>
                <a:cs typeface="Urbanist"/>
                <a:sym typeface="Urbanist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81150"/>
            <a:ext cx="1102995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ЭКОНОМИЧЕСКОЕ ДОМИНИРОВАНИЕ АТР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81025" y="581025"/>
            <a:ext cx="47625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581025" y="487203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АТР стал новым центром тяжести мировой торговли благодаря соглашению RCEP, охватившему 1/3 населения Земли.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11649075" y="6496050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КЛЮЧЕВЫЕ БЛОКИ ЕВРАЗИИ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81025" y="581025"/>
            <a:ext cx="47625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19"/>
          <p:cNvGraphicFramePr/>
          <p:nvPr/>
        </p:nvGraphicFramePr>
        <p:xfrm>
          <a:off x="581025" y="2628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{3361AE56-B78D-4FE6-8016-91DA9554B0C1}</a:tableStyleId>
              </a:tblPr>
              <a:tblGrid>
                <a:gridCol w="193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Организация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Тип интеграции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Ключевой фокус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Субъектность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ШОС (SCO)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Безопасность + Экономика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Борьба с терроризмом, логистика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Континентальный лидер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ЕАЭС (EAEU)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Экономический союз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Единый рынок, ТФП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Региональный хаб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АСЕАН (ASEAN)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Политико-экономическое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Свободная торговля, нейтралитет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Ось Юго-Восточной Азии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1" name="Google Shape;151;p19"/>
          <p:cNvSpPr/>
          <p:nvPr/>
        </p:nvSpPr>
        <p:spPr>
          <a:xfrm>
            <a:off x="581025" y="3305175"/>
            <a:ext cx="193863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519660" y="3305175"/>
            <a:ext cx="287357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393233" y="3305175"/>
            <a:ext cx="349760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8890843" y="3305175"/>
            <a:ext cx="272013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81025" y="4014787"/>
            <a:ext cx="193863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2519660" y="4014787"/>
            <a:ext cx="28735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393233" y="4014787"/>
            <a:ext cx="34976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8890843" y="4014787"/>
            <a:ext cx="27201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81025" y="4710112"/>
            <a:ext cx="193863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519660" y="4710112"/>
            <a:ext cx="28735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5393233" y="4710112"/>
            <a:ext cx="34976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8890843" y="4710112"/>
            <a:ext cx="27201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81025" y="5405437"/>
            <a:ext cx="193863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2519660" y="5405437"/>
            <a:ext cx="28735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393233" y="5405437"/>
            <a:ext cx="34976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8890843" y="5405437"/>
            <a:ext cx="27201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11649075" y="6496050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/>
          <p:nvPr/>
        </p:nvSpPr>
        <p:spPr>
          <a:xfrm>
            <a:off x="5619750" y="2066925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05276" y="2390775"/>
            <a:ext cx="11581447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РАЗДЕЛ III: ЗАПАД VS ГЛОБАЛЬНЫЙ ЮГ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5619750" y="4752975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1649075" y="6496050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СТРАТЕГИЯ «ФРЕНДШОРИНГА»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581025" y="581025"/>
            <a:ext cx="47625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1057275" y="2586186"/>
            <a:ext cx="105537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Nearshoring: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Перенос производств из Азии ближе к рынкам сбыта (например, из Китая в Мексику для США).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1057275" y="3603277"/>
            <a:ext cx="10553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Friendshoring: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Ограничение торговых связей кругом политически лояльных государств-партнеров.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1057275" y="4254698"/>
            <a:ext cx="105537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Региональный протекционизм: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Создание субсидий для местных производителей (Закон о чипах США, Экологические нормы ЕС).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11649075" y="6496050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09</a:t>
            </a:r>
            <a:endParaRPr/>
          </a:p>
        </p:txBody>
      </p:sp>
      <p:pic>
        <p:nvPicPr>
          <p:cNvPr id="188" name="Google Shape;18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86186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0327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54698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819525"/>
            <a:ext cx="52292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ПОДЪЕМ ГЛОБАЛЬНОГО ЮГА И БРИКС+</a:t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581025" y="581025"/>
            <a:ext cx="47625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581025" y="291941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Расширение БРИКС в 2024 году ознаменовало переход от экономического клуба к </a:t>
            </a: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геополитическому противовесу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G7.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81025" y="402431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Ключевая цель блока — создание </a:t>
            </a: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недолларовой инфраструктуры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и защита суверенитета развивающихся стран в рамках своих регионов.</a:t>
            </a:r>
            <a:endParaRPr/>
          </a:p>
        </p:txBody>
      </p:sp>
      <p:pic>
        <p:nvPicPr>
          <p:cNvPr id="201" name="Google Shape;20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3838575"/>
            <a:ext cx="51911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11677650" y="6496050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/>
          <p:nvPr/>
        </p:nvSpPr>
        <p:spPr>
          <a:xfrm>
            <a:off x="5619750" y="1547812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305276" y="1871662"/>
            <a:ext cx="11581447" cy="311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РАЗДЕЛ IV: ГЕОЭКОНОМИЧЕСКИЕ ДРАЙВЕРЫ</a:t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5619750" y="5272087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11706225" y="6496050"/>
            <a:ext cx="95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81150"/>
            <a:ext cx="1102995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РОСТ ВНУТРИРЕГИОНАЛЬНОЙ ТОРГОВЛИ</a:t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581025" y="581025"/>
            <a:ext cx="47625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581025" y="544353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Тенденция 2015-2025: Рост на 15% за счет RCEP и торговых коридоров.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1677650" y="6496050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29087"/>
            <a:ext cx="52292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/>
          <p:nvPr/>
        </p:nvSpPr>
        <p:spPr>
          <a:xfrm>
            <a:off x="771525" y="581025"/>
            <a:ext cx="11381422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КОНТРОЛЬ ЗА «БУТЫЛОЧНЫМИ ГОРЛЫШКАМИ»</a:t>
            </a:r>
            <a:endParaRPr/>
          </a:p>
        </p:txBody>
      </p:sp>
      <p:sp>
        <p:nvSpPr>
          <p:cNvPr id="229" name="Google Shape;229;p25"/>
          <p:cNvSpPr/>
          <p:nvPr/>
        </p:nvSpPr>
        <p:spPr>
          <a:xfrm>
            <a:off x="581025" y="581025"/>
            <a:ext cx="47625" cy="12382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0075" y="4148137"/>
            <a:ext cx="51911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6381750" y="338137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Региональная власть базируется на контроле за проливами: </a:t>
            </a: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Малаккским, Суэцким, Ормузским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6381750" y="418147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Проект «Север-Юг» и Арктический путь создают новые региональные альтернативы, меняя баланс сил на евразийском континенте.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11687175" y="6496050"/>
            <a:ext cx="1143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19362"/>
            <a:ext cx="34861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519362"/>
            <a:ext cx="34861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519362"/>
            <a:ext cx="348615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ЗОНЫ СТОЛКНОВЕНИЯ ИНТЕРЕСОВ</a:t>
            </a:r>
            <a:endParaRPr/>
          </a:p>
        </p:txBody>
      </p:sp>
      <p:sp>
        <p:nvSpPr>
          <p:cNvPr id="243" name="Google Shape;243;p26"/>
          <p:cNvSpPr/>
          <p:nvPr/>
        </p:nvSpPr>
        <p:spPr>
          <a:xfrm>
            <a:off x="581025" y="581025"/>
            <a:ext cx="47625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8432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6"/>
          <p:cNvSpPr txBox="1"/>
          <p:nvPr/>
        </p:nvSpPr>
        <p:spPr>
          <a:xfrm>
            <a:off x="793908" y="3509962"/>
            <a:ext cx="306038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anrope"/>
                <a:ea typeface="Manrope"/>
                <a:cs typeface="Manrope"/>
                <a:sym typeface="Manrope"/>
              </a:rPr>
              <a:t>Восточная Европа</a:t>
            </a:r>
            <a:endParaRPr/>
          </a:p>
        </p:txBody>
      </p:sp>
      <p:sp>
        <p:nvSpPr>
          <p:cNvPr id="246" name="Google Shape;246;p26"/>
          <p:cNvSpPr txBox="1"/>
          <p:nvPr/>
        </p:nvSpPr>
        <p:spPr>
          <a:xfrm>
            <a:off x="866775" y="3948112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Разлом между Евроатлантическим блоком и Евразийским ядром.</a:t>
            </a:r>
            <a:endParaRPr/>
          </a:p>
        </p:txBody>
      </p:sp>
      <p:pic>
        <p:nvPicPr>
          <p:cNvPr id="247" name="Google Shape;247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5962" y="2843212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6"/>
          <p:cNvSpPr txBox="1"/>
          <p:nvPr/>
        </p:nvSpPr>
        <p:spPr>
          <a:xfrm>
            <a:off x="4565808" y="3509962"/>
            <a:ext cx="306038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anrope"/>
                <a:ea typeface="Manrope"/>
                <a:cs typeface="Manrope"/>
                <a:sym typeface="Manrope"/>
              </a:rPr>
              <a:t>Ближний Восток</a:t>
            </a:r>
            <a:endParaRPr/>
          </a:p>
        </p:txBody>
      </p:sp>
      <p:sp>
        <p:nvSpPr>
          <p:cNvPr id="249" name="Google Shape;249;p26"/>
          <p:cNvSpPr txBox="1"/>
          <p:nvPr/>
        </p:nvSpPr>
        <p:spPr>
          <a:xfrm>
            <a:off x="4638675" y="3948112"/>
            <a:ext cx="2914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Борьба за энергетические хабы и региональное лидерство.</a:t>
            </a:r>
            <a:endParaRPr/>
          </a:p>
        </p:txBody>
      </p:sp>
      <p:pic>
        <p:nvPicPr>
          <p:cNvPr id="250" name="Google Shape;250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1200" y="2843212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6"/>
          <p:cNvSpPr txBox="1"/>
          <p:nvPr/>
        </p:nvSpPr>
        <p:spPr>
          <a:xfrm>
            <a:off x="8337708" y="3509962"/>
            <a:ext cx="306038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anrope"/>
                <a:ea typeface="Manrope"/>
                <a:cs typeface="Manrope"/>
                <a:sym typeface="Manrope"/>
              </a:rPr>
              <a:t>Южно-Китайское море</a:t>
            </a: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8410575" y="3948112"/>
            <a:ext cx="2914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Точка пересечения интересов США и Китая в АТР.</a:t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11677650" y="6496050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7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ПРОГНОЗ ДО 2030 ГОДА</a:t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581025" y="581025"/>
            <a:ext cx="47625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581025" y="5682704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Мир переходит к </a:t>
            </a: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устойчивой многополярности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на базе региональных кластеров.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1849338" y="2684115"/>
            <a:ext cx="329550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75%</a:t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1849338" y="3922365"/>
            <a:ext cx="329550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мирового роста из регионов ГС</a:t>
            </a:r>
            <a:endParaRPr/>
          </a:p>
        </p:txBody>
      </p:sp>
      <p:sp>
        <p:nvSpPr>
          <p:cNvPr id="264" name="Google Shape;264;p27"/>
          <p:cNvSpPr txBox="1"/>
          <p:nvPr/>
        </p:nvSpPr>
        <p:spPr>
          <a:xfrm>
            <a:off x="7681466" y="2684115"/>
            <a:ext cx="266119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5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7681466" y="3922365"/>
            <a:ext cx="266119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стабильных панрегионов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11677650" y="6496050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581025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/>
          <p:nvPr/>
        </p:nvSpPr>
        <p:spPr>
          <a:xfrm>
            <a:off x="305276" y="1724025"/>
            <a:ext cx="11581447" cy="130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EFF9A"/>
                </a:solidFill>
                <a:latin typeface="Manrope"/>
                <a:ea typeface="Manrope"/>
                <a:cs typeface="Manrope"/>
                <a:sym typeface="Manrope"/>
              </a:rPr>
              <a:t>Спасибо за внимание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581025" y="321945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Готовы ответить на ваши вопросы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11677650" y="6496050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Широкоэкранный</PresentationFormat>
  <Paragraphs>78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Urbanist</vt:lpstr>
      <vt:lpstr>Arial</vt:lpstr>
      <vt:lpstr>Manrope</vt:lpstr>
      <vt:lpstr>Manrope ExtraBold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Захар Мацукевич</cp:lastModifiedBy>
  <cp:revision>1</cp:revision>
  <dcterms:modified xsi:type="dcterms:W3CDTF">2026-05-21T21:35:43Z</dcterms:modified>
</cp:coreProperties>
</file>