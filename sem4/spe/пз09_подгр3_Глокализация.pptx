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-52"/>
      <p:regular r:id="rId22"/>
      <p:bold r:id="rId23"/>
      <p:italic r:id="rId24"/>
      <p:boldItalic r:id="rId25"/>
    </p:embeddedFont>
    <p:embeddedFont>
      <p:font typeface="Montserrat SemiBold" panose="00000700000000000000" pitchFamily="2" charset="-52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D95A97-22B4-49D3-A1AF-7AD8D3846A1C}">
  <a:tblStyle styleId="{10D95A97-22B4-49D3-A1AF-7AD8D3846A1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880723" y="1620291"/>
            <a:ext cx="443055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Дисциплина: Мировая экономика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087016"/>
            <a:ext cx="11601450" cy="219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9FAFB"/>
                </a:solidFill>
                <a:latin typeface="Montserrat"/>
                <a:ea typeface="Montserrat"/>
                <a:cs typeface="Montserrat"/>
                <a:sym typeface="Montserrat"/>
              </a:rPr>
              <a:t>Глобализация и регионализация: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Глокализация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572875" y="6438900"/>
            <a:ext cx="3333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 / 15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370784" y="2261294"/>
            <a:ext cx="3450431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Введение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194744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Спикер 1: Понятие, суть и истоки глокализации в современной экономике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524500" y="4272855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1544300" y="6438900"/>
            <a:ext cx="361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 / 15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1431131"/>
            <a:ext cx="52006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Montserrat"/>
                <a:ea typeface="Montserrat"/>
                <a:cs typeface="Montserrat"/>
                <a:sym typeface="Montserrat"/>
              </a:rPr>
              <a:t>Что такое глокализация?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2745581"/>
            <a:ext cx="4953000" cy="2681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Глокализация — это концепция, объединяющая глобализацию и локализацию. Она описывает продукты или услуги, которые разрабатываются на глобальном уровне, но адаптируются к местным культурным, юридическим и экономическим условиям. Это позволяет корпорациям быть одновременно и глобальными, и местными.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6438900"/>
            <a:ext cx="361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/ 15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6987"/>
            <a:ext cx="5286375" cy="261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66987"/>
            <a:ext cx="5286375" cy="2619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962025" y="2957512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Глобализация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962025" y="3424237"/>
            <a:ext cx="4505325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Основной фокус направлен на </a:t>
            </a:r>
            <a:r>
              <a:rPr lang="en-US" sz="1350" b="1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стандартизацию</a:t>
            </a: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. Компании стремятся к экономии на масштабе, предлагая унифицированный продукт для всех рынков без значительных изменений. Подход «один размер подходит всем».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724650" y="2957512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Глокализация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724650" y="3424237"/>
            <a:ext cx="4505325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Основной фокус направлен на </a:t>
            </a:r>
            <a:r>
              <a:rPr lang="en-US" sz="1350" b="1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кастомизацию</a:t>
            </a: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. Глобальные продукты видоизменяются для удовлетворения специфических потребностей локального рынка, учитывая менталитет и вкусы местных потребителей.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Montserrat"/>
                <a:ea typeface="Montserrat"/>
                <a:cs typeface="Montserrat"/>
                <a:sym typeface="Montserrat"/>
              </a:rPr>
              <a:t>Глобализация vs Глокализация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1525250" y="6438900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 / 15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2820590" y="2261294"/>
            <a:ext cx="6550818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Факторы развития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2286000" y="3194744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Спикер 2: Ключевые предпосылки перехода транснациональных компаний к глокальному подходу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5524500" y="4272855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11544300" y="6438900"/>
            <a:ext cx="361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 / 15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3612"/>
            <a:ext cx="3492549" cy="3285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33612"/>
            <a:ext cx="3492549" cy="3285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33612"/>
            <a:ext cx="3492549" cy="3285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84325" y="25288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1642616" y="3386137"/>
            <a:ext cx="135016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Культура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866775" y="3852862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Необходимость строго учитывать традиции, религию, пищевые привычки и менталитет потребителей в разных странах.</a:t>
            </a:r>
            <a:endParaRPr/>
          </a:p>
        </p:txBody>
      </p:sp>
      <p:pic>
        <p:nvPicPr>
          <p:cNvPr id="140" name="Google Shape;14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625" y="25288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650944" y="3386137"/>
            <a:ext cx="89011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Закон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4645074" y="3852862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Адаптация к местным законодательным стандартам, налогам, экологическим нормам и требованиям к маркировке.</a:t>
            </a:r>
            <a:endParaRPr/>
          </a:p>
        </p:txBody>
      </p:sp>
      <p:pic>
        <p:nvPicPr>
          <p:cNvPr id="143" name="Google Shape;14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40924" y="25288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8864173" y="3386137"/>
            <a:ext cx="202025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8B5CF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Конкуренция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8423374" y="3852862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Локальные игроки лучше знают свой рынок. Чтобы выжить, ТНК обязаны адаптироваться и предлагать более релевантный продукт.</a:t>
            </a:r>
            <a:endParaRPr/>
          </a:p>
        </p:txBody>
      </p:sp>
      <p:pic>
        <p:nvPicPr>
          <p:cNvPr id="146" name="Google Shape;146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74825" y="271938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15025" y="2719387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31424" y="271938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Montserrat"/>
                <a:ea typeface="Montserrat"/>
                <a:cs typeface="Montserrat"/>
                <a:sym typeface="Montserrat"/>
              </a:rPr>
              <a:t>Драйверы глокализации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1534775" y="6438900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 / 15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2785586" y="2261294"/>
            <a:ext cx="6620827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Стратегии бизнеса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2286000" y="3194744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Спикер 3: Практическое применение глокализации крупными международными брендами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524500" y="4272855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11534775" y="6438900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 / 15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8891"/>
            <a:ext cx="3492549" cy="4055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48891"/>
            <a:ext cx="3492549" cy="4055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48891"/>
            <a:ext cx="3492549" cy="4055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1693812" y="4620666"/>
            <a:ext cx="131016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B82F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McDonald's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771525" y="4973091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Специфичное меню: McAloo Tikki в Индии (без говядины) или Терияки Бургер в Японии.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557837" y="4620666"/>
            <a:ext cx="113014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Coca-Cola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4549824" y="4973091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Адаптация уровня сладости под разные рынки и запуск локализованных рекламных кампаний.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9612362" y="4620666"/>
            <a:ext cx="55006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5CF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Lay's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328124" y="4973091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Выпуск чипсов со вкусом водорослей нори в Азии или со вкусом борща в Восточной Европе.</a:t>
            </a:r>
            <a:endParaRPr/>
          </a:p>
        </p:txBody>
      </p:sp>
      <p:pic>
        <p:nvPicPr>
          <p:cNvPr id="174" name="Google Shape;17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048916"/>
            <a:ext cx="18669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9824" y="2048916"/>
            <a:ext cx="18192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048916"/>
            <a:ext cx="16192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глокализации брендов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1534775" y="6438900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 / 15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/>
          <p:nvPr/>
        </p:nvSpPr>
        <p:spPr>
          <a:xfrm>
            <a:off x="571500" y="2242244"/>
            <a:ext cx="11049000" cy="3268860"/>
          </a:xfrm>
          <a:prstGeom prst="roundRect">
            <a:avLst>
              <a:gd name="adj" fmla="val 0"/>
            </a:avLst>
          </a:prstGeom>
          <a:solidFill>
            <a:srgbClr val="1F2937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21"/>
          <p:cNvGraphicFramePr/>
          <p:nvPr/>
        </p:nvGraphicFramePr>
        <p:xfrm>
          <a:off x="571500" y="22422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{10D95A97-22B4-49D3-A1AF-7AD8D3846A1C}</a:tableStyleId>
              </a:tblPr>
              <a:tblGrid>
                <a:gridCol w="237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Критерий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Глобальная стратегия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Глокальная стратегия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Продукт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Строго стандартизированный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Адаптированный под регион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Издержки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Низкие (высокая экономия масштаба)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Более высокие (затраты на R&amp;D)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Маркетинг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Единый визуальный и текстовый посыл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Учет локальных культурных кодов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Риск отторжения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Высокий (непонимание продукта)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1D5D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Низкий (высокая лояльность)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6" name="Google Shape;186;p21"/>
          <p:cNvSpPr/>
          <p:nvPr/>
        </p:nvSpPr>
        <p:spPr>
          <a:xfrm>
            <a:off x="571500" y="2847082"/>
            <a:ext cx="237008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2941587" y="2847082"/>
            <a:ext cx="46123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7553920" y="2847082"/>
            <a:ext cx="406657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71500" y="3511897"/>
            <a:ext cx="237008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2941587" y="3511897"/>
            <a:ext cx="46123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7553920" y="3511897"/>
            <a:ext cx="406657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571500" y="4176712"/>
            <a:ext cx="237008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2941587" y="4176712"/>
            <a:ext cx="46123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7553920" y="4176712"/>
            <a:ext cx="406657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71500" y="4841527"/>
            <a:ext cx="237008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2941587" y="4841527"/>
            <a:ext cx="4612332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7553920" y="4841527"/>
            <a:ext cx="406657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Montserrat"/>
                <a:ea typeface="Montserrat"/>
                <a:cs typeface="Montserrat"/>
                <a:sym typeface="Montserrat"/>
              </a:rPr>
              <a:t>Сравнение стратегий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11534775" y="6438900"/>
            <a:ext cx="371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 / 15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1915477" y="2261294"/>
            <a:ext cx="836104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Последствия и влияние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2286000" y="3194744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Спикер 4: Позитивные и негативные эффекты глокализации для мировой экономики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5524500" y="4272855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11468100" y="6438900"/>
            <a:ext cx="4381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 / 15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1526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571500" y="1783109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Позитивные эффекты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571500" y="406137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Негативные эффекты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57250" y="2297459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Сохранение культурного разнообразия.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57250" y="276225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Значительный рост лояльности локальных потребителей.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857250" y="322704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Поддержка местных производителей и поставщиков сырья.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857250" y="457572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Резкое увеличение издержек на логистику и маркетинг.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57250" y="5040510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Усложнение глобальных цепочек поставок.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57250" y="5505301"/>
            <a:ext cx="5000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Риск «размытия» идентичности единого мирового бренда.</a:t>
            </a:r>
            <a:endParaRPr/>
          </a:p>
        </p:txBody>
      </p:sp>
      <p:pic>
        <p:nvPicPr>
          <p:cNvPr id="223" name="Google Shape;22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1990576"/>
            <a:ext cx="24098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Montserrat"/>
                <a:ea typeface="Montserrat"/>
                <a:cs typeface="Montserrat"/>
                <a:sym typeface="Montserrat"/>
              </a:rPr>
              <a:t>Плюсы и минусы подхода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1515725" y="6438900"/>
            <a:ext cx="3905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11 / 15</a:t>
            </a:r>
            <a:endParaRPr/>
          </a:p>
        </p:txBody>
      </p:sp>
      <p:pic>
        <p:nvPicPr>
          <p:cNvPr id="226" name="Google Shape;22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35559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003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651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1382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7861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543401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66850"/>
            <a:ext cx="110490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571500" y="5412134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Данные показывают, что потребители в странах с развивающейся экономикой отдают подавляющее предпочтение (65%) международным брендам, которые уважают их локальную культуру.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Montserrat"/>
                <a:ea typeface="Montserrat"/>
                <a:cs typeface="Montserrat"/>
                <a:sym typeface="Montserrat"/>
              </a:rPr>
              <a:t>Потребительские предпочтения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11487150" y="6438900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12 / 15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1165383" y="2459384"/>
            <a:ext cx="9861232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Перспективы глокализации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2914650" y="3392834"/>
            <a:ext cx="63627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Спикер 5: Будущее подхода и прогнозы инвестиций</a:t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5524500" y="4074765"/>
            <a:ext cx="1143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11487150" y="6438900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13 / 15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66850"/>
            <a:ext cx="110490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295275" y="1773584"/>
            <a:ext cx="11601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Прогноз доли маркетингового бюджета ТНК на глокализацию (2025 г.)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571500" y="5431184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D1D5DB"/>
                </a:solidFill>
                <a:latin typeface="Open Sans"/>
                <a:ea typeface="Open Sans"/>
                <a:cs typeface="Open Sans"/>
                <a:sym typeface="Open Sans"/>
              </a:rPr>
              <a:t>Азиатский рынок требует наибольшей адаптации: к 2025 году корпорации планируют тратить до 75% регионального бюджета именно на локализацию продуктов и сервисов.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Montserrat"/>
                <a:ea typeface="Montserrat"/>
                <a:cs typeface="Montserrat"/>
                <a:sym typeface="Montserrat"/>
              </a:rPr>
              <a:t>Инвестиции в локализацию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11468100" y="6438900"/>
            <a:ext cx="4381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14 / 15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 txBox="1"/>
          <p:nvPr/>
        </p:nvSpPr>
        <p:spPr>
          <a:xfrm>
            <a:off x="295275" y="265836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571500" y="377279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Подгруппа 3 готова ответить на ваши вопросы.</a:t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11487150" y="6438900"/>
            <a:ext cx="4191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15 / 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Application>Microsoft Office PowerPoint</Application>
  <PresentationFormat>Широкоэкранный</PresentationFormat>
  <Paragraphs>80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Montserrat</vt:lpstr>
      <vt:lpstr>Montserrat SemiBold</vt:lpstr>
      <vt:lpstr>Arial</vt:lpstr>
      <vt:lpstr>Open Sans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Захар Мацукевич</cp:lastModifiedBy>
  <cp:revision>1</cp:revision>
  <dcterms:modified xsi:type="dcterms:W3CDTF">2026-05-21T21:36:21Z</dcterms:modified>
</cp:coreProperties>
</file>