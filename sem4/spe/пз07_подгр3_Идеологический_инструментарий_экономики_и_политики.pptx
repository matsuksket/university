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jp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8462" y="0"/>
            <a:ext cx="54435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47750" y="2443162"/>
            <a:ext cx="8001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Идеологический инструментарий политики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85875" y="3986212"/>
            <a:ext cx="10334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Системный анализ влияния идеологии на экономические модели и государственные институты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047750" y="3986212"/>
            <a:ext cx="38100" cy="28575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666750" y="3938587"/>
            <a:ext cx="10953750" cy="38100"/>
          </a:xfrm>
          <a:prstGeom prst="rect">
            <a:avLst/>
          </a:prstGeom>
          <a:solidFill>
            <a:srgbClr val="D1D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538287" y="38242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3783806" y="38242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029325" y="38242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8274843" y="38242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0520362" y="38242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17458" y="3005137"/>
            <a:ext cx="20702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Фильтр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" y="3309937"/>
            <a:ext cx="1971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Когнитивная сетка восприятия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2862976" y="4224337"/>
            <a:ext cx="20702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Экономика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2912268" y="4529137"/>
            <a:ext cx="1971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Модели и права собственности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108495" y="3005137"/>
            <a:ext cx="20702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Институты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157787" y="3309937"/>
            <a:ext cx="1971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Каналы трансляции смыслов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354014" y="4224337"/>
            <a:ext cx="20702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Нарратив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403306" y="4529137"/>
            <a:ext cx="1971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Управление историей и памятью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599533" y="2805112"/>
            <a:ext cx="20702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Контракт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48825" y="3109912"/>
            <a:ext cx="1971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Устойчивость системы к кризисам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6750" y="777875"/>
            <a:ext cx="1150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Структура системного анализа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66750" y="1397000"/>
            <a:ext cx="10953900" cy="19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362200"/>
            <a:ext cx="34607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62200"/>
            <a:ext cx="34607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2362200"/>
            <a:ext cx="34607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890271" y="3390900"/>
            <a:ext cx="301365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ПО государства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62025" y="3933825"/>
            <a:ext cx="2870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Программное обеспечение аппарата, задающее вектор развития и границы суверенитета.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36721" y="3390900"/>
            <a:ext cx="301365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Когнитивная сетка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708475" y="3933825"/>
            <a:ext cx="2870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Фильтр, определяющий рациональность действий и недопустимость определенных моделей.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83172" y="3390900"/>
            <a:ext cx="301365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Безопасность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54925" y="3933825"/>
            <a:ext cx="2870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Защита от внешнего воздействия через разделение обществом единых базовых смыслов.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8425" y="27051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4876" y="27051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1326" y="27051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666750" y="571500"/>
            <a:ext cx="115014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Идеология как концептуальный фильтр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666750" y="1190625"/>
            <a:ext cx="10953750" cy="1905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871787"/>
            <a:ext cx="52387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71787"/>
            <a:ext cx="5238750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962025" y="316706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Трансформация принуждения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62025" y="3709987"/>
            <a:ext cx="4648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Идеология превращает грубое принуждение в осознанное согласие граждан, формируя легитимность.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677025" y="316706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Система координат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677025" y="3709987"/>
            <a:ext cx="4648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Четкое разграничение «свой — чужой» и «правильно — неправильно» для консолидации элит.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66750" y="571500"/>
            <a:ext cx="115014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Основа национальной безопасности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66750" y="1190625"/>
            <a:ext cx="10953750" cy="1905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00062" y="1590675"/>
            <a:ext cx="109537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66750" y="4700587"/>
            <a:ext cx="10953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Экономика никогда не свободна от идеологии: от структуры прав до методов перераспределения.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6750" y="571500"/>
            <a:ext cx="115014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Влияние на экономические модели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666750" y="1190625"/>
            <a:ext cx="10953750" cy="1905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1047750" y="3300412"/>
            <a:ext cx="10572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Государственные инвестиции:</a:t>
            </a:r>
            <a:r>
              <a:rPr b="0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 Направление ресурсов в «идеологически приоритетные» сектора (ВПК, IT).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047750" y="3776662"/>
            <a:ext cx="10572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Налоговая политика:</a:t>
            </a:r>
            <a:r>
              <a:rPr b="0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 Использование системы льгот для стимулирования лояльных экономических субъектов.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047750" y="4252912"/>
            <a:ext cx="10572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Социальная справедливость:</a:t>
            </a:r>
            <a:r>
              <a:rPr b="0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 Сохранение госпредприятий для обеспечения занятости и контроля кланов.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3194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7957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427196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66750" y="571500"/>
            <a:ext cx="115014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Инструментарий экономической политики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666750" y="1190625"/>
            <a:ext cx="10953750" cy="1905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666750" y="1524000"/>
            <a:ext cx="42864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B433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666750" y="769938"/>
            <a:ext cx="1150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Приводные ремни системы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666750" y="1389063"/>
            <a:ext cx="10953900" cy="19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" name="Google Shape;181;p19"/>
          <p:cNvGrpSpPr/>
          <p:nvPr/>
        </p:nvGrpSpPr>
        <p:grpSpPr>
          <a:xfrm>
            <a:off x="666750" y="2095500"/>
            <a:ext cx="4286400" cy="1714500"/>
            <a:chOff x="666750" y="2095500"/>
            <a:chExt cx="4286400" cy="1714500"/>
          </a:xfrm>
        </p:grpSpPr>
        <p:sp>
          <p:nvSpPr>
            <p:cNvPr id="182" name="Google Shape;182;p19"/>
            <p:cNvSpPr/>
            <p:nvPr/>
          </p:nvSpPr>
          <p:spPr>
            <a:xfrm>
              <a:off x="666750" y="2095500"/>
              <a:ext cx="4286400" cy="1714500"/>
            </a:xfrm>
            <a:prstGeom prst="roundRect">
              <a:avLst>
                <a:gd fmla="val 5555" name="adj"/>
              </a:avLst>
            </a:prstGeom>
            <a:solidFill>
              <a:srgbClr val="E8F5E9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857250" y="22860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D3436"/>
                  </a:solidFill>
                  <a:latin typeface="Lato"/>
                  <a:ea typeface="Lato"/>
                  <a:cs typeface="Lato"/>
                  <a:sym typeface="Lato"/>
                </a:rPr>
                <a:t>Бюрократическая вертикаль действует в рамках политической этики, а партии и профсоюзы мобилизуют граждан на поддержку государственного курса.</a:t>
              </a:r>
              <a:endParaRPr b="0" sz="1400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4" name="Google Shape;184;p19"/>
          <p:cNvGrpSpPr/>
          <p:nvPr/>
        </p:nvGrpSpPr>
        <p:grpSpPr>
          <a:xfrm>
            <a:off x="666750" y="4000500"/>
            <a:ext cx="4286400" cy="1714500"/>
            <a:chOff x="666750" y="4000500"/>
            <a:chExt cx="4286400" cy="1714500"/>
          </a:xfrm>
        </p:grpSpPr>
        <p:sp>
          <p:nvSpPr>
            <p:cNvPr id="185" name="Google Shape;185;p19"/>
            <p:cNvSpPr/>
            <p:nvPr/>
          </p:nvSpPr>
          <p:spPr>
            <a:xfrm>
              <a:off x="666750" y="4000500"/>
              <a:ext cx="4286400" cy="1714500"/>
            </a:xfrm>
            <a:prstGeom prst="roundRect">
              <a:avLst>
                <a:gd fmla="val 5555" name="adj"/>
              </a:avLst>
            </a:prstGeom>
            <a:solidFill>
              <a:srgbClr val="E8F5E9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857250" y="41910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D3436"/>
                  </a:solidFill>
                  <a:latin typeface="Lato"/>
                  <a:ea typeface="Lato"/>
                  <a:cs typeface="Lato"/>
                  <a:sym typeface="Lato"/>
                </a:rPr>
                <a:t>Институты выступают передатчиками смыслов от элиты к населению, легитимизируя даже непопулярные решения.</a:t>
              </a:r>
              <a:endParaRPr b="0" sz="1400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7" name="Google Shape;187;p19"/>
          <p:cNvGrpSpPr/>
          <p:nvPr/>
        </p:nvGrpSpPr>
        <p:grpSpPr>
          <a:xfrm>
            <a:off x="5895975" y="1133475"/>
            <a:ext cx="5343525" cy="5343525"/>
            <a:chOff x="5895975" y="1133475"/>
            <a:chExt cx="5343525" cy="5343525"/>
          </a:xfrm>
        </p:grpSpPr>
        <p:pic>
          <p:nvPicPr>
            <p:cNvPr descr="A sophisticated, minimalist network visualization showing nodes connected by glowing lines, representing transmission of ideas and social structures, in a corporate and professional style with a color palette of deep greens and soft greys." id="188" name="Google Shape;18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05500" y="1143000"/>
              <a:ext cx="5334000" cy="53340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89" name="Google Shape;189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95975" y="1133475"/>
              <a:ext cx="3248100" cy="4000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0" y="15875"/>
            <a:ext cx="9540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66750" y="3095624"/>
            <a:ext cx="5238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66750" y="431006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6A4F"/>
                </a:solidFill>
                <a:latin typeface="Lato"/>
                <a:ea typeface="Lato"/>
                <a:cs typeface="Lato"/>
                <a:sym typeface="Lato"/>
              </a:rPr>
              <a:t>ИНСТИТУЦИОНАЛЬНЫЙ КОНТРОЛЬ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381750" y="316706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Образование и кадры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381750" y="370998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Формирование учебных планов и жестких критериев отбора на госслужбу обеспечивает воспроизводство кадров, разделяющих государственную доктрину.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6750" y="571500"/>
            <a:ext cx="115014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Воспроизводство лояльных кадров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666750" y="1190625"/>
            <a:ext cx="10953750" cy="1905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66750" y="571500"/>
            <a:ext cx="5150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Управление нарративом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666750" y="1190625"/>
            <a:ext cx="10953900" cy="19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high-quality, conceptual image representing &quot;narrative management&quot;: an open old book with light emanating from its pages, forming a holographic bridge towards a futuristic city, symbolizing the construction of the past for the future, professional and artistic style, deep greens and golden tones." id="210" name="Google Shape;210;p21"/>
          <p:cNvPicPr preferRelativeResize="0"/>
          <p:nvPr/>
        </p:nvPicPr>
        <p:blipFill rotWithShape="1">
          <a:blip r:embed="rId4">
            <a:alphaModFix/>
          </a:blip>
          <a:srcRect b="4545" l="0" r="0" t="4545"/>
          <a:stretch/>
        </p:blipFill>
        <p:spPr>
          <a:xfrm>
            <a:off x="6286500" y="1524000"/>
            <a:ext cx="5238900" cy="4762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grpSp>
        <p:nvGrpSpPr>
          <p:cNvPr id="211" name="Google Shape;211;p21"/>
          <p:cNvGrpSpPr/>
          <p:nvPr/>
        </p:nvGrpSpPr>
        <p:grpSpPr>
          <a:xfrm>
            <a:off x="666750" y="1524000"/>
            <a:ext cx="5238900" cy="1428900"/>
            <a:chOff x="666750" y="1524000"/>
            <a:chExt cx="5238900" cy="1428900"/>
          </a:xfrm>
        </p:grpSpPr>
        <p:sp>
          <p:nvSpPr>
            <p:cNvPr id="212" name="Google Shape;212;p21"/>
            <p:cNvSpPr/>
            <p:nvPr/>
          </p:nvSpPr>
          <p:spPr>
            <a:xfrm>
              <a:off x="666750" y="1524000"/>
              <a:ext cx="5238900" cy="1428900"/>
            </a:xfrm>
            <a:prstGeom prst="roundRect">
              <a:avLst>
                <a:gd fmla="val 10000" name="adj"/>
              </a:avLst>
            </a:prstGeom>
            <a:solidFill>
              <a:srgbClr val="E8F5E9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85725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6A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endParaRPr sz="2400">
                <a:solidFill>
                  <a:srgbClr val="2D6A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1333500" y="1666875"/>
              <a:ext cx="4381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4332"/>
                  </a:solidFill>
                  <a:latin typeface="Lato"/>
                  <a:ea typeface="Lato"/>
                  <a:cs typeface="Lato"/>
                  <a:sym typeface="Lato"/>
                </a:rPr>
                <a:t>Историческая память</a:t>
              </a:r>
              <a:endParaRPr b="1" sz="1500">
                <a:solidFill>
                  <a:srgbClr val="1B433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2D3436"/>
                  </a:solidFill>
                  <a:latin typeface="Lato"/>
                  <a:ea typeface="Lato"/>
                  <a:cs typeface="Lato"/>
                  <a:sym typeface="Lato"/>
                </a:rPr>
                <a:t>Конструирование образа прошлого для оправдания текущих амбиций.</a:t>
              </a:r>
              <a:endParaRPr sz="1500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5" name="Google Shape;215;p21"/>
          <p:cNvGrpSpPr/>
          <p:nvPr/>
        </p:nvGrpSpPr>
        <p:grpSpPr>
          <a:xfrm>
            <a:off x="666750" y="3095625"/>
            <a:ext cx="5238900" cy="1428900"/>
            <a:chOff x="666750" y="3095625"/>
            <a:chExt cx="5238900" cy="1428900"/>
          </a:xfrm>
        </p:grpSpPr>
        <p:sp>
          <p:nvSpPr>
            <p:cNvPr id="216" name="Google Shape;216;p21"/>
            <p:cNvSpPr/>
            <p:nvPr/>
          </p:nvSpPr>
          <p:spPr>
            <a:xfrm>
              <a:off x="666750" y="3095625"/>
              <a:ext cx="5238900" cy="1428900"/>
            </a:xfrm>
            <a:prstGeom prst="roundRect">
              <a:avLst>
                <a:gd fmla="val 10000" name="adj"/>
              </a:avLst>
            </a:prstGeom>
            <a:solidFill>
              <a:srgbClr val="E8F5E9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857250" y="3321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6A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celebration</a:t>
              </a:r>
              <a:endParaRPr sz="2400">
                <a:solidFill>
                  <a:srgbClr val="2D6A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1333500" y="3238500"/>
              <a:ext cx="4381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4332"/>
                  </a:solidFill>
                  <a:latin typeface="Lato"/>
                  <a:ea typeface="Lato"/>
                  <a:cs typeface="Lato"/>
                  <a:sym typeface="Lato"/>
                </a:rPr>
                <a:t>Символический ряд</a:t>
              </a:r>
              <a:endParaRPr b="1" sz="1500">
                <a:solidFill>
                  <a:srgbClr val="1B433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2D3436"/>
                  </a:solidFill>
                  <a:latin typeface="Lato"/>
                  <a:ea typeface="Lato"/>
                  <a:cs typeface="Lato"/>
                  <a:sym typeface="Lato"/>
                </a:rPr>
                <a:t>Выбор героев и праздников как метод формирования идентичности.</a:t>
              </a:r>
              <a:endParaRPr sz="1500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9" name="Google Shape;219;p21"/>
          <p:cNvGrpSpPr/>
          <p:nvPr/>
        </p:nvGrpSpPr>
        <p:grpSpPr>
          <a:xfrm>
            <a:off x="666750" y="4667250"/>
            <a:ext cx="5238900" cy="1428900"/>
            <a:chOff x="666750" y="4667250"/>
            <a:chExt cx="5238900" cy="1428900"/>
          </a:xfrm>
        </p:grpSpPr>
        <p:sp>
          <p:nvSpPr>
            <p:cNvPr id="220" name="Google Shape;220;p21"/>
            <p:cNvSpPr/>
            <p:nvPr/>
          </p:nvSpPr>
          <p:spPr>
            <a:xfrm>
              <a:off x="666750" y="4667250"/>
              <a:ext cx="5238900" cy="1428900"/>
            </a:xfrm>
            <a:prstGeom prst="roundRect">
              <a:avLst>
                <a:gd fmla="val 10000" name="adj"/>
              </a:avLst>
            </a:prstGeom>
            <a:solidFill>
              <a:srgbClr val="E8F5E9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857250" y="4892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6A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400">
                <a:solidFill>
                  <a:srgbClr val="2D6A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1333500" y="4810125"/>
              <a:ext cx="4381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4332"/>
                  </a:solidFill>
                  <a:latin typeface="Lato"/>
                  <a:ea typeface="Lato"/>
                  <a:cs typeface="Lato"/>
                  <a:sym typeface="Lato"/>
                </a:rPr>
                <a:t>Защита истины</a:t>
              </a:r>
              <a:endParaRPr b="1" sz="1500">
                <a:solidFill>
                  <a:srgbClr val="1B433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2D3436"/>
                  </a:solidFill>
                  <a:latin typeface="Lato"/>
                  <a:ea typeface="Lato"/>
                  <a:cs typeface="Lato"/>
                  <a:sym typeface="Lato"/>
                </a:rPr>
                <a:t>Ответственность за ревизию фактов как защита суверенитета.</a:t>
              </a:r>
              <a:endParaRPr sz="1500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328" r="328" t="0"/>
          <a:stretch/>
        </p:blipFill>
        <p:spPr>
          <a:xfrm>
            <a:off x="6286500" y="1809750"/>
            <a:ext cx="5238900" cy="3810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229" name="Google Shape;229;p22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22"/>
          <p:cNvGrpSpPr/>
          <p:nvPr/>
        </p:nvGrpSpPr>
        <p:grpSpPr>
          <a:xfrm>
            <a:off x="666750" y="1809750"/>
            <a:ext cx="5238900" cy="1619100"/>
            <a:chOff x="666750" y="1809750"/>
            <a:chExt cx="5238900" cy="1619100"/>
          </a:xfrm>
        </p:grpSpPr>
        <p:sp>
          <p:nvSpPr>
            <p:cNvPr id="231" name="Google Shape;231;p22"/>
            <p:cNvSpPr/>
            <p:nvPr/>
          </p:nvSpPr>
          <p:spPr>
            <a:xfrm>
              <a:off x="666750" y="1809750"/>
              <a:ext cx="5238900" cy="1619100"/>
            </a:xfrm>
            <a:prstGeom prst="roundRect">
              <a:avLst>
                <a:gd fmla="val 8823" name="adj"/>
              </a:avLst>
            </a:prstGeom>
            <a:solidFill>
              <a:srgbClr val="E8F5E9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952500" y="20829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6A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theater_comedy</a:t>
              </a:r>
              <a:endParaRPr sz="2400">
                <a:solidFill>
                  <a:srgbClr val="2D6A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3" name="Google Shape;233;p22"/>
            <p:cNvSpPr txBox="1"/>
            <p:nvPr/>
          </p:nvSpPr>
          <p:spPr>
            <a:xfrm>
              <a:off x="1524000" y="2000250"/>
              <a:ext cx="40959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4332"/>
                  </a:solidFill>
                  <a:latin typeface="Lato"/>
                  <a:ea typeface="Lato"/>
                  <a:cs typeface="Lato"/>
                  <a:sym typeface="Lato"/>
                </a:rPr>
                <a:t>Культурный суверенитет</a:t>
              </a:r>
              <a:endParaRPr b="1" sz="1500">
                <a:solidFill>
                  <a:srgbClr val="1B433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2D3436"/>
                  </a:solidFill>
                  <a:latin typeface="Lato"/>
                  <a:ea typeface="Lato"/>
                  <a:cs typeface="Lato"/>
                  <a:sym typeface="Lato"/>
                </a:rPr>
                <a:t>Кинематограф, медиа и современная культура внедряют идеологические установки через эмоциональные образы.</a:t>
              </a:r>
              <a:endParaRPr b="0" sz="1500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4" name="Google Shape;234;p22"/>
          <p:cNvGrpSpPr/>
          <p:nvPr/>
        </p:nvGrpSpPr>
        <p:grpSpPr>
          <a:xfrm>
            <a:off x="666750" y="3619500"/>
            <a:ext cx="5238900" cy="1238400"/>
            <a:chOff x="666750" y="3619500"/>
            <a:chExt cx="5238900" cy="1238400"/>
          </a:xfrm>
        </p:grpSpPr>
        <p:sp>
          <p:nvSpPr>
            <p:cNvPr id="235" name="Google Shape;235;p22"/>
            <p:cNvSpPr/>
            <p:nvPr/>
          </p:nvSpPr>
          <p:spPr>
            <a:xfrm>
              <a:off x="666750" y="3619500"/>
              <a:ext cx="5238900" cy="1238400"/>
            </a:xfrm>
            <a:prstGeom prst="roundRect">
              <a:avLst>
                <a:gd fmla="val 11538" name="adj"/>
              </a:avLst>
            </a:prstGeom>
            <a:solidFill>
              <a:srgbClr val="E8F5E9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2"/>
            <p:cNvSpPr txBox="1"/>
            <p:nvPr/>
          </p:nvSpPr>
          <p:spPr>
            <a:xfrm>
              <a:off x="952500" y="3892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6A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2D6A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7" name="Google Shape;237;p22"/>
            <p:cNvSpPr txBox="1"/>
            <p:nvPr/>
          </p:nvSpPr>
          <p:spPr>
            <a:xfrm>
              <a:off x="1524000" y="3810000"/>
              <a:ext cx="40959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2D3436"/>
                  </a:solidFill>
                  <a:latin typeface="Lato"/>
                  <a:ea typeface="Lato"/>
                  <a:cs typeface="Lato"/>
                  <a:sym typeface="Lato"/>
                </a:rPr>
                <a:t>Глубже рациональных аргументов. Нация с прочным фундаментом более устойчива к технологиям «мягкой силы».</a:t>
              </a:r>
              <a:endParaRPr sz="1500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38" name="Google Shape;238;p22"/>
          <p:cNvSpPr txBox="1"/>
          <p:nvPr/>
        </p:nvSpPr>
        <p:spPr>
          <a:xfrm>
            <a:off x="666750" y="571500"/>
            <a:ext cx="1150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Символический капитал и идентичность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666750" y="1190625"/>
            <a:ext cx="10953900" cy="19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1869281" y="2820590"/>
            <a:ext cx="8548687" cy="2026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Идеологический инструментарий направлен на поддержание веры в то, что существующий порядок является наиболее справедливым или единственно возможным.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3747641" y="5132784"/>
            <a:ext cx="479181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6A4F"/>
                </a:solidFill>
                <a:latin typeface="Lato"/>
                <a:ea typeface="Lato"/>
                <a:cs typeface="Lato"/>
                <a:sym typeface="Lato"/>
              </a:rPr>
              <a:t>— Базовый постулат устойчивости систем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488199" y="2534850"/>
            <a:ext cx="517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B7E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“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66750" y="571500"/>
            <a:ext cx="115014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Социальный контракт власти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666750" y="1190625"/>
            <a:ext cx="10953750" cy="1905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10197249" y="4165500"/>
            <a:ext cx="517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B7E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“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590675"/>
            <a:ext cx="109537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666750" y="5391150"/>
            <a:ext cx="10953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3436"/>
                </a:solidFill>
                <a:latin typeface="Lato"/>
                <a:ea typeface="Lato"/>
                <a:cs typeface="Lato"/>
                <a:sym typeface="Lato"/>
              </a:rPr>
              <a:t>Идеология служит амортизатором, переключая внимание с материальных трудностей на ценности высокого порядка.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666750" y="571500"/>
            <a:ext cx="115014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3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Устойчивость системы к кризисам</a:t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666750" y="1190625"/>
            <a:ext cx="10953750" cy="1905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