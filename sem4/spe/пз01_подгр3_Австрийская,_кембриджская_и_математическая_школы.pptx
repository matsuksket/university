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Playfair Display" panose="00000500000000000000" pitchFamily="2" charset="-52"/>
      <p:regular r:id="rId29"/>
      <p:bold r:id="rId30"/>
      <p:italic r:id="rId31"/>
      <p:boldItalic r:id="rId32"/>
    </p:embeddedFont>
    <p:embeddedFont>
      <p:font typeface="Playfair Display Medium" panose="020B0604020202020204" charset="-52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2DF801-6900-4A12-A354-FFE22342E103}">
  <a:tblStyle styleId="{152DF801-6900-4A12-A354-FFE22342E10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a247a02f0_25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a247a02f0_25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a247a02f0_25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a247a02f0_25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a247a02f0_2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a247a02f0_2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15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23082"/>
            <a:ext cx="11049000" cy="42116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05326" y="1619177"/>
            <a:ext cx="107814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Австрийская, кембриджская и математическая школы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3529025" y="3341844"/>
            <a:ext cx="51339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961925" y="3827219"/>
            <a:ext cx="10268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Составители:</a:t>
            </a: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Демидов Алексей, Мацукевич Захар, Евтух Тимур, Дорош Максим, Рассохов Егор </a:t>
            </a:r>
            <a:endParaRPr sz="1800" b="0" i="0" u="none" strike="noStrike" cap="none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CBD5E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Lato"/>
                <a:ea typeface="Lato"/>
                <a:cs typeface="Lato"/>
                <a:sym typeface="Lato"/>
              </a:rPr>
              <a:t>Группа 421703</a:t>
            </a:r>
            <a:endParaRPr sz="1800"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9816875" y="64096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18370"/>
            <a:ext cx="5286375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918370"/>
            <a:ext cx="5286375" cy="3286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333500" y="1806029"/>
            <a:ext cx="9525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Переход в конце XIX века от классической политической экономии к неоклассической теории, сместивший фокус с издержек на субъективную полезность.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49391" y="330889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Классическая школа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12016" y="330889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Маржинализм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95400" y="38327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Теория трудовой стоимости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95400" y="43280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Объективная ценность блага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95400" y="48233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Фокус на производстве и предложении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295400" y="53186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Анализ больших социальных классов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58025" y="38327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Теория предельной полезности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058025" y="43280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Субъективная оценка потребителя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58025" y="48233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Фокус на потреблении и спросе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058025" y="5318670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Методологический индивидуализм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Маржинальная революция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38518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3471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48424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53377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38518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3471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84242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5337720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>
            <a:spLocks noGrp="1"/>
          </p:cNvSpPr>
          <p:nvPr>
            <p:ph type="sldNum" idx="12"/>
          </p:nvPr>
        </p:nvSpPr>
        <p:spPr>
          <a:xfrm>
            <a:off x="9806200" y="64235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55506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Австрийская школа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323975"/>
            <a:ext cx="52863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1724025"/>
            <a:ext cx="555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Зарождение в Вене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2247900"/>
            <a:ext cx="52863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Возникла в 1870-е годы в Венском университете. В отличие от других школ того времени, полностью отвергала использование математических методов в экономике.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571500" y="3817143"/>
            <a:ext cx="5286300" cy="10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Основной упор делался на логическую дедукцию и анализ реальных действий индивидов в условиях неопределенности и ограниченности времени.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71500" y="5051226"/>
            <a:ext cx="5286300" cy="1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Главный тезис: ценность благ определяется не затратами труда на их производство, а их субъективной полезностью для конечного потребителя.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9870225" y="639192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3492549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619250"/>
            <a:ext cx="3492549" cy="47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619250"/>
            <a:ext cx="3492549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794225" y="2819400"/>
            <a:ext cx="304709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Методологический индивидуализм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37242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Все экономические явления (цены, издержки, производство) объясняются исключительно целенаправленными действиями и предпочтениями отдельных людей.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572524" y="2819400"/>
            <a:ext cx="304709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Субъективная полезность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45074" y="3724275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Ценность не является внутренним свойством вещи. Она существует только в сознании человека, оценивающего вещь с точки зрения удовлетворения своих потребностей.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350824" y="2819400"/>
            <a:ext cx="304709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Альтернативные издержки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423374" y="37242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Издержки производства — это ценность тех благ, которыми пришлось пожертвовать (от производства которых пришлось отказаться) ради создания данного продукта.</a:t>
            </a:r>
            <a:endParaRPr/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08150" y="2057400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95962" y="2057400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4262" y="2057400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466725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Основные идеи Австрийской школы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12192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sldNum" idx="12"/>
          </p:nvPr>
        </p:nvSpPr>
        <p:spPr>
          <a:xfrm>
            <a:off x="9891550" y="64416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6334125" y="200501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Карл Менгер (1840 – 1921)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334125" y="252888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Австрийский экономист, чья работа «Основания политической экономии» (1871) стала отправной точкой маржинальной революции наряду с трудами Джевонса и Вальраса.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6334125" y="38909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Он первым строго сформулировал принцип снижающейся предельной полезности без использования сложного математического аппарата, опираясь на шкалу потребностей.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334125" y="52530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Менгер также заложил основы теории денег как стихийно возникшего института для облегчения обмена.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Основатель: Карл Менгер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7" descr="Внутри создай фото Карла Менгера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125" y="2005000"/>
            <a:ext cx="3410300" cy="34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>
            <a:spLocks noGrp="1"/>
          </p:cNvSpPr>
          <p:nvPr>
            <p:ph type="sldNum" idx="12"/>
          </p:nvPr>
        </p:nvSpPr>
        <p:spPr>
          <a:xfrm>
            <a:off x="9848875" y="6388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71500" y="571500"/>
            <a:ext cx="5550693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Кембриджская школа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323975"/>
            <a:ext cx="5286375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1724620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Неоклассический синтез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2248495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Сформировалась в Великобритании на базе Кембриджского университета. Является ядром англо-американской неоклассической традиции.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3482578"/>
            <a:ext cx="52863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Школа осуществила компромисс (синтез) между классической теорией издержек Адама Смита и Давида Рикардо с новой маржиналистской теорией предельной полезности.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051821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 отличие от австрийцев, кембриджцы активно использовали графический метод и математику, но считали их лишь инструментом, а не сутью экономики.</a:t>
            </a:r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ldNum" idx="12"/>
          </p:nvPr>
        </p:nvSpPr>
        <p:spPr>
          <a:xfrm>
            <a:off x="9912875" y="643100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84186" y="4029075"/>
            <a:ext cx="366717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«Крест Маршалла»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4552950"/>
            <a:ext cx="34925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Графическое отображение рынка: цена определяется пересечением кривых спроса (полезность) и предложения (издержки), подобно лезвиям ножниц.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262485" y="4029075"/>
            <a:ext cx="3667177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Концепция эластичности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349799" y="4933950"/>
            <a:ext cx="34925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Введение понятия эластичности спроса по цене — степени реакции покупателей на изменение цены товара, что стало важнейшим инструментом анализа.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040785" y="4029075"/>
            <a:ext cx="3667177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Частичное равновесие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128099" y="4552950"/>
            <a:ext cx="349254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Анализ равновесия на рынке одного товара при допущении «при прочих равных условиях» (ceteris paribus), абстрагируясь от влияния других рынков.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0970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409700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409700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257175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Вклад Кембриджской школы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sldNum" idx="12"/>
          </p:nvPr>
        </p:nvSpPr>
        <p:spPr>
          <a:xfrm>
            <a:off x="9880875" y="6388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1002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6334125" y="185261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Альфред Маршалл (1842 – 1924)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334125" y="237648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Выдающийся английский экономист, автор фундаментального труда «Принципы экономической науки» (1890), который был главным учебником по экономике до середины XX века.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334125" y="37385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Маршалл перевел экономическую теорию на язык графиков. Он первым ввел фактор времени (краткосрочный и долгосрочный периоды) в экономический анализ стоимости.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334125" y="51006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Он утверждал, что спорить о том, полезность или издержки определяют цену — это всё равно, что спорить, какое лезвие ножниц режет бумагу.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3037" y="2233612"/>
            <a:ext cx="3543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Лидер школы: Альфред Маршалл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 txBox="1">
            <a:spLocks noGrp="1"/>
          </p:cNvSpPr>
          <p:nvPr>
            <p:ph type="sldNum" idx="12"/>
          </p:nvPr>
        </p:nvSpPr>
        <p:spPr>
          <a:xfrm>
            <a:off x="982755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40375"/>
            <a:ext cx="11049000" cy="5724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635500" y="605530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Первый закон Госсена: полезность каждой последующей единицы блага убывает по мере насыщения потребности. Этот фундаментальный принцип лежит в основе функции спроса во всех неоклассических моделях.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-9525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Закон убывающей предельной полезности</a:t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571500" y="7429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>
            <a:spLocks noGrp="1"/>
          </p:cNvSpPr>
          <p:nvPr>
            <p:ph type="sldNum" idx="12"/>
          </p:nvPr>
        </p:nvSpPr>
        <p:spPr>
          <a:xfrm>
            <a:off x="9827550" y="63776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865471" y="1977479"/>
            <a:ext cx="846105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Математическая школа</a:t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5524500" y="3368129"/>
            <a:ext cx="1143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 txBox="1"/>
          <p:nvPr/>
        </p:nvSpPr>
        <p:spPr>
          <a:xfrm>
            <a:off x="2286000" y="3691979"/>
            <a:ext cx="7620000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Также известна как Лозаннская школа. Характеризуется тотальной формализацией экономической теории и представлением экономики как системы сложных математических уравнений.</a:t>
            </a:r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sldNum" idx="12"/>
          </p:nvPr>
        </p:nvSpPr>
        <p:spPr>
          <a:xfrm>
            <a:off x="982755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76350"/>
            <a:ext cx="3492549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276350"/>
            <a:ext cx="3492549" cy="54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276350"/>
            <a:ext cx="3492549" cy="54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794225" y="2476500"/>
            <a:ext cx="30470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Общее экономическое равновесие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866775" y="3762375"/>
            <a:ext cx="2901999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 отличие от Маршалла, анализ охватывает всю экономику целиком. Все рынки товаров и факторов производства взаимосвязаны: изменение цены на одном рынке немедленно отражается на всех остальных.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4850844" y="2476500"/>
            <a:ext cx="249031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Оптимум Парето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4645074" y="3000375"/>
            <a:ext cx="2901999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Состояние системы, при котором невозможно улучшить положение хотя бы одного участника обмена, не ухудшив при этом положение других. Основа современной экономики благосостояния.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8350824" y="2476500"/>
            <a:ext cx="3047099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Математический формализм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423374" y="33813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Экономика признается точной наукой, подобной механике. Главный метод доказательства — системы алгебраических дифференциальных уравнений и строгая логика.</a:t>
            </a:r>
            <a:endParaRPr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1714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171450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93324" y="171450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123825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Идеи Математической школы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71500" y="87630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 txBox="1">
            <a:spLocks noGrp="1"/>
          </p:cNvSpPr>
          <p:nvPr>
            <p:ph type="sldNum" idx="12"/>
          </p:nvPr>
        </p:nvSpPr>
        <p:spPr>
          <a:xfrm>
            <a:off x="9934200" y="640080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10026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6334125" y="1700212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8FAFC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Леон Вальрас (1834 – 1910)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6334125" y="22240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Французский и швейцарский экономист, профессор Лозаннского университета. Автор труда «Элементы чистой политической экономии» (1874).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334125" y="3281362"/>
            <a:ext cx="52863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Вальрас создал первую математическую макроэкономическую модель. Он доказал теоретическую возможность состояния, когда на всех рынках одновременно устанавливается равенство спроса и предложения.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6334125" y="4948237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Модель Вальраса предполагает наличие гипотетического «аукциониста», который подбирает цены (метод нащупывания — tatonnement) до тех пор, пока рынки не очистятся.</a:t>
            </a:r>
            <a:endParaRPr/>
          </a:p>
        </p:txBody>
      </p:sp>
      <p:pic>
        <p:nvPicPr>
          <p:cNvPr id="258" name="Google Shape;2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3037" y="2233612"/>
            <a:ext cx="3543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71500" y="547687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Создатель: Леон Вальрас</a:t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571500" y="130016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9870200" y="639900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62087"/>
            <a:ext cx="5205561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53311" y="2270075"/>
            <a:ext cx="5367188" cy="347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43836" y="3041600"/>
            <a:ext cx="4586138" cy="154066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962025" y="1852612"/>
            <a:ext cx="464573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38BDF8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Закон Вальраса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962025" y="2376487"/>
            <a:ext cx="442451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Фундаментальный принцип теории общего равновесия. Он гласит, что общая сумма избыточного спроса во всей экономике всегда равна нулю.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962025" y="3738562"/>
            <a:ext cx="442451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Если на одном рынке существует избыточный спрос, на других обязательно должен существовать эквивалентный избыточное предложение.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962025" y="5100637"/>
            <a:ext cx="442451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Математически это выражается через тождество стоимостей суммарного спроса и суммарного предложения всех благ.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6643836" y="4963269"/>
            <a:ext cx="4586138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Где p - цена, D - спрос, S - предложение для i-го товара.</a:t>
            </a:r>
            <a:endParaRPr/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39111" y="3336875"/>
            <a:ext cx="3995588" cy="95011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571500" y="309562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Математический аппарат: Закон Вальраса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71500" y="1062037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>
            <a:spLocks noGrp="1"/>
          </p:cNvSpPr>
          <p:nvPr>
            <p:ph type="sldNum" idx="12"/>
          </p:nvPr>
        </p:nvSpPr>
        <p:spPr>
          <a:xfrm>
            <a:off x="9848875" y="640970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/>
          <p:nvPr/>
        </p:nvSpPr>
        <p:spPr>
          <a:xfrm>
            <a:off x="571500" y="1237350"/>
            <a:ext cx="11049000" cy="4728600"/>
          </a:xfrm>
          <a:prstGeom prst="roundRect">
            <a:avLst>
              <a:gd name="adj" fmla="val 0"/>
            </a:avLst>
          </a:prstGeom>
          <a:solidFill>
            <a:srgbClr val="334155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5" name="Google Shape;285;p26"/>
          <p:cNvGraphicFramePr/>
          <p:nvPr/>
        </p:nvGraphicFramePr>
        <p:xfrm>
          <a:off x="571500" y="123735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{152DF801-6900-4A12-A354-FFE22342E103}</a:tableStyleId>
              </a:tblPr>
              <a:tblGrid>
                <a:gridCol w="217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1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Характеристика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Австрийская школа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Кембриджская школа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8BDF8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Математическая школа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Ключевые фигуры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К. Менгер, О. фон Бём-Баверк, Ф. фон Визер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А. Маршалл, А. Пигу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Л. Вальрас, В. Парето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Теория стоимости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Строго субъективная полезность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Синтез: полезность (спрос) + издержки (предложение)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Предельная полезность, выраженная через уравнения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Главный метод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Логическая дедукция, словесный анализ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Графический анализ, функции (геометрия)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Сложный математический аппарат (алгебра)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4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Фокус анализа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Выбор индивида в условиях неопределенности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Частичное рыночное равновесие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Общее экономическое равновесие всех рынков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" name="Google Shape;286;p26"/>
          <p:cNvSpPr/>
          <p:nvPr/>
        </p:nvSpPr>
        <p:spPr>
          <a:xfrm>
            <a:off x="571500" y="2205930"/>
            <a:ext cx="217690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2748408" y="2205930"/>
            <a:ext cx="284946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5597872" y="2205930"/>
            <a:ext cx="293608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/>
          <p:nvPr/>
        </p:nvSpPr>
        <p:spPr>
          <a:xfrm>
            <a:off x="8533953" y="2205930"/>
            <a:ext cx="30865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571500" y="3206055"/>
            <a:ext cx="217690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2748408" y="3206055"/>
            <a:ext cx="284946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5597872" y="3206055"/>
            <a:ext cx="293608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/>
          <p:nvPr/>
        </p:nvSpPr>
        <p:spPr>
          <a:xfrm>
            <a:off x="8533953" y="3206055"/>
            <a:ext cx="30865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571500" y="4206180"/>
            <a:ext cx="217690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2748408" y="4206180"/>
            <a:ext cx="284946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597872" y="4206180"/>
            <a:ext cx="293608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8533953" y="4206180"/>
            <a:ext cx="30865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571500" y="5206305"/>
            <a:ext cx="2176908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2748408" y="5206305"/>
            <a:ext cx="2849463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597872" y="5206305"/>
            <a:ext cx="2936081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8533953" y="5206305"/>
            <a:ext cx="3086546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571500" y="342007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Сравнительный анализ школ</a:t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571500" y="109448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 txBox="1">
            <a:spLocks noGrp="1"/>
          </p:cNvSpPr>
          <p:nvPr>
            <p:ph type="sldNum" idx="12"/>
          </p:nvPr>
        </p:nvSpPr>
        <p:spPr>
          <a:xfrm>
            <a:off x="9870200" y="6388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7" descr="Создай слайд в нашей текущей тематике, о наследии австрийской школы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>
            <a:spLocks noGrp="1"/>
          </p:cNvSpPr>
          <p:nvPr>
            <p:ph type="sldNum" idx="12"/>
          </p:nvPr>
        </p:nvSpPr>
        <p:spPr>
          <a:xfrm>
            <a:off x="9859550" y="6388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8" descr="Создай слайд в нашей текущей тематике, о наследии кэбмриджской школы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>
            <a:spLocks noGrp="1"/>
          </p:cNvSpPr>
          <p:nvPr>
            <p:ph type="sldNum" idx="12"/>
          </p:nvPr>
        </p:nvSpPr>
        <p:spPr>
          <a:xfrm>
            <a:off x="9934200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9" descr="Создай слайд в нашей текущей тематике, о наследии математической школы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>
            <a:spLocks noGrp="1"/>
          </p:cNvSpPr>
          <p:nvPr>
            <p:ph type="sldNum" idx="12"/>
          </p:nvPr>
        </p:nvSpPr>
        <p:spPr>
          <a:xfrm>
            <a:off x="9912875" y="637767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01300"/>
            <a:ext cx="12192000" cy="735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295275" y="227081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38BDF8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Спасибо за внимание!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571500" y="3604319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"/>
          <p:cNvSpPr txBox="1">
            <a:spLocks noGrp="1"/>
          </p:cNvSpPr>
          <p:nvPr>
            <p:ph type="sldNum" idx="12"/>
          </p:nvPr>
        </p:nvSpPr>
        <p:spPr>
          <a:xfrm>
            <a:off x="9891550" y="6367025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934</Words>
  <Application>Microsoft Office PowerPoint</Application>
  <PresentationFormat>Широкоэкранный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Playfair Display</vt:lpstr>
      <vt:lpstr>Arial</vt:lpstr>
      <vt:lpstr>Playfair Display Medium</vt:lpstr>
      <vt:lpstr>Lato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Захар Мацукевич</cp:lastModifiedBy>
  <cp:revision>1</cp:revision>
  <dcterms:modified xsi:type="dcterms:W3CDTF">2026-05-21T21:29:37Z</dcterms:modified>
</cp:coreProperties>
</file>