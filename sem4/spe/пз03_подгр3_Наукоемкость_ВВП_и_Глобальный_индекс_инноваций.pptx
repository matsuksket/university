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3" name="Shape 11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19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431800" indent="-406400" algn="ctr"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431800" indent="76200" algn="ctr"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431800" indent="558800" algn="ctr"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431800" indent="1041400" algn="ctr"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431800" indent="1498600" algn="ctr">
              <a:buClrTx/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0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28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indent="-342900">
              <a:spcBef>
                <a:spcPts val="300"/>
              </a:spcBef>
            </a:lvl1pPr>
            <a:lvl2pPr marL="963385" indent="-391885">
              <a:spcBef>
                <a:spcPts val="300"/>
              </a:spcBef>
            </a:lvl2pPr>
            <a:lvl3pPr marL="1485900" indent="-457200">
              <a:spcBef>
                <a:spcPts val="300"/>
              </a:spcBef>
            </a:lvl3pPr>
            <a:lvl4pPr marL="2034539" indent="-548639">
              <a:spcBef>
                <a:spcPts val="300"/>
              </a:spcBef>
            </a:lvl4pPr>
            <a:lvl5pPr marL="2491739" indent="-548639">
              <a:spcBef>
                <a:spcPts val="300"/>
              </a:spcBef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9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/>
            </a:lvl1pPr>
          </a:lstStyle>
          <a:p>
            <a:r>
              <a:t>Текст заголовка</a:t>
            </a:r>
          </a:p>
        </p:txBody>
      </p:sp>
      <p:sp>
        <p:nvSpPr>
          <p:cNvPr id="37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228600" indent="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228600" indent="45720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228600" indent="91440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228600" indent="137160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228600" indent="1828800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38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46" name="Уровень текста 1…"/>
          <p:cNvSpPr txBox="1"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 indent="-406400">
              <a:spcBef>
                <a:spcPts val="500"/>
              </a:spcBef>
              <a:buSzPts val="2800"/>
              <a:defRPr sz="2800"/>
            </a:lvl1pPr>
            <a:lvl2pPr marL="977900" indent="-444500">
              <a:spcBef>
                <a:spcPts val="500"/>
              </a:spcBef>
              <a:buSzPts val="2800"/>
              <a:defRPr sz="2800"/>
            </a:lvl2pPr>
            <a:lvl3pPr marL="1513839" indent="-497839">
              <a:spcBef>
                <a:spcPts val="500"/>
              </a:spcBef>
              <a:buSzPts val="2800"/>
              <a:defRPr sz="2800"/>
            </a:lvl3pPr>
            <a:lvl4pPr marL="2019300" indent="-533400">
              <a:spcBef>
                <a:spcPts val="500"/>
              </a:spcBef>
              <a:buSzPts val="2800"/>
              <a:defRPr sz="2800"/>
            </a:lvl4pPr>
            <a:lvl5pPr marL="2476500" indent="-533400">
              <a:spcBef>
                <a:spcPts val="500"/>
              </a:spcBef>
              <a:buSzPts val="2800"/>
              <a:defRPr sz="28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7" name="Google Shape;36;p6"/>
          <p:cNvSpPr txBox="1">
            <a:spLocks noGrp="1"/>
          </p:cNvSpPr>
          <p:nvPr>
            <p:ph type="body" sz="half" idx="21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indent="-406400">
              <a:spcBef>
                <a:spcPts val="500"/>
              </a:spcBef>
              <a:buSzPts val="2800"/>
              <a:defRPr sz="2800"/>
            </a:pPr>
            <a:endParaRPr/>
          </a:p>
        </p:txBody>
      </p:sp>
      <p:sp>
        <p:nvSpPr>
          <p:cNvPr id="48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56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228600" indent="0">
              <a:spcBef>
                <a:spcPts val="400"/>
              </a:spcBef>
              <a:buClrTx/>
              <a:buSzTx/>
              <a:buFontTx/>
              <a:buNone/>
              <a:defRPr sz="2400" b="1"/>
            </a:lvl1pPr>
            <a:lvl2pPr marL="228600" indent="457200">
              <a:spcBef>
                <a:spcPts val="400"/>
              </a:spcBef>
              <a:buClrTx/>
              <a:buSzTx/>
              <a:buFontTx/>
              <a:buNone/>
              <a:defRPr sz="2400" b="1"/>
            </a:lvl2pPr>
            <a:lvl3pPr marL="228600" indent="914400">
              <a:spcBef>
                <a:spcPts val="400"/>
              </a:spcBef>
              <a:buClrTx/>
              <a:buSzTx/>
              <a:buFontTx/>
              <a:buNone/>
              <a:defRPr sz="2400" b="1"/>
            </a:lvl3pPr>
            <a:lvl4pPr marL="228600" indent="1371600">
              <a:spcBef>
                <a:spcPts val="400"/>
              </a:spcBef>
              <a:buClrTx/>
              <a:buSzTx/>
              <a:buFontTx/>
              <a:buNone/>
              <a:defRPr sz="2400" b="1"/>
            </a:lvl4pPr>
            <a:lvl5pPr marL="228600" indent="1828800">
              <a:spcBef>
                <a:spcPts val="400"/>
              </a:spcBef>
              <a:buClrTx/>
              <a:buSzTx/>
              <a:buFontTx/>
              <a:buNone/>
              <a:defRPr sz="2400" b="1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7" name="Google Shape;43;p7"/>
          <p:cNvSpPr txBox="1">
            <a:spLocks noGrp="1"/>
          </p:cNvSpPr>
          <p:nvPr>
            <p:ph type="body" sz="quarter" idx="21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/>
          <a:p>
            <a:pPr indent="-381000">
              <a:spcBef>
                <a:spcPts val="400"/>
              </a:spcBef>
              <a:buSzPts val="2400"/>
              <a:defRPr sz="2400"/>
            </a:pPr>
            <a:endParaRPr/>
          </a:p>
        </p:txBody>
      </p:sp>
      <p:sp>
        <p:nvSpPr>
          <p:cNvPr id="58" name="Google Shape;44;p7"/>
          <p:cNvSpPr txBox="1">
            <a:spLocks noGrp="1"/>
          </p:cNvSpPr>
          <p:nvPr>
            <p:ph type="body" sz="quarter" idx="22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228600" indent="0">
              <a:spcBef>
                <a:spcPts val="400"/>
              </a:spcBef>
              <a:buClrTx/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9" name="Google Shape;45;p7"/>
          <p:cNvSpPr txBox="1">
            <a:spLocks noGrp="1"/>
          </p:cNvSpPr>
          <p:nvPr>
            <p:ph type="body" sz="quarter" idx="23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/>
          <a:p>
            <a:pPr indent="-381000">
              <a:spcBef>
                <a:spcPts val="400"/>
              </a:spcBef>
              <a:buSzPts val="2400"/>
              <a:defRPr sz="2400"/>
            </a:pPr>
            <a:endParaRPr/>
          </a:p>
        </p:txBody>
      </p:sp>
      <p:sp>
        <p:nvSpPr>
          <p:cNvPr id="60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68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Текст заголовка</a:t>
            </a:r>
          </a:p>
        </p:txBody>
      </p:sp>
      <p:sp>
        <p:nvSpPr>
          <p:cNvPr id="76" name="Уровень текста 1…"/>
          <p:cNvSpPr txBox="1">
            <a:spLocks noGrp="1"/>
          </p:cNvSpPr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77" name="Google Shape;57;p9"/>
          <p:cNvSpPr txBox="1">
            <a:spLocks noGrp="1"/>
          </p:cNvSpPr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228600" indent="0">
              <a:spcBef>
                <a:spcPts val="200"/>
              </a:spcBef>
              <a:buClrTx/>
              <a:buSzTx/>
              <a:buFontTx/>
              <a:buNone/>
              <a:defRPr sz="1400"/>
            </a:pPr>
            <a:endParaRPr/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Текст заголовка</a:t>
            </a:r>
          </a:p>
        </p:txBody>
      </p:sp>
      <p:sp>
        <p:nvSpPr>
          <p:cNvPr id="86" name="Google Shape;63;p10"/>
          <p:cNvSpPr>
            <a:spLocks noGrp="1"/>
          </p:cNvSpPr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7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228600" indent="0">
              <a:spcBef>
                <a:spcPts val="200"/>
              </a:spcBef>
              <a:buClrTx/>
              <a:buSzTx/>
              <a:buFontTx/>
              <a:buNone/>
              <a:defRPr sz="1400"/>
            </a:lvl1pPr>
            <a:lvl2pPr marL="228600" indent="457200">
              <a:spcBef>
                <a:spcPts val="200"/>
              </a:spcBef>
              <a:buClrTx/>
              <a:buSzTx/>
              <a:buFontTx/>
              <a:buNone/>
              <a:defRPr sz="1400"/>
            </a:lvl2pPr>
            <a:lvl3pPr marL="228600" indent="914400">
              <a:spcBef>
                <a:spcPts val="200"/>
              </a:spcBef>
              <a:buClrTx/>
              <a:buSzTx/>
              <a:buFontTx/>
              <a:buNone/>
              <a:defRPr sz="1400"/>
            </a:lvl3pPr>
            <a:lvl4pPr marL="228600" indent="1371600">
              <a:spcBef>
                <a:spcPts val="200"/>
              </a:spcBef>
              <a:buClrTx/>
              <a:buSzTx/>
              <a:buFontTx/>
              <a:buNone/>
              <a:defRPr sz="1400"/>
            </a:lvl4pPr>
            <a:lvl5pPr marL="228600" indent="1828800">
              <a:spcBef>
                <a:spcPts val="200"/>
              </a:spcBef>
              <a:buClrTx/>
              <a:buSzTx/>
              <a:buFontTx/>
              <a:buNone/>
              <a:defRPr sz="14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88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96" name="Уровень текста 1…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8"/>
            <a:ext cx="4525964" cy="8229601"/>
          </a:xfrm>
          <a:prstGeom prst="rect">
            <a:avLst/>
          </a:prstGeom>
        </p:spPr>
        <p:txBody>
          <a:bodyPr/>
          <a:lstStyle>
            <a:lvl1pPr indent="-342900">
              <a:spcBef>
                <a:spcPts val="300"/>
              </a:spcBef>
            </a:lvl1pPr>
            <a:lvl2pPr marL="963385" indent="-391885">
              <a:spcBef>
                <a:spcPts val="300"/>
              </a:spcBef>
            </a:lvl2pPr>
            <a:lvl3pPr marL="1485900" indent="-457200">
              <a:spcBef>
                <a:spcPts val="300"/>
              </a:spcBef>
            </a:lvl3pPr>
            <a:lvl4pPr marL="2034539" indent="-548639">
              <a:spcBef>
                <a:spcPts val="300"/>
              </a:spcBef>
            </a:lvl4pPr>
            <a:lvl5pPr marL="2491739" indent="-548639">
              <a:spcBef>
                <a:spcPts val="300"/>
              </a:spcBef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97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Текст заголовка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6" cy="2057401"/>
          </a:xfrm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105" name="Уровень текста 1…"/>
          <p:cNvSpPr txBox="1">
            <a:spLocks noGrp="1"/>
          </p:cNvSpPr>
          <p:nvPr>
            <p:ph type="body" idx="1"/>
          </p:nvPr>
        </p:nvSpPr>
        <p:spPr>
          <a:xfrm rot="5400000">
            <a:off x="541337" y="190500"/>
            <a:ext cx="5851526" cy="6019800"/>
          </a:xfrm>
          <a:prstGeom prst="rect">
            <a:avLst/>
          </a:prstGeom>
        </p:spPr>
        <p:txBody>
          <a:bodyPr/>
          <a:lstStyle>
            <a:lvl1pPr indent="-342900">
              <a:spcBef>
                <a:spcPts val="300"/>
              </a:spcBef>
            </a:lvl1pPr>
            <a:lvl2pPr marL="963385" indent="-391885">
              <a:spcBef>
                <a:spcPts val="300"/>
              </a:spcBef>
            </a:lvl2pPr>
            <a:lvl3pPr marL="1485900" indent="-457200">
              <a:spcBef>
                <a:spcPts val="300"/>
              </a:spcBef>
            </a:lvl3pPr>
            <a:lvl4pPr marL="2034539" indent="-548639">
              <a:spcBef>
                <a:spcPts val="300"/>
              </a:spcBef>
            </a:lvl4pPr>
            <a:lvl5pPr marL="2491739" indent="-548639">
              <a:spcBef>
                <a:spcPts val="300"/>
              </a:spcBef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06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normAutofit/>
          </a:bodyPr>
          <a:lstStyle/>
          <a:p>
            <a:r>
              <a:t>Текст заголовка</a:t>
            </a:r>
          </a:p>
        </p:txBody>
      </p:sp>
      <p:sp>
        <p:nvSpPr>
          <p:cNvPr id="3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normAutofit/>
          </a:bodyPr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457200" marR="0" indent="-4318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972457" marR="0" indent="-464457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498600" marR="0" indent="-5080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2042160" marR="0" indent="-56896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499360" marR="0" indent="-56896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956560" marR="0" indent="-56896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413759" marR="0" indent="-56895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870959" marR="0" indent="-56895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328159" marR="0" indent="-56895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84;p13" descr="Google Shape;84;p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6" name="Google Shape;85;p13" descr="Google Shape;8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250" y="3290887"/>
            <a:ext cx="6667500" cy="2143126"/>
          </a:xfrm>
          <a:prstGeom prst="rect">
            <a:avLst/>
          </a:prstGeom>
          <a:ln w="12700">
            <a:miter lim="400000"/>
          </a:ln>
        </p:spPr>
      </p:pic>
      <p:sp>
        <p:nvSpPr>
          <p:cNvPr id="117" name="Google Shape;86;p13"/>
          <p:cNvSpPr txBox="1"/>
          <p:nvPr/>
        </p:nvSpPr>
        <p:spPr>
          <a:xfrm>
            <a:off x="295275" y="1423987"/>
            <a:ext cx="11601450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20000"/>
              </a:lnSpc>
              <a:defRPr sz="4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pPr>
            <a:r>
              <a:t>Наукоемкость ВВП.</a:t>
            </a:r>
            <a:br/>
            <a:r>
              <a:rPr>
                <a:solidFill>
                  <a:srgbClr val="00E5FF"/>
                </a:solidFill>
              </a:rPr>
              <a:t>Глобальный индекс инноваций</a:t>
            </a:r>
          </a:p>
        </p:txBody>
      </p:sp>
      <p:sp>
        <p:nvSpPr>
          <p:cNvPr id="118" name="Google Shape;87;p13"/>
          <p:cNvSpPr txBox="1"/>
          <p:nvPr/>
        </p:nvSpPr>
        <p:spPr>
          <a:xfrm>
            <a:off x="3086100" y="3576637"/>
            <a:ext cx="605790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50000"/>
              </a:lnSpc>
              <a:defRPr sz="1500" b="1">
                <a:solidFill>
                  <a:srgbClr val="9D8CFF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Дисциплина:</a:t>
            </a:r>
            <a:r>
              <a:rPr b="0">
                <a:solidFill>
                  <a:srgbClr val="FFFFFF"/>
                </a:solidFill>
              </a:rPr>
              <a:t> Современная политэкономия</a:t>
            </a:r>
          </a:p>
        </p:txBody>
      </p:sp>
      <p:sp>
        <p:nvSpPr>
          <p:cNvPr id="119" name="Google Shape;88;p13"/>
          <p:cNvSpPr txBox="1"/>
          <p:nvPr/>
        </p:nvSpPr>
        <p:spPr>
          <a:xfrm>
            <a:off x="3086100" y="4005262"/>
            <a:ext cx="605790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50000"/>
              </a:lnSpc>
              <a:defRPr sz="1500" b="1">
                <a:solidFill>
                  <a:srgbClr val="9D8CFF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Тема:</a:t>
            </a:r>
            <a:r>
              <a:rPr b="0">
                <a:solidFill>
                  <a:srgbClr val="FFFFFF"/>
                </a:solidFill>
              </a:rPr>
              <a:t> </a:t>
            </a:r>
            <a:r>
              <a:rPr>
                <a:solidFill>
                  <a:srgbClr val="FFFFFF"/>
                </a:solidFill>
              </a:rPr>
              <a:t>Наукоемкость ВВП. Глобальный индекс инноваций</a:t>
            </a:r>
          </a:p>
        </p:txBody>
      </p:sp>
      <p:sp>
        <p:nvSpPr>
          <p:cNvPr id="120" name="Google Shape;89;p13"/>
          <p:cNvSpPr txBox="1"/>
          <p:nvPr/>
        </p:nvSpPr>
        <p:spPr>
          <a:xfrm>
            <a:off x="3086100" y="4433887"/>
            <a:ext cx="6057900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50000"/>
              </a:lnSpc>
              <a:defRPr sz="1500" b="1">
                <a:solidFill>
                  <a:srgbClr val="9D8CFF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Составители:</a:t>
            </a:r>
            <a:r>
              <a:rPr b="0">
                <a:solidFill>
                  <a:srgbClr val="FFFFFF"/>
                </a:solidFill>
              </a:rPr>
              <a:t> Демидов Алексей, Мацукевич Захар, Евтух Тимур, Дорош Максим, Рассохов Егор, гр. 421703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94;p14" descr="Google Shape;94;p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23" name="Google Shape;95;p14"/>
          <p:cNvSpPr/>
          <p:nvPr/>
        </p:nvSpPr>
        <p:spPr>
          <a:xfrm>
            <a:off x="5619750" y="2447925"/>
            <a:ext cx="952500" cy="47625"/>
          </a:xfrm>
          <a:prstGeom prst="rect">
            <a:avLst/>
          </a:prstGeom>
          <a:solidFill>
            <a:srgbClr val="00E5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24" name="Google Shape;96;p14"/>
          <p:cNvSpPr txBox="1"/>
          <p:nvPr/>
        </p:nvSpPr>
        <p:spPr>
          <a:xfrm>
            <a:off x="1025365" y="2781300"/>
            <a:ext cx="10141269" cy="685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4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Введение в экономику знаний</a:t>
            </a:r>
          </a:p>
        </p:txBody>
      </p:sp>
      <p:sp>
        <p:nvSpPr>
          <p:cNvPr id="125" name="Google Shape;97;p14"/>
          <p:cNvSpPr txBox="1"/>
          <p:nvPr/>
        </p:nvSpPr>
        <p:spPr>
          <a:xfrm>
            <a:off x="2286000" y="3667125"/>
            <a:ext cx="7620000" cy="1117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50000"/>
              </a:lnSpc>
              <a:defRPr sz="1800">
                <a:solidFill>
                  <a:srgbClr val="CED4D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Ключевые макроэкономические метрики, определяющие уровень технологического развития, конкурентоспособности и инновационного потенциала государств на глобальной арене.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02;p15" descr="Google Shape;102;p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28" name="Google Shape;103;p15"/>
          <p:cNvSpPr txBox="1"/>
          <p:nvPr/>
        </p:nvSpPr>
        <p:spPr>
          <a:xfrm>
            <a:off x="571500" y="1852611"/>
            <a:ext cx="5286375" cy="1117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50000"/>
              </a:lnSpc>
              <a:defRPr sz="1300" b="1">
                <a:solidFill>
                  <a:srgbClr val="CED4DA"/>
                </a:solidFill>
                <a:latin typeface="Open Sans"/>
                <a:ea typeface="Open Sans"/>
                <a:cs typeface="Open Sans"/>
                <a:sym typeface="Open Sans"/>
              </a:defRPr>
            </a:pPr>
            <a:r>
              <a:t>Наукоемкость ВВП (R&amp;D Intensity)</a:t>
            </a:r>
            <a:r>
              <a:rPr b="0"/>
              <a:t> — это макроэкономический показатель, отражающий долю валового внутреннего продукта, которая направляется на научно-исследовательские и опытно-конструкторские работы (НИОКР).</a:t>
            </a:r>
          </a:p>
        </p:txBody>
      </p:sp>
      <p:pic>
        <p:nvPicPr>
          <p:cNvPr id="129" name="Google Shape;104;p15" descr="Google Shape;104;p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322439"/>
            <a:ext cx="5178772" cy="378024"/>
          </a:xfrm>
          <a:prstGeom prst="rect">
            <a:avLst/>
          </a:prstGeom>
          <a:ln w="12700">
            <a:miter lim="400000"/>
          </a:ln>
        </p:spPr>
      </p:pic>
      <p:sp>
        <p:nvSpPr>
          <p:cNvPr id="130" name="Google Shape;105;p15"/>
          <p:cNvSpPr txBox="1"/>
          <p:nvPr/>
        </p:nvSpPr>
        <p:spPr>
          <a:xfrm>
            <a:off x="742950" y="3700462"/>
            <a:ext cx="6667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CED4D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•</a:t>
            </a:r>
          </a:p>
        </p:txBody>
      </p:sp>
      <p:sp>
        <p:nvSpPr>
          <p:cNvPr id="131" name="Google Shape;106;p15"/>
          <p:cNvSpPr txBox="1"/>
          <p:nvPr/>
        </p:nvSpPr>
        <p:spPr>
          <a:xfrm>
            <a:off x="876300" y="3700462"/>
            <a:ext cx="4981575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0000"/>
              </a:lnSpc>
              <a:defRPr sz="1300">
                <a:solidFill>
                  <a:srgbClr val="CED4D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Отражает степень приоритетности науки в государственной и корпоративной политике.</a:t>
            </a:r>
          </a:p>
        </p:txBody>
      </p:sp>
      <p:sp>
        <p:nvSpPr>
          <p:cNvPr id="132" name="Google Shape;107;p15"/>
          <p:cNvSpPr txBox="1"/>
          <p:nvPr/>
        </p:nvSpPr>
        <p:spPr>
          <a:xfrm>
            <a:off x="742950" y="4357687"/>
            <a:ext cx="6667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CED4D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•</a:t>
            </a:r>
          </a:p>
        </p:txBody>
      </p:sp>
      <p:sp>
        <p:nvSpPr>
          <p:cNvPr id="133" name="Google Shape;108;p15"/>
          <p:cNvSpPr txBox="1"/>
          <p:nvPr/>
        </p:nvSpPr>
        <p:spPr>
          <a:xfrm>
            <a:off x="876300" y="4357687"/>
            <a:ext cx="498157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0000"/>
              </a:lnSpc>
              <a:defRPr sz="1300">
                <a:solidFill>
                  <a:srgbClr val="CED4D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Пороговое значение безопасности для развитых стран — 2%.</a:t>
            </a:r>
          </a:p>
        </p:txBody>
      </p:sp>
      <p:sp>
        <p:nvSpPr>
          <p:cNvPr id="134" name="Google Shape;109;p15"/>
          <p:cNvSpPr txBox="1"/>
          <p:nvPr/>
        </p:nvSpPr>
        <p:spPr>
          <a:xfrm>
            <a:off x="742950" y="5014912"/>
            <a:ext cx="6667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CED4D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•</a:t>
            </a:r>
          </a:p>
        </p:txBody>
      </p:sp>
      <p:sp>
        <p:nvSpPr>
          <p:cNvPr id="135" name="Google Shape;110;p15"/>
          <p:cNvSpPr txBox="1"/>
          <p:nvPr/>
        </p:nvSpPr>
        <p:spPr>
          <a:xfrm>
            <a:off x="876300" y="5014912"/>
            <a:ext cx="498157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0000"/>
              </a:lnSpc>
              <a:defRPr sz="1300">
                <a:solidFill>
                  <a:srgbClr val="CED4D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Включает финансирование из бюджета, от бизнеса и фондов.</a:t>
            </a:r>
          </a:p>
        </p:txBody>
      </p:sp>
      <p:pic>
        <p:nvPicPr>
          <p:cNvPr id="136" name="Google Shape;111;p15" descr="Google Shape;111;p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852611"/>
            <a:ext cx="5286375" cy="400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Google Shape;112;p15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0E5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t>Что такое наукоемкость ВВП?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17;p16" descr="Google Shape;117;p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0" name="Google Shape;118;p16" descr="Google Shape;118;p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19225"/>
            <a:ext cx="11049000" cy="4867275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Google Shape;119;p16"/>
          <p:cNvSpPr txBox="1"/>
          <p:nvPr/>
        </p:nvSpPr>
        <p:spPr>
          <a:xfrm>
            <a:off x="1123950" y="4881562"/>
            <a:ext cx="9944100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50000"/>
              </a:lnSpc>
              <a:defRPr sz="1300" i="1">
                <a:solidFill>
                  <a:srgbClr val="CED4D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Израиль и Южная Корея с большим отрывом лидируют благодаря огромному вкладу корпоративного сектора (более 75% всех затрат на НИОКР) в развитие высоких технологий и электроники.</a:t>
            </a:r>
          </a:p>
        </p:txBody>
      </p:sp>
      <p:sp>
        <p:nvSpPr>
          <p:cNvPr id="142" name="Google Shape;120;p16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0E5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t>Лидеры по наукоемкости ВВП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25;p17" descr="Google Shape;125;p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5" name="Google Shape;126;p17" descr="Google Shape;126;p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62175"/>
            <a:ext cx="5286375" cy="3381375"/>
          </a:xfrm>
          <a:prstGeom prst="rect">
            <a:avLst/>
          </a:prstGeom>
          <a:ln w="12700">
            <a:miter lim="400000"/>
          </a:ln>
        </p:spPr>
      </p:pic>
      <p:pic>
        <p:nvPicPr>
          <p:cNvPr id="146" name="Google Shape;127;p17" descr="Google Shape;127;p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162175"/>
            <a:ext cx="5286375" cy="3381375"/>
          </a:xfrm>
          <a:prstGeom prst="rect">
            <a:avLst/>
          </a:prstGeom>
          <a:ln w="12700">
            <a:miter lim="400000"/>
          </a:ln>
        </p:spPr>
      </p:pic>
      <p:sp>
        <p:nvSpPr>
          <p:cNvPr id="147" name="Google Shape;128;p17"/>
          <p:cNvSpPr txBox="1"/>
          <p:nvPr/>
        </p:nvSpPr>
        <p:spPr>
          <a:xfrm>
            <a:off x="962024" y="2552700"/>
            <a:ext cx="4730593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2100">
                <a:solidFill>
                  <a:srgbClr val="00E5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t>Изобретения (Inventions)</a:t>
            </a:r>
          </a:p>
        </p:txBody>
      </p:sp>
      <p:sp>
        <p:nvSpPr>
          <p:cNvPr id="148" name="Google Shape;129;p17"/>
          <p:cNvSpPr txBox="1"/>
          <p:nvPr/>
        </p:nvSpPr>
        <p:spPr>
          <a:xfrm>
            <a:off x="962025" y="3019425"/>
            <a:ext cx="4505325" cy="81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0000"/>
              </a:lnSpc>
              <a:defRPr sz="1300">
                <a:solidFill>
                  <a:srgbClr val="CED4D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Создание абсолютно новых идей, фундаментальных технологий и продуктов. Это первичный результат научно-исследовательских работ.</a:t>
            </a:r>
          </a:p>
        </p:txBody>
      </p:sp>
      <p:sp>
        <p:nvSpPr>
          <p:cNvPr id="149" name="Google Shape;130;p17"/>
          <p:cNvSpPr txBox="1"/>
          <p:nvPr/>
        </p:nvSpPr>
        <p:spPr>
          <a:xfrm>
            <a:off x="962025" y="3981450"/>
            <a:ext cx="4505325" cy="81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0000"/>
              </a:lnSpc>
              <a:defRPr sz="1300">
                <a:solidFill>
                  <a:srgbClr val="CED4D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Основной драйвер на этом этапе — академическая наука, исследовательские институты и лаборатории, финансируемые преимущественно государством.</a:t>
            </a:r>
          </a:p>
        </p:txBody>
      </p:sp>
      <p:sp>
        <p:nvSpPr>
          <p:cNvPr id="150" name="Google Shape;131;p17"/>
          <p:cNvSpPr txBox="1"/>
          <p:nvPr/>
        </p:nvSpPr>
        <p:spPr>
          <a:xfrm>
            <a:off x="6724649" y="2552700"/>
            <a:ext cx="4730593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2100">
                <a:solidFill>
                  <a:srgbClr val="9D8C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t>Инновации (Innovations)</a:t>
            </a:r>
          </a:p>
        </p:txBody>
      </p:sp>
      <p:sp>
        <p:nvSpPr>
          <p:cNvPr id="151" name="Google Shape;132;p17"/>
          <p:cNvSpPr txBox="1"/>
          <p:nvPr/>
        </p:nvSpPr>
        <p:spPr>
          <a:xfrm>
            <a:off x="6724650" y="3019425"/>
            <a:ext cx="4505325" cy="81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0000"/>
              </a:lnSpc>
              <a:defRPr sz="1300">
                <a:solidFill>
                  <a:srgbClr val="CED4D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Успешная коммерциализация изобретений. Внедрение нового продукта или процесса на реальный рынок для создания экономической и социальной ценности.</a:t>
            </a:r>
          </a:p>
        </p:txBody>
      </p:sp>
      <p:sp>
        <p:nvSpPr>
          <p:cNvPr id="152" name="Google Shape;133;p17"/>
          <p:cNvSpPr txBox="1"/>
          <p:nvPr/>
        </p:nvSpPr>
        <p:spPr>
          <a:xfrm>
            <a:off x="6724650" y="4238625"/>
            <a:ext cx="4505325" cy="81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0000"/>
              </a:lnSpc>
              <a:defRPr sz="1300">
                <a:solidFill>
                  <a:srgbClr val="CED4D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На этом этапе ключевую роль играет корпоративный сектор, венчурный капитал и институциональная среда бизнеса.</a:t>
            </a:r>
          </a:p>
        </p:txBody>
      </p:sp>
      <p:sp>
        <p:nvSpPr>
          <p:cNvPr id="153" name="Google Shape;134;p17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0E5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t>НИОКР: От идеи до рынка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39;p18" descr="Google Shape;139;p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56" name="Google Shape;140;p18"/>
          <p:cNvSpPr/>
          <p:nvPr/>
        </p:nvSpPr>
        <p:spPr>
          <a:xfrm>
            <a:off x="5619750" y="2100261"/>
            <a:ext cx="952500" cy="47626"/>
          </a:xfrm>
          <a:prstGeom prst="rect">
            <a:avLst/>
          </a:prstGeom>
          <a:solidFill>
            <a:srgbClr val="9D8C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57" name="Google Shape;141;p18"/>
          <p:cNvSpPr txBox="1"/>
          <p:nvPr/>
        </p:nvSpPr>
        <p:spPr>
          <a:xfrm>
            <a:off x="295275" y="2433636"/>
            <a:ext cx="11601450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45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Глобальный индекс инноваций (GII)</a:t>
            </a:r>
          </a:p>
        </p:txBody>
      </p:sp>
      <p:sp>
        <p:nvSpPr>
          <p:cNvPr id="158" name="Google Shape;142;p18"/>
          <p:cNvSpPr txBox="1"/>
          <p:nvPr/>
        </p:nvSpPr>
        <p:spPr>
          <a:xfrm>
            <a:off x="2286000" y="4014787"/>
            <a:ext cx="7620000" cy="1117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50000"/>
              </a:lnSpc>
              <a:defRPr sz="1800">
                <a:solidFill>
                  <a:srgbClr val="CED4D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От базовых финансовых затрат к реальным измеримым результатам: как оценивается эффективность национальных инновационных систем.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47;p19" descr="Google Shape;147;p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61" name="Google Shape;148;p19"/>
          <p:cNvSpPr txBox="1"/>
          <p:nvPr/>
        </p:nvSpPr>
        <p:spPr>
          <a:xfrm>
            <a:off x="571500" y="571500"/>
            <a:ext cx="5550693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0E5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t>Измерение прогресса</a:t>
            </a:r>
          </a:p>
        </p:txBody>
      </p:sp>
      <p:pic>
        <p:nvPicPr>
          <p:cNvPr id="162" name="Google Shape;149;p19" descr="Google Shape;149;p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63" name="Google Shape;150;p19"/>
          <p:cNvSpPr txBox="1"/>
          <p:nvPr/>
        </p:nvSpPr>
        <p:spPr>
          <a:xfrm>
            <a:off x="571500" y="1981348"/>
            <a:ext cx="5550693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2200">
                <a:solidFill>
                  <a:srgbClr val="00E5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t>Комплексный анализ</a:t>
            </a:r>
          </a:p>
        </p:txBody>
      </p:sp>
      <p:sp>
        <p:nvSpPr>
          <p:cNvPr id="164" name="Google Shape;151;p19"/>
          <p:cNvSpPr txBox="1"/>
          <p:nvPr/>
        </p:nvSpPr>
        <p:spPr>
          <a:xfrm>
            <a:off x="571500" y="2524273"/>
            <a:ext cx="5286375" cy="1178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0000"/>
              </a:lnSpc>
              <a:defRPr sz="1300">
                <a:solidFill>
                  <a:srgbClr val="CED4D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Глобальный индекс инноваций (GII) — это ежегодное всеобъемлющее исследование, оценивающее инновационный потенциал и результаты деятельности экономик мира. Индекс публикуется ВОИС (WIPO).</a:t>
            </a:r>
          </a:p>
        </p:txBody>
      </p:sp>
      <p:sp>
        <p:nvSpPr>
          <p:cNvPr id="165" name="Google Shape;152;p19"/>
          <p:cNvSpPr txBox="1"/>
          <p:nvPr/>
        </p:nvSpPr>
        <p:spPr>
          <a:xfrm>
            <a:off x="571500" y="3773833"/>
            <a:ext cx="5286375" cy="85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0000"/>
              </a:lnSpc>
              <a:defRPr sz="1300">
                <a:solidFill>
                  <a:srgbClr val="CED4D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Он помогает директивным органам понять сильные и слабые стороны национальных инновационных систем, выходя далеко за рамки простых инвестиционных метрик.</a:t>
            </a:r>
          </a:p>
        </p:txBody>
      </p:sp>
      <p:sp>
        <p:nvSpPr>
          <p:cNvPr id="166" name="Google Shape;153;p19"/>
          <p:cNvSpPr txBox="1"/>
          <p:nvPr/>
        </p:nvSpPr>
        <p:spPr>
          <a:xfrm>
            <a:off x="571500" y="4749105"/>
            <a:ext cx="5286375" cy="85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60000"/>
              </a:lnSpc>
              <a:defRPr sz="1300">
                <a:solidFill>
                  <a:srgbClr val="CED4D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Рейтинг охватывает более 130 стран и использует свыше 80 различных индикаторов для получения максимально объективной картины технологического лидерства.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58;p20" descr="Google Shape;158;p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9" name="Google Shape;159;p20" descr="Google Shape;159;p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09725"/>
            <a:ext cx="5286375" cy="4486275"/>
          </a:xfrm>
          <a:prstGeom prst="rect">
            <a:avLst/>
          </a:prstGeom>
          <a:ln w="12700">
            <a:miter lim="400000"/>
          </a:ln>
        </p:spPr>
      </p:pic>
      <p:pic>
        <p:nvPicPr>
          <p:cNvPr id="170" name="Google Shape;160;p20" descr="Google Shape;160;p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609725"/>
            <a:ext cx="5286375" cy="4486275"/>
          </a:xfrm>
          <a:prstGeom prst="rect">
            <a:avLst/>
          </a:prstGeom>
          <a:ln w="12700">
            <a:miter lim="400000"/>
          </a:ln>
        </p:spPr>
      </p:pic>
      <p:sp>
        <p:nvSpPr>
          <p:cNvPr id="171" name="Google Shape;161;p20"/>
          <p:cNvSpPr txBox="1"/>
          <p:nvPr/>
        </p:nvSpPr>
        <p:spPr>
          <a:xfrm>
            <a:off x="962024" y="2000250"/>
            <a:ext cx="4730593" cy="317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2100">
                <a:solidFill>
                  <a:srgbClr val="00E5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t>1. Инновационные ресурсы (Inputs)</a:t>
            </a:r>
          </a:p>
        </p:txBody>
      </p:sp>
      <p:sp>
        <p:nvSpPr>
          <p:cNvPr id="172" name="Google Shape;162;p20"/>
          <p:cNvSpPr txBox="1"/>
          <p:nvPr/>
        </p:nvSpPr>
        <p:spPr>
          <a:xfrm>
            <a:off x="962025" y="2790825"/>
            <a:ext cx="4505325" cy="81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0000"/>
              </a:lnSpc>
              <a:defRPr sz="1300">
                <a:solidFill>
                  <a:srgbClr val="CED4D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Оценивают элементы экономики, которые способствуют инновационной деятельности и создают благоприятную среду:</a:t>
            </a:r>
          </a:p>
        </p:txBody>
      </p:sp>
      <p:sp>
        <p:nvSpPr>
          <p:cNvPr id="173" name="Google Shape;163;p20"/>
          <p:cNvSpPr txBox="1"/>
          <p:nvPr/>
        </p:nvSpPr>
        <p:spPr>
          <a:xfrm>
            <a:off x="6724649" y="2000250"/>
            <a:ext cx="4730593" cy="635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2100">
                <a:solidFill>
                  <a:srgbClr val="9D8C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t>2. Инновационные результаты (Outputs)</a:t>
            </a:r>
          </a:p>
        </p:txBody>
      </p:sp>
      <p:sp>
        <p:nvSpPr>
          <p:cNvPr id="174" name="Google Shape;164;p20"/>
          <p:cNvSpPr txBox="1"/>
          <p:nvPr/>
        </p:nvSpPr>
        <p:spPr>
          <a:xfrm>
            <a:off x="6724650" y="2790825"/>
            <a:ext cx="4505325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0000"/>
              </a:lnSpc>
              <a:defRPr sz="1300">
                <a:solidFill>
                  <a:srgbClr val="CED4D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Оценивают фактические результаты внедренной инновационной деятельности в экономике страны:</a:t>
            </a:r>
          </a:p>
        </p:txBody>
      </p:sp>
      <p:sp>
        <p:nvSpPr>
          <p:cNvPr id="175" name="Google Shape;165;p20"/>
          <p:cNvSpPr txBox="1"/>
          <p:nvPr/>
        </p:nvSpPr>
        <p:spPr>
          <a:xfrm>
            <a:off x="1133475" y="3705225"/>
            <a:ext cx="66675" cy="2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CED4D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•</a:t>
            </a:r>
          </a:p>
        </p:txBody>
      </p:sp>
      <p:sp>
        <p:nvSpPr>
          <p:cNvPr id="176" name="Google Shape;166;p20"/>
          <p:cNvSpPr txBox="1"/>
          <p:nvPr/>
        </p:nvSpPr>
        <p:spPr>
          <a:xfrm>
            <a:off x="1266825" y="3705225"/>
            <a:ext cx="4200525" cy="2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0000"/>
              </a:lnSpc>
              <a:defRPr sz="1300">
                <a:solidFill>
                  <a:srgbClr val="CED4D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Институты (политическая стабильность)</a:t>
            </a:r>
          </a:p>
        </p:txBody>
      </p:sp>
      <p:sp>
        <p:nvSpPr>
          <p:cNvPr id="177" name="Google Shape;167;p20"/>
          <p:cNvSpPr txBox="1"/>
          <p:nvPr/>
        </p:nvSpPr>
        <p:spPr>
          <a:xfrm>
            <a:off x="1133475" y="4105275"/>
            <a:ext cx="66675" cy="2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CED4D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•</a:t>
            </a:r>
          </a:p>
        </p:txBody>
      </p:sp>
      <p:sp>
        <p:nvSpPr>
          <p:cNvPr id="178" name="Google Shape;168;p20"/>
          <p:cNvSpPr txBox="1"/>
          <p:nvPr/>
        </p:nvSpPr>
        <p:spPr>
          <a:xfrm>
            <a:off x="1266825" y="4105275"/>
            <a:ext cx="4200525" cy="2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0000"/>
              </a:lnSpc>
              <a:defRPr sz="1300">
                <a:solidFill>
                  <a:srgbClr val="CED4D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Человеческий капитал и наука (образование)</a:t>
            </a:r>
          </a:p>
        </p:txBody>
      </p:sp>
      <p:sp>
        <p:nvSpPr>
          <p:cNvPr id="179" name="Google Shape;169;p20"/>
          <p:cNvSpPr txBox="1"/>
          <p:nvPr/>
        </p:nvSpPr>
        <p:spPr>
          <a:xfrm>
            <a:off x="1133475" y="4505325"/>
            <a:ext cx="66675" cy="2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CED4D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•</a:t>
            </a:r>
          </a:p>
        </p:txBody>
      </p:sp>
      <p:sp>
        <p:nvSpPr>
          <p:cNvPr id="180" name="Google Shape;170;p20"/>
          <p:cNvSpPr txBox="1"/>
          <p:nvPr/>
        </p:nvSpPr>
        <p:spPr>
          <a:xfrm>
            <a:off x="1266825" y="4505325"/>
            <a:ext cx="4200525" cy="2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0000"/>
              </a:lnSpc>
              <a:defRPr sz="1300">
                <a:solidFill>
                  <a:srgbClr val="CED4D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Инфраструктура (ИКТ, экология)</a:t>
            </a:r>
          </a:p>
        </p:txBody>
      </p:sp>
      <p:sp>
        <p:nvSpPr>
          <p:cNvPr id="181" name="Google Shape;171;p20"/>
          <p:cNvSpPr txBox="1"/>
          <p:nvPr/>
        </p:nvSpPr>
        <p:spPr>
          <a:xfrm>
            <a:off x="1133475" y="4905375"/>
            <a:ext cx="66675" cy="2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CED4D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•</a:t>
            </a:r>
          </a:p>
        </p:txBody>
      </p:sp>
      <p:sp>
        <p:nvSpPr>
          <p:cNvPr id="182" name="Google Shape;172;p20"/>
          <p:cNvSpPr txBox="1"/>
          <p:nvPr/>
        </p:nvSpPr>
        <p:spPr>
          <a:xfrm>
            <a:off x="1266825" y="4905375"/>
            <a:ext cx="4200525" cy="2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0000"/>
              </a:lnSpc>
              <a:defRPr sz="1300">
                <a:solidFill>
                  <a:srgbClr val="CED4D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Развитость рынка (кредиты, инвестиции)</a:t>
            </a:r>
          </a:p>
        </p:txBody>
      </p:sp>
      <p:sp>
        <p:nvSpPr>
          <p:cNvPr id="183" name="Google Shape;173;p20"/>
          <p:cNvSpPr txBox="1"/>
          <p:nvPr/>
        </p:nvSpPr>
        <p:spPr>
          <a:xfrm>
            <a:off x="1133475" y="5305425"/>
            <a:ext cx="66675" cy="2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CED4D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•</a:t>
            </a:r>
          </a:p>
        </p:txBody>
      </p:sp>
      <p:sp>
        <p:nvSpPr>
          <p:cNvPr id="184" name="Google Shape;174;p20"/>
          <p:cNvSpPr txBox="1"/>
          <p:nvPr/>
        </p:nvSpPr>
        <p:spPr>
          <a:xfrm>
            <a:off x="1266825" y="5305425"/>
            <a:ext cx="4200525" cy="2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0000"/>
              </a:lnSpc>
              <a:defRPr sz="1300">
                <a:solidFill>
                  <a:srgbClr val="CED4D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Развитость бизнеса (кооперация)</a:t>
            </a:r>
          </a:p>
        </p:txBody>
      </p:sp>
      <p:sp>
        <p:nvSpPr>
          <p:cNvPr id="185" name="Google Shape;175;p20"/>
          <p:cNvSpPr txBox="1"/>
          <p:nvPr/>
        </p:nvSpPr>
        <p:spPr>
          <a:xfrm>
            <a:off x="6896100" y="3448050"/>
            <a:ext cx="66675" cy="2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CED4D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•</a:t>
            </a:r>
          </a:p>
        </p:txBody>
      </p:sp>
      <p:sp>
        <p:nvSpPr>
          <p:cNvPr id="186" name="Google Shape;176;p20"/>
          <p:cNvSpPr txBox="1"/>
          <p:nvPr/>
        </p:nvSpPr>
        <p:spPr>
          <a:xfrm>
            <a:off x="7029450" y="3448050"/>
            <a:ext cx="4200525" cy="81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0000"/>
              </a:lnSpc>
              <a:defRPr sz="1300">
                <a:solidFill>
                  <a:srgbClr val="CED4D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Результаты в области знаний и технологий (патенты, научные статьи, экспорт высокотехнологичной продукции)</a:t>
            </a:r>
          </a:p>
        </p:txBody>
      </p:sp>
      <p:sp>
        <p:nvSpPr>
          <p:cNvPr id="187" name="Google Shape;177;p20"/>
          <p:cNvSpPr txBox="1"/>
          <p:nvPr/>
        </p:nvSpPr>
        <p:spPr>
          <a:xfrm>
            <a:off x="6896100" y="4362450"/>
            <a:ext cx="66675" cy="203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1300">
                <a:solidFill>
                  <a:srgbClr val="CED4D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•</a:t>
            </a:r>
          </a:p>
        </p:txBody>
      </p:sp>
      <p:sp>
        <p:nvSpPr>
          <p:cNvPr id="188" name="Google Shape;178;p20"/>
          <p:cNvSpPr txBox="1"/>
          <p:nvPr/>
        </p:nvSpPr>
        <p:spPr>
          <a:xfrm>
            <a:off x="7029450" y="4362450"/>
            <a:ext cx="4200525" cy="81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0000"/>
              </a:lnSpc>
              <a:defRPr sz="1300">
                <a:solidFill>
                  <a:srgbClr val="CED4D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Результаты творческой деятельности (торговые марки, промышленный дизайн, мобильные приложения, креативные товары)</a:t>
            </a:r>
          </a:p>
        </p:txBody>
      </p:sp>
      <p:sp>
        <p:nvSpPr>
          <p:cNvPr id="189" name="Google Shape;179;p20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0E5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t>Структура индекса GII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84;p21" descr="Google Shape;184;p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192" name="Google Shape;185;p21"/>
          <p:cNvGraphicFramePr/>
          <p:nvPr/>
        </p:nvGraphicFramePr>
        <p:xfrm>
          <a:off x="571500" y="2014536"/>
          <a:ext cx="11049025" cy="3676651"/>
        </p:xfrm>
        <a:graphic>
          <a:graphicData uri="http://schemas.openxmlformats.org/drawingml/2006/table">
            <a:tbl>
              <a:tblPr firstRow="1" bandRow="1">
                <a:tableStyleId>{4C3C2611-4C71-4FC5-86AE-919BDF0F9419}</a:tableStyleId>
              </a:tblPr>
              <a:tblGrid>
                <a:gridCol w="147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0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03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2775"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500" b="1">
                          <a:solidFill>
                            <a:srgbClr val="00E5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Рейтинг</a:t>
                      </a:r>
                    </a:p>
                  </a:txBody>
                  <a:tcPr marL="25400" marR="25400" marT="25400" marB="2540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141B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500" b="1">
                          <a:solidFill>
                            <a:srgbClr val="00E5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Государство</a:t>
                      </a:r>
                    </a:p>
                  </a:txBody>
                  <a:tcPr marL="25400" marR="25400" marT="25400" marB="2540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141B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500" b="1">
                          <a:solidFill>
                            <a:srgbClr val="00E5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Балл (GII)</a:t>
                      </a:r>
                    </a:p>
                  </a:txBody>
                  <a:tcPr marL="25400" marR="25400" marT="25400" marB="2540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141B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500" b="1">
                          <a:solidFill>
                            <a:srgbClr val="00E5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Ключевое преимущество (Драйвер)</a:t>
                      </a:r>
                    </a:p>
                  </a:txBody>
                  <a:tcPr marL="25400" marR="25400" marT="25400" marB="2540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141B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</a:p>
                  </a:txBody>
                  <a:tcPr marL="25400" marR="25400" marT="25400" marB="2540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Швейцария</a:t>
                      </a:r>
                    </a:p>
                  </a:txBody>
                  <a:tcPr marL="25400" marR="25400" marT="25400" marB="2540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67.6</a:t>
                      </a:r>
                    </a:p>
                  </a:txBody>
                  <a:tcPr marL="25400" marR="25400" marT="25400" marB="2540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Патентная активность и высокие технологии</a:t>
                      </a:r>
                    </a:p>
                  </a:txBody>
                  <a:tcPr marL="25400" marR="25400" marT="25400" marB="2540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</a:p>
                  </a:txBody>
                  <a:tcPr marL="25400" marR="25400" marT="25400" marB="2540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Швеция</a:t>
                      </a:r>
                    </a:p>
                  </a:txBody>
                  <a:tcPr marL="25400" marR="25400" marT="25400" marB="2540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64.2</a:t>
                      </a:r>
                    </a:p>
                  </a:txBody>
                  <a:tcPr marL="25400" marR="25400" marT="25400" marB="2540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Человеческий капитал и исследовательская база</a:t>
                      </a:r>
                    </a:p>
                  </a:txBody>
                  <a:tcPr marL="25400" marR="25400" marT="25400" marB="2540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</a:p>
                  </a:txBody>
                  <a:tcPr marL="25400" marR="25400" marT="25400" marB="2540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США</a:t>
                      </a:r>
                    </a:p>
                  </a:txBody>
                  <a:tcPr marL="25400" marR="25400" marT="25400" marB="2540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63.5</a:t>
                      </a:r>
                    </a:p>
                  </a:txBody>
                  <a:tcPr marL="25400" marR="25400" marT="25400" marB="2540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Развитость финансового рынка и венчурные инвестиции</a:t>
                      </a:r>
                    </a:p>
                  </a:txBody>
                  <a:tcPr marL="25400" marR="25400" marT="25400" marB="2540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</a:t>
                      </a:r>
                    </a:p>
                  </a:txBody>
                  <a:tcPr marL="25400" marR="25400" marT="25400" marB="2540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Великобритания</a:t>
                      </a:r>
                    </a:p>
                  </a:txBody>
                  <a:tcPr marL="25400" marR="25400" marT="25400" marB="2540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62.4</a:t>
                      </a:r>
                    </a:p>
                  </a:txBody>
                  <a:tcPr marL="25400" marR="25400" marT="25400" marB="2540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Качество университетов и академическая среда</a:t>
                      </a:r>
                    </a:p>
                  </a:txBody>
                  <a:tcPr marL="25400" marR="25400" marT="25400" marB="2540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7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</a:t>
                      </a:r>
                    </a:p>
                  </a:txBody>
                  <a:tcPr marL="25400" marR="25400" marT="25400" marB="2540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Сингапур</a:t>
                      </a:r>
                    </a:p>
                  </a:txBody>
                  <a:tcPr marL="25400" marR="25400" marT="25400" marB="2540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61.5</a:t>
                      </a:r>
                    </a:p>
                  </a:txBody>
                  <a:tcPr marL="25400" marR="25400" marT="25400" marB="2540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Институциональная среда и регуляторное качество</a:t>
                      </a:r>
                    </a:p>
                  </a:txBody>
                  <a:tcPr marL="25400" marR="25400" marT="25400" marB="2540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3" name="Google Shape;186;p21"/>
          <p:cNvSpPr/>
          <p:nvPr/>
        </p:nvSpPr>
        <p:spPr>
          <a:xfrm>
            <a:off x="571499" y="2636837"/>
            <a:ext cx="1473102" cy="12701"/>
          </a:xfrm>
          <a:prstGeom prst="rect">
            <a:avLst/>
          </a:prstGeom>
          <a:solidFill>
            <a:srgbClr val="25305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94" name="Google Shape;187;p21"/>
          <p:cNvSpPr/>
          <p:nvPr/>
        </p:nvSpPr>
        <p:spPr>
          <a:xfrm>
            <a:off x="2044600" y="2636837"/>
            <a:ext cx="2070943" cy="12701"/>
          </a:xfrm>
          <a:prstGeom prst="rect">
            <a:avLst/>
          </a:prstGeom>
          <a:solidFill>
            <a:srgbClr val="25305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95" name="Google Shape;188;p21"/>
          <p:cNvSpPr/>
          <p:nvPr/>
        </p:nvSpPr>
        <p:spPr>
          <a:xfrm>
            <a:off x="4115544" y="2636837"/>
            <a:ext cx="1601242" cy="12701"/>
          </a:xfrm>
          <a:prstGeom prst="rect">
            <a:avLst/>
          </a:prstGeom>
          <a:solidFill>
            <a:srgbClr val="25305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96" name="Google Shape;189;p21"/>
          <p:cNvSpPr/>
          <p:nvPr/>
        </p:nvSpPr>
        <p:spPr>
          <a:xfrm>
            <a:off x="5716785" y="2636837"/>
            <a:ext cx="5903715" cy="12701"/>
          </a:xfrm>
          <a:prstGeom prst="rect">
            <a:avLst/>
          </a:prstGeom>
          <a:solidFill>
            <a:srgbClr val="25305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97" name="Google Shape;190;p21"/>
          <p:cNvSpPr/>
          <p:nvPr/>
        </p:nvSpPr>
        <p:spPr>
          <a:xfrm>
            <a:off x="571499" y="3246437"/>
            <a:ext cx="1473102" cy="12701"/>
          </a:xfrm>
          <a:prstGeom prst="rect">
            <a:avLst/>
          </a:prstGeom>
          <a:solidFill>
            <a:srgbClr val="25305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98" name="Google Shape;191;p21"/>
          <p:cNvSpPr/>
          <p:nvPr/>
        </p:nvSpPr>
        <p:spPr>
          <a:xfrm>
            <a:off x="2044600" y="3246437"/>
            <a:ext cx="2070943" cy="12701"/>
          </a:xfrm>
          <a:prstGeom prst="rect">
            <a:avLst/>
          </a:prstGeom>
          <a:solidFill>
            <a:srgbClr val="25305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199" name="Google Shape;192;p21"/>
          <p:cNvSpPr/>
          <p:nvPr/>
        </p:nvSpPr>
        <p:spPr>
          <a:xfrm>
            <a:off x="4115544" y="3246437"/>
            <a:ext cx="1601242" cy="12701"/>
          </a:xfrm>
          <a:prstGeom prst="rect">
            <a:avLst/>
          </a:prstGeom>
          <a:solidFill>
            <a:srgbClr val="25305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00" name="Google Shape;193;p21"/>
          <p:cNvSpPr/>
          <p:nvPr/>
        </p:nvSpPr>
        <p:spPr>
          <a:xfrm>
            <a:off x="5716785" y="3246437"/>
            <a:ext cx="5903715" cy="12701"/>
          </a:xfrm>
          <a:prstGeom prst="rect">
            <a:avLst/>
          </a:prstGeom>
          <a:solidFill>
            <a:srgbClr val="25305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01" name="Google Shape;194;p21"/>
          <p:cNvSpPr/>
          <p:nvPr/>
        </p:nvSpPr>
        <p:spPr>
          <a:xfrm>
            <a:off x="571499" y="3856037"/>
            <a:ext cx="1473102" cy="12701"/>
          </a:xfrm>
          <a:prstGeom prst="rect">
            <a:avLst/>
          </a:prstGeom>
          <a:solidFill>
            <a:srgbClr val="25305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02" name="Google Shape;195;p21"/>
          <p:cNvSpPr/>
          <p:nvPr/>
        </p:nvSpPr>
        <p:spPr>
          <a:xfrm>
            <a:off x="2044600" y="3856037"/>
            <a:ext cx="2070943" cy="12701"/>
          </a:xfrm>
          <a:prstGeom prst="rect">
            <a:avLst/>
          </a:prstGeom>
          <a:solidFill>
            <a:srgbClr val="25305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03" name="Google Shape;196;p21"/>
          <p:cNvSpPr/>
          <p:nvPr/>
        </p:nvSpPr>
        <p:spPr>
          <a:xfrm>
            <a:off x="4115544" y="3856037"/>
            <a:ext cx="1601242" cy="12701"/>
          </a:xfrm>
          <a:prstGeom prst="rect">
            <a:avLst/>
          </a:prstGeom>
          <a:solidFill>
            <a:srgbClr val="25305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04" name="Google Shape;197;p21"/>
          <p:cNvSpPr/>
          <p:nvPr/>
        </p:nvSpPr>
        <p:spPr>
          <a:xfrm>
            <a:off x="5716785" y="3856037"/>
            <a:ext cx="5903715" cy="12701"/>
          </a:xfrm>
          <a:prstGeom prst="rect">
            <a:avLst/>
          </a:prstGeom>
          <a:solidFill>
            <a:srgbClr val="25305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05" name="Google Shape;198;p21"/>
          <p:cNvSpPr/>
          <p:nvPr/>
        </p:nvSpPr>
        <p:spPr>
          <a:xfrm>
            <a:off x="571499" y="4465637"/>
            <a:ext cx="1473102" cy="12701"/>
          </a:xfrm>
          <a:prstGeom prst="rect">
            <a:avLst/>
          </a:prstGeom>
          <a:solidFill>
            <a:srgbClr val="25305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06" name="Google Shape;199;p21"/>
          <p:cNvSpPr/>
          <p:nvPr/>
        </p:nvSpPr>
        <p:spPr>
          <a:xfrm>
            <a:off x="2044600" y="4465637"/>
            <a:ext cx="2070943" cy="12701"/>
          </a:xfrm>
          <a:prstGeom prst="rect">
            <a:avLst/>
          </a:prstGeom>
          <a:solidFill>
            <a:srgbClr val="25305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07" name="Google Shape;200;p21"/>
          <p:cNvSpPr/>
          <p:nvPr/>
        </p:nvSpPr>
        <p:spPr>
          <a:xfrm>
            <a:off x="4115544" y="4465637"/>
            <a:ext cx="1601242" cy="12701"/>
          </a:xfrm>
          <a:prstGeom prst="rect">
            <a:avLst/>
          </a:prstGeom>
          <a:solidFill>
            <a:srgbClr val="25305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08" name="Google Shape;201;p21"/>
          <p:cNvSpPr/>
          <p:nvPr/>
        </p:nvSpPr>
        <p:spPr>
          <a:xfrm>
            <a:off x="5716785" y="4465637"/>
            <a:ext cx="5903715" cy="12701"/>
          </a:xfrm>
          <a:prstGeom prst="rect">
            <a:avLst/>
          </a:prstGeom>
          <a:solidFill>
            <a:srgbClr val="25305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09" name="Google Shape;202;p21"/>
          <p:cNvSpPr/>
          <p:nvPr/>
        </p:nvSpPr>
        <p:spPr>
          <a:xfrm>
            <a:off x="571499" y="5075237"/>
            <a:ext cx="1473102" cy="12701"/>
          </a:xfrm>
          <a:prstGeom prst="rect">
            <a:avLst/>
          </a:prstGeom>
          <a:solidFill>
            <a:srgbClr val="25305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10" name="Google Shape;203;p21"/>
          <p:cNvSpPr/>
          <p:nvPr/>
        </p:nvSpPr>
        <p:spPr>
          <a:xfrm>
            <a:off x="2044600" y="5075237"/>
            <a:ext cx="2070943" cy="12701"/>
          </a:xfrm>
          <a:prstGeom prst="rect">
            <a:avLst/>
          </a:prstGeom>
          <a:solidFill>
            <a:srgbClr val="25305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11" name="Google Shape;204;p21"/>
          <p:cNvSpPr/>
          <p:nvPr/>
        </p:nvSpPr>
        <p:spPr>
          <a:xfrm>
            <a:off x="4115544" y="5075237"/>
            <a:ext cx="1601242" cy="12701"/>
          </a:xfrm>
          <a:prstGeom prst="rect">
            <a:avLst/>
          </a:prstGeom>
          <a:solidFill>
            <a:srgbClr val="25305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12" name="Google Shape;205;p21"/>
          <p:cNvSpPr/>
          <p:nvPr/>
        </p:nvSpPr>
        <p:spPr>
          <a:xfrm>
            <a:off x="5716785" y="5075237"/>
            <a:ext cx="5903715" cy="12701"/>
          </a:xfrm>
          <a:prstGeom prst="rect">
            <a:avLst/>
          </a:prstGeom>
          <a:solidFill>
            <a:srgbClr val="25305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213" name="Google Shape;206;p21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0E5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t>ТОП-5 Стран GII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1;p22" descr="Google Shape;211;p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6" name="Google Shape;212;p22" descr="Google Shape;212;p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19225"/>
            <a:ext cx="11049000" cy="4867275"/>
          </a:xfrm>
          <a:prstGeom prst="rect">
            <a:avLst/>
          </a:prstGeom>
          <a:ln w="12700">
            <a:miter lim="400000"/>
          </a:ln>
        </p:spPr>
      </p:pic>
      <p:sp>
        <p:nvSpPr>
          <p:cNvPr id="217" name="Google Shape;213;p22"/>
          <p:cNvSpPr txBox="1"/>
          <p:nvPr/>
        </p:nvSpPr>
        <p:spPr>
          <a:xfrm>
            <a:off x="1123950" y="5476875"/>
            <a:ext cx="9944100" cy="508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50000"/>
              </a:lnSpc>
              <a:defRPr sz="1300" i="1">
                <a:solidFill>
                  <a:srgbClr val="CED4D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Европа исторически доминирует в верхней части рейтинга GII, обеспечивая наибольшее количество стран в ТОП-50 благодаря развитым институциональным системам и высокой концентрации передовых исследователей.</a:t>
            </a:r>
          </a:p>
        </p:txBody>
      </p:sp>
      <p:sp>
        <p:nvSpPr>
          <p:cNvPr id="218" name="Google Shape;214;p22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0E5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t>Доля регионов в ТОП-50 стран GII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19;p23" descr="Google Shape;219;p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21" name="Google Shape;220;p23"/>
          <p:cNvSpPr txBox="1"/>
          <p:nvPr/>
        </p:nvSpPr>
        <p:spPr>
          <a:xfrm>
            <a:off x="571500" y="2576511"/>
            <a:ext cx="5286375" cy="182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0" b="1">
                <a:solidFill>
                  <a:srgbClr val="00E5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0.82</a:t>
            </a:r>
          </a:p>
        </p:txBody>
      </p:sp>
      <p:sp>
        <p:nvSpPr>
          <p:cNvPr id="222" name="Google Shape;221;p23"/>
          <p:cNvSpPr txBox="1"/>
          <p:nvPr/>
        </p:nvSpPr>
        <p:spPr>
          <a:xfrm>
            <a:off x="571500" y="4100512"/>
            <a:ext cx="5286375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800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Коэффициент корреляции (r)</a:t>
            </a:r>
          </a:p>
        </p:txBody>
      </p:sp>
      <p:sp>
        <p:nvSpPr>
          <p:cNvPr id="223" name="Google Shape;222;p23"/>
          <p:cNvSpPr txBox="1"/>
          <p:nvPr/>
        </p:nvSpPr>
        <p:spPr>
          <a:xfrm>
            <a:off x="6334125" y="2576511"/>
            <a:ext cx="5550693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2100">
                <a:solidFill>
                  <a:srgbClr val="9D8C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t>Высокая прямая зависимость</a:t>
            </a:r>
          </a:p>
        </p:txBody>
      </p:sp>
      <p:sp>
        <p:nvSpPr>
          <p:cNvPr id="224" name="Google Shape;223;p23"/>
          <p:cNvSpPr txBox="1"/>
          <p:nvPr/>
        </p:nvSpPr>
        <p:spPr>
          <a:xfrm>
            <a:off x="6334125" y="3043236"/>
            <a:ext cx="5286375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0000"/>
              </a:lnSpc>
              <a:defRPr sz="1300">
                <a:solidFill>
                  <a:srgbClr val="CED4D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Глобальная статистика подтверждает: страны с высоким показателем наукоемкости ВВП закономерно занимают верхние строчки в Глобальном индексе инноваций.</a:t>
            </a:r>
          </a:p>
        </p:txBody>
      </p:sp>
      <p:sp>
        <p:nvSpPr>
          <p:cNvPr id="225" name="Google Shape;224;p23"/>
          <p:cNvSpPr txBox="1"/>
          <p:nvPr/>
        </p:nvSpPr>
        <p:spPr>
          <a:xfrm>
            <a:off x="6334125" y="3957637"/>
            <a:ext cx="5286375" cy="1117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50000"/>
              </a:lnSpc>
              <a:defRPr sz="1300">
                <a:solidFill>
                  <a:srgbClr val="CED4D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Инвестиции в НИОКР (ресурсы) формируют критическую массу знаний, которая при наличии эффективных рыночных институтов успешно конвертируется в передовые технологии и укрепляет технологическое лидерство государства.</a:t>
            </a:r>
          </a:p>
        </p:txBody>
      </p:sp>
      <p:sp>
        <p:nvSpPr>
          <p:cNvPr id="226" name="Google Shape;225;p23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0E5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t>Связь между инвестициями и результатом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30;p24" descr="Google Shape;230;p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9" name="Google Shape;231;p24" descr="Google Shape;231;p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43111"/>
            <a:ext cx="3429000" cy="3619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0" name="Google Shape;232;p24" descr="Google Shape;232;p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2043111"/>
            <a:ext cx="3429000" cy="3619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" name="Google Shape;233;p24" descr="Google Shape;233;p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2043111"/>
            <a:ext cx="3429000" cy="3619501"/>
          </a:xfrm>
          <a:prstGeom prst="rect">
            <a:avLst/>
          </a:prstGeom>
          <a:ln w="12700">
            <a:miter lim="400000"/>
          </a:ln>
        </p:spPr>
      </p:pic>
      <p:sp>
        <p:nvSpPr>
          <p:cNvPr id="232" name="Google Shape;234;p24"/>
          <p:cNvSpPr txBox="1"/>
          <p:nvPr/>
        </p:nvSpPr>
        <p:spPr>
          <a:xfrm>
            <a:off x="1485900" y="3148011"/>
            <a:ext cx="1600200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t>Институты</a:t>
            </a:r>
          </a:p>
        </p:txBody>
      </p:sp>
      <p:sp>
        <p:nvSpPr>
          <p:cNvPr id="233" name="Google Shape;235;p24"/>
          <p:cNvSpPr txBox="1"/>
          <p:nvPr/>
        </p:nvSpPr>
        <p:spPr>
          <a:xfrm>
            <a:off x="866775" y="3614737"/>
            <a:ext cx="2838450" cy="142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50000"/>
              </a:lnSpc>
              <a:defRPr sz="1300">
                <a:solidFill>
                  <a:srgbClr val="CED4D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Надежная защита прав интеллектуальной собственности, верховенство права и благоприятная регуляторная среда для развития бизнеса.</a:t>
            </a:r>
          </a:p>
        </p:txBody>
      </p:sp>
      <p:sp>
        <p:nvSpPr>
          <p:cNvPr id="234" name="Google Shape;236;p24"/>
          <p:cNvSpPr txBox="1"/>
          <p:nvPr/>
        </p:nvSpPr>
        <p:spPr>
          <a:xfrm>
            <a:off x="4605813" y="3148011"/>
            <a:ext cx="2980373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t>Человеческий капитал</a:t>
            </a:r>
          </a:p>
        </p:txBody>
      </p:sp>
      <p:sp>
        <p:nvSpPr>
          <p:cNvPr id="235" name="Google Shape;237;p24"/>
          <p:cNvSpPr txBox="1"/>
          <p:nvPr/>
        </p:nvSpPr>
        <p:spPr>
          <a:xfrm>
            <a:off x="4676775" y="3938587"/>
            <a:ext cx="2838450" cy="142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50000"/>
              </a:lnSpc>
              <a:defRPr sz="1300">
                <a:solidFill>
                  <a:srgbClr val="CED4D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Высокий уровень высшего образования, непрерывное обучение и концентрация квалифицированных исследователей и инженеров.</a:t>
            </a:r>
          </a:p>
        </p:txBody>
      </p:sp>
      <p:sp>
        <p:nvSpPr>
          <p:cNvPr id="236" name="Google Shape;238;p24"/>
          <p:cNvSpPr txBox="1"/>
          <p:nvPr/>
        </p:nvSpPr>
        <p:spPr>
          <a:xfrm>
            <a:off x="8415812" y="3148011"/>
            <a:ext cx="2980373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t>Бизнес-кооперация</a:t>
            </a:r>
          </a:p>
        </p:txBody>
      </p:sp>
      <p:sp>
        <p:nvSpPr>
          <p:cNvPr id="237" name="Google Shape;239;p24"/>
          <p:cNvSpPr txBox="1"/>
          <p:nvPr/>
        </p:nvSpPr>
        <p:spPr>
          <a:xfrm>
            <a:off x="8486775" y="3938587"/>
            <a:ext cx="2838450" cy="142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50000"/>
              </a:lnSpc>
              <a:defRPr sz="1300">
                <a:solidFill>
                  <a:srgbClr val="CED4D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t>Тесное взаимодействие и трансфер технологий между фундаментальной академической наукой и корпоративным производственным сектором.</a:t>
            </a:r>
          </a:p>
        </p:txBody>
      </p:sp>
      <p:pic>
        <p:nvPicPr>
          <p:cNvPr id="238" name="Google Shape;240;p24" descr="Google Shape;240;p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7400" y="2424111"/>
            <a:ext cx="457200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9" name="Google Shape;241;p24" descr="Google Shape;241;p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5975" y="2424111"/>
            <a:ext cx="400050" cy="457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0" name="Google Shape;242;p24" descr="Google Shape;242;p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0250" y="2424111"/>
            <a:ext cx="571500" cy="457201"/>
          </a:xfrm>
          <a:prstGeom prst="rect">
            <a:avLst/>
          </a:prstGeom>
          <a:ln w="12700">
            <a:miter lim="400000"/>
          </a:ln>
        </p:spPr>
      </p:pic>
      <p:sp>
        <p:nvSpPr>
          <p:cNvPr id="241" name="Google Shape;243;p24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0E5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t>Ключевые факторы эффективности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8;p25" descr="Google Shape;248;p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44" name="Google Shape;249;p25"/>
          <p:cNvSpPr txBox="1"/>
          <p:nvPr/>
        </p:nvSpPr>
        <p:spPr>
          <a:xfrm>
            <a:off x="1809750" y="2090736"/>
            <a:ext cx="9048750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50000"/>
              </a:lnSpc>
              <a:defRPr sz="1500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pPr>
            <a:r>
              <a:t>«Утечка мозгов» (Brain Drain):</a:t>
            </a:r>
            <a:r>
              <a:rPr>
                <a:solidFill>
                  <a:srgbClr val="CED4DA"/>
                </a:solidFill>
                <a:latin typeface="Open Sans"/>
                <a:ea typeface="Open Sans"/>
                <a:cs typeface="Open Sans"/>
                <a:sym typeface="Open Sans"/>
              </a:rPr>
              <a:t> Отток высококвалифицированных специалистов и исследователей в страны с более развитой экономикой и инфраструктурой.</a:t>
            </a:r>
          </a:p>
        </p:txBody>
      </p:sp>
      <p:sp>
        <p:nvSpPr>
          <p:cNvPr id="245" name="Google Shape;250;p25"/>
          <p:cNvSpPr txBox="1"/>
          <p:nvPr/>
        </p:nvSpPr>
        <p:spPr>
          <a:xfrm>
            <a:off x="1809750" y="2900361"/>
            <a:ext cx="9048750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50000"/>
              </a:lnSpc>
              <a:defRPr sz="1500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pPr>
            <a:r>
              <a:t>Доминирование государства:</a:t>
            </a:r>
            <a:r>
              <a:rPr>
                <a:solidFill>
                  <a:srgbClr val="CED4DA"/>
                </a:solidFill>
                <a:latin typeface="Open Sans"/>
                <a:ea typeface="Open Sans"/>
                <a:cs typeface="Open Sans"/>
                <a:sym typeface="Open Sans"/>
              </a:rPr>
              <a:t> В отличие от стран-лидеров, в развивающихся экономиках львиную долю расходов на НИОКР несет бюджет, тогда как бизнес не мотивирован инвестировать.</a:t>
            </a:r>
          </a:p>
        </p:txBody>
      </p:sp>
      <p:sp>
        <p:nvSpPr>
          <p:cNvPr id="246" name="Google Shape;251;p25"/>
          <p:cNvSpPr txBox="1"/>
          <p:nvPr/>
        </p:nvSpPr>
        <p:spPr>
          <a:xfrm>
            <a:off x="1809750" y="3995737"/>
            <a:ext cx="9048750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50000"/>
              </a:lnSpc>
              <a:defRPr sz="1500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pPr>
            <a:r>
              <a:t>Разрыв между наукой и рынком:</a:t>
            </a:r>
            <a:r>
              <a:rPr>
                <a:solidFill>
                  <a:srgbClr val="CED4DA"/>
                </a:solidFill>
                <a:latin typeface="Open Sans"/>
                <a:ea typeface="Open Sans"/>
                <a:cs typeface="Open Sans"/>
                <a:sym typeface="Open Sans"/>
              </a:rPr>
              <a:t> Фундаментальные исследования часто остаются в стенах университетов и с трудом трансформируются в коммерческие продукты.</a:t>
            </a:r>
          </a:p>
        </p:txBody>
      </p:sp>
      <p:sp>
        <p:nvSpPr>
          <p:cNvPr id="247" name="Google Shape;252;p25"/>
          <p:cNvSpPr txBox="1"/>
          <p:nvPr/>
        </p:nvSpPr>
        <p:spPr>
          <a:xfrm>
            <a:off x="1809750" y="4805362"/>
            <a:ext cx="9048750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50000"/>
              </a:lnSpc>
              <a:defRPr sz="1500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pPr>
            <a:r>
              <a:t>Слабая защита инноваций:</a:t>
            </a:r>
            <a:r>
              <a:rPr>
                <a:solidFill>
                  <a:srgbClr val="CED4DA"/>
                </a:solidFill>
                <a:latin typeface="Open Sans"/>
                <a:ea typeface="Open Sans"/>
                <a:cs typeface="Open Sans"/>
                <a:sym typeface="Open Sans"/>
              </a:rPr>
              <a:t> Несовершенство правовой базы снижает стимулы для изобретателей и корпораций патентовать свои разработки на локальном рынке.</a:t>
            </a:r>
          </a:p>
        </p:txBody>
      </p:sp>
      <p:pic>
        <p:nvPicPr>
          <p:cNvPr id="248" name="Google Shape;253;p25" descr="Google Shape;253;p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114550"/>
            <a:ext cx="304800" cy="276225"/>
          </a:xfrm>
          <a:prstGeom prst="rect">
            <a:avLst/>
          </a:prstGeom>
          <a:ln w="12700">
            <a:miter lim="400000"/>
          </a:ln>
        </p:spPr>
      </p:pic>
      <p:pic>
        <p:nvPicPr>
          <p:cNvPr id="249" name="Google Shape;254;p25" descr="Google Shape;254;p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2924175"/>
            <a:ext cx="266700" cy="276225"/>
          </a:xfrm>
          <a:prstGeom prst="rect">
            <a:avLst/>
          </a:prstGeom>
          <a:ln w="12700">
            <a:miter lim="400000"/>
          </a:ln>
        </p:spPr>
      </p:pic>
      <p:pic>
        <p:nvPicPr>
          <p:cNvPr id="250" name="Google Shape;255;p25" descr="Google Shape;255;p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19550"/>
            <a:ext cx="333375" cy="276225"/>
          </a:xfrm>
          <a:prstGeom prst="rect">
            <a:avLst/>
          </a:prstGeom>
          <a:ln w="12700">
            <a:miter lim="400000"/>
          </a:ln>
        </p:spPr>
      </p:pic>
      <p:pic>
        <p:nvPicPr>
          <p:cNvPr id="251" name="Google Shape;256;p25" descr="Google Shape;256;p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500" y="4829175"/>
            <a:ext cx="333375" cy="276225"/>
          </a:xfrm>
          <a:prstGeom prst="rect">
            <a:avLst/>
          </a:prstGeom>
          <a:ln w="12700">
            <a:miter lim="400000"/>
          </a:ln>
        </p:spPr>
      </p:pic>
      <p:sp>
        <p:nvSpPr>
          <p:cNvPr id="252" name="Google Shape;257;p25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rgbClr val="00E5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r>
              <a:t>Вызовы для развивающихся стран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62;p26" descr="Google Shape;262;p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55" name="Google Shape;264;p26"/>
          <p:cNvSpPr txBox="1"/>
          <p:nvPr/>
        </p:nvSpPr>
        <p:spPr>
          <a:xfrm>
            <a:off x="295275" y="2133600"/>
            <a:ext cx="11601450" cy="91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6000" b="1">
                <a:solidFill>
                  <a:srgbClr val="00E5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Спасибо за внимание!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740</Words>
  <Application>Microsoft Office PowerPoint</Application>
  <PresentationFormat>Широкоэкранный</PresentationFormat>
  <Paragraphs>95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1" baseType="lpstr">
      <vt:lpstr>Arial</vt:lpstr>
      <vt:lpstr>Calibri</vt:lpstr>
      <vt:lpstr>Montserrat</vt:lpstr>
      <vt:lpstr>Montserrat SemiBold</vt:lpstr>
      <vt:lpstr>Open Sans</vt:lpstr>
      <vt:lpstr>Open Sans SemiBold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Захар Мацукевич</cp:lastModifiedBy>
  <cp:revision>1</cp:revision>
  <dcterms:modified xsi:type="dcterms:W3CDTF">2026-05-21T21:34:38Z</dcterms:modified>
</cp:coreProperties>
</file>